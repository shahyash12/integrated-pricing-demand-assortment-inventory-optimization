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82" r:id="rId3"/>
    <p:sldId id="257" r:id="rId4"/>
    <p:sldId id="261" r:id="rId5"/>
    <p:sldId id="259" r:id="rId6"/>
    <p:sldId id="283" r:id="rId7"/>
    <p:sldId id="275" r:id="rId8"/>
    <p:sldId id="274" r:id="rId9"/>
    <p:sldId id="278" r:id="rId10"/>
    <p:sldId id="279" r:id="rId11"/>
    <p:sldId id="284" r:id="rId12"/>
    <p:sldId id="281" r:id="rId13"/>
    <p:sldId id="260" r:id="rId14"/>
    <p:sldId id="262" r:id="rId15"/>
    <p:sldId id="263" r:id="rId16"/>
    <p:sldId id="265" r:id="rId17"/>
    <p:sldId id="267" r:id="rId18"/>
    <p:sldId id="268" r:id="rId19"/>
    <p:sldId id="269" r:id="rId20"/>
    <p:sldId id="264" r:id="rId21"/>
    <p:sldId id="285" r:id="rId22"/>
    <p:sldId id="270" r:id="rId23"/>
    <p:sldId id="271" r:id="rId24"/>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autoAdjust="0"/>
    <p:restoredTop sz="79540" autoAdjust="0"/>
  </p:normalViewPr>
  <p:slideViewPr>
    <p:cSldViewPr>
      <p:cViewPr varScale="1">
        <p:scale>
          <a:sx n="66" d="100"/>
          <a:sy n="66" d="100"/>
        </p:scale>
        <p:origin x="143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84807D-A73E-47C2-A7F0-35D24E868FFA}" type="datetimeFigureOut">
              <a:rPr lang="en-US" smtClean="0"/>
              <a:t>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2A1897-D047-4C41-830A-443B70738430}" type="slidenum">
              <a:rPr lang="en-US" smtClean="0"/>
              <a:t>‹#›</a:t>
            </a:fld>
            <a:endParaRPr lang="en-US"/>
          </a:p>
        </p:txBody>
      </p:sp>
    </p:spTree>
    <p:extLst>
      <p:ext uri="{BB962C8B-B14F-4D97-AF65-F5344CB8AC3E}">
        <p14:creationId xmlns:p14="http://schemas.microsoft.com/office/powerpoint/2010/main" val="3639458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today I will present a literature review of the paper </a:t>
            </a:r>
            <a:r>
              <a:rPr lang="en-US" i="1" dirty="0"/>
              <a:t>‘Integrated Retail Decisions with Multiple Selling Periods and Customer Segments: Optimization and Insights.’</a:t>
            </a:r>
            <a:r>
              <a:rPr lang="en-US" dirty="0"/>
              <a:t> This study explores how retailers can optimize decisions across pricing, inventory, and assortment considering multiple selling periods and different customer segments</a:t>
            </a:r>
          </a:p>
        </p:txBody>
      </p:sp>
      <p:sp>
        <p:nvSpPr>
          <p:cNvPr id="4" name="Slide Number Placeholder 3"/>
          <p:cNvSpPr>
            <a:spLocks noGrp="1"/>
          </p:cNvSpPr>
          <p:nvPr>
            <p:ph type="sldNum" sz="quarter" idx="5"/>
          </p:nvPr>
        </p:nvSpPr>
        <p:spPr/>
        <p:txBody>
          <a:bodyPr/>
          <a:lstStyle/>
          <a:p>
            <a:fld id="{1F2A1897-D047-4C41-830A-443B70738430}" type="slidenum">
              <a:rPr lang="en-US" smtClean="0"/>
              <a:t>1</a:t>
            </a:fld>
            <a:endParaRPr lang="en-US"/>
          </a:p>
        </p:txBody>
      </p:sp>
    </p:spTree>
    <p:extLst>
      <p:ext uri="{BB962C8B-B14F-4D97-AF65-F5344CB8AC3E}">
        <p14:creationId xmlns:p14="http://schemas.microsoft.com/office/powerpoint/2010/main" val="4035949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addresses the challenge retailers face in making integrated decisions for pricing, inventory, and assortment when customers are segmented and sales happen over multiple periods. Unlike static models, this approach considers how decisions in one period affect future periods, aiming to maximize overall profit</a:t>
            </a:r>
          </a:p>
          <a:p>
            <a:endParaRPr lang="en-US" dirty="0"/>
          </a:p>
          <a:p>
            <a:endParaRPr lang="en-US" dirty="0"/>
          </a:p>
        </p:txBody>
      </p:sp>
      <p:sp>
        <p:nvSpPr>
          <p:cNvPr id="4" name="Slide Number Placeholder 3"/>
          <p:cNvSpPr>
            <a:spLocks noGrp="1"/>
          </p:cNvSpPr>
          <p:nvPr>
            <p:ph type="sldNum" sz="quarter" idx="5"/>
          </p:nvPr>
        </p:nvSpPr>
        <p:spPr/>
        <p:txBody>
          <a:bodyPr/>
          <a:lstStyle/>
          <a:p>
            <a:fld id="{1F2A1897-D047-4C41-830A-443B70738430}" type="slidenum">
              <a:rPr lang="en-US" smtClean="0"/>
              <a:t>3</a:t>
            </a:fld>
            <a:endParaRPr lang="en-US"/>
          </a:p>
        </p:txBody>
      </p:sp>
    </p:spTree>
    <p:extLst>
      <p:ext uri="{BB962C8B-B14F-4D97-AF65-F5344CB8AC3E}">
        <p14:creationId xmlns:p14="http://schemas.microsoft.com/office/powerpoint/2010/main" val="3794589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Due to the seasonality in demand and cost; the cannibalization effects between the different customer segments</a:t>
            </a:r>
          </a:p>
          <a:p>
            <a:pPr marL="228600" indent="-228600">
              <a:buAutoNum type="arabicPeriod"/>
            </a:pPr>
            <a:r>
              <a:rPr lang="en-US" dirty="0"/>
              <a:t>Highlight the importance of integrating ordering with pricing and assortment decisions</a:t>
            </a:r>
          </a:p>
          <a:p>
            <a:pPr marL="228600" indent="-228600">
              <a:buAutoNum type="arabicPeriod"/>
            </a:pPr>
            <a:r>
              <a:rPr lang="en-US" dirty="0"/>
              <a:t>Predictable seasonality of demand and cost is beneficial and can lead to significant increase in profitability if the retailer stocks wider assortments and higher shelf inventories</a:t>
            </a:r>
          </a:p>
        </p:txBody>
      </p:sp>
      <p:sp>
        <p:nvSpPr>
          <p:cNvPr id="4" name="Slide Number Placeholder 3"/>
          <p:cNvSpPr>
            <a:spLocks noGrp="1"/>
          </p:cNvSpPr>
          <p:nvPr>
            <p:ph type="sldNum" sz="quarter" idx="5"/>
          </p:nvPr>
        </p:nvSpPr>
        <p:spPr/>
        <p:txBody>
          <a:bodyPr/>
          <a:lstStyle/>
          <a:p>
            <a:fld id="{1F2A1897-D047-4C41-830A-443B70738430}" type="slidenum">
              <a:rPr lang="en-US" smtClean="0"/>
              <a:t>5</a:t>
            </a:fld>
            <a:endParaRPr lang="en-US"/>
          </a:p>
        </p:txBody>
      </p:sp>
    </p:spTree>
    <p:extLst>
      <p:ext uri="{BB962C8B-B14F-4D97-AF65-F5344CB8AC3E}">
        <p14:creationId xmlns:p14="http://schemas.microsoft.com/office/powerpoint/2010/main" val="42659422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C56FE-0D3F-31FF-2143-57EB42436C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ADBF4-266A-3217-64CB-9E9C83C6C8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48EBE8-7476-F270-941D-858733EE5AB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study uses a mixed-integer linear programming model. It incorporates multiple customer segments and selling periods, aiming to maximize expected profit.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model respects constraints such as inventory limits and service requirements.</a:t>
            </a:r>
          </a:p>
        </p:txBody>
      </p:sp>
      <p:sp>
        <p:nvSpPr>
          <p:cNvPr id="4" name="Slide Number Placeholder 3">
            <a:extLst>
              <a:ext uri="{FF2B5EF4-FFF2-40B4-BE49-F238E27FC236}">
                <a16:creationId xmlns:a16="http://schemas.microsoft.com/office/drawing/2014/main" id="{82C2A3EB-7972-F1FA-1272-C7D875665426}"/>
              </a:ext>
            </a:extLst>
          </p:cNvPr>
          <p:cNvSpPr>
            <a:spLocks noGrp="1"/>
          </p:cNvSpPr>
          <p:nvPr>
            <p:ph type="sldNum" sz="quarter" idx="5"/>
          </p:nvPr>
        </p:nvSpPr>
        <p:spPr/>
        <p:txBody>
          <a:bodyPr/>
          <a:lstStyle/>
          <a:p>
            <a:fld id="{1F2A1897-D047-4C41-830A-443B70738430}" type="slidenum">
              <a:rPr lang="en-US" smtClean="0"/>
              <a:t>7</a:t>
            </a:fld>
            <a:endParaRPr lang="en-US"/>
          </a:p>
        </p:txBody>
      </p:sp>
    </p:spTree>
    <p:extLst>
      <p:ext uri="{BB962C8B-B14F-4D97-AF65-F5344CB8AC3E}">
        <p14:creationId xmlns:p14="http://schemas.microsoft.com/office/powerpoint/2010/main" val="2397100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Mixed-integer nonlinear programming model: the integration of assortment, pricing, and inventory decisions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Retailing decision context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Stylized model to gain insights into the optimal structure of these decisions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Background literature from marketing and operations management—consumer reservation prices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Data-driven and large scale retail problems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Maximize total profit over planning horizon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b="1" dirty="0"/>
              <a:t>Integrated model:</a:t>
            </a:r>
            <a:endParaRPr lang="en-US" dirty="0"/>
          </a:p>
          <a:p>
            <a:r>
              <a:rPr lang="en-US" dirty="0"/>
              <a:t>The authors formulate a </a:t>
            </a:r>
            <a:r>
              <a:rPr lang="en-US" b="1" dirty="0"/>
              <a:t>mathematical optimization model</a:t>
            </a:r>
            <a:r>
              <a:rPr lang="en-US" dirty="0"/>
              <a:t> that jointly considers </a:t>
            </a:r>
            <a:r>
              <a:rPr lang="en-US" b="1" dirty="0"/>
              <a:t>assortment, pricing, and inventory decisions</a:t>
            </a:r>
            <a:r>
              <a:rPr lang="en-US" dirty="0"/>
              <a:t> across multiple periods.</a:t>
            </a:r>
          </a:p>
          <a:p>
            <a:r>
              <a:rPr lang="en-US" dirty="0"/>
              <a:t>It accounts for </a:t>
            </a:r>
            <a:r>
              <a:rPr lang="en-US" b="1" dirty="0"/>
              <a:t>heterogeneous customer segments</a:t>
            </a:r>
            <a:r>
              <a:rPr lang="en-US" dirty="0"/>
              <a:t>, which may have different willingness-to-pay, purchase probabilities, or sensitivities.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objective function is: maximize the total retailer profit, (the difference between the total revenue and the total ordering, inventory, and assortment costs)</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F2A1897-D047-4C41-830A-443B70738430}" type="slidenum">
              <a:rPr lang="en-US" smtClean="0"/>
              <a:t>8</a:t>
            </a:fld>
            <a:endParaRPr lang="en-US"/>
          </a:p>
        </p:txBody>
      </p:sp>
    </p:spTree>
    <p:extLst>
      <p:ext uri="{BB962C8B-B14F-4D97-AF65-F5344CB8AC3E}">
        <p14:creationId xmlns:p14="http://schemas.microsoft.com/office/powerpoint/2010/main" val="15390807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FBB1F-FCEE-3332-97D0-5EBDD2FE8F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56A406-1A1C-3BC6-A575-F07C4D22B9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0F4EDC-3F32-8FD3-4B31-68A574BB3C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previous model poses </a:t>
            </a:r>
            <a:r>
              <a:rPr lang="en-US" sz="1200" b="0" i="0" kern="1200" dirty="0" err="1">
                <a:solidFill>
                  <a:schemeClr val="tx1"/>
                </a:solidFill>
                <a:effectLst/>
                <a:latin typeface="+mn-lt"/>
                <a:ea typeface="+mn-ea"/>
                <a:cs typeface="+mn-cs"/>
              </a:rPr>
              <a:t>signifina</a:t>
            </a:r>
            <a:r>
              <a:rPr lang="en-US" sz="1200" b="0" i="0" kern="1200" dirty="0">
                <a:solidFill>
                  <a:schemeClr val="tx1"/>
                </a:solidFill>
                <a:effectLst/>
                <a:latin typeface="+mn-lt"/>
                <a:ea typeface="+mn-ea"/>
                <a:cs typeface="+mn-cs"/>
              </a:rPr>
              <a:t> challenges because of the discreteness of several sets of decision </a:t>
            </a:r>
            <a:r>
              <a:rPr lang="en-US" sz="1200" b="0" i="0" kern="1200" dirty="0" err="1">
                <a:solidFill>
                  <a:schemeClr val="tx1"/>
                </a:solidFill>
                <a:effectLst/>
                <a:latin typeface="+mn-lt"/>
                <a:ea typeface="+mn-ea"/>
                <a:cs typeface="+mn-cs"/>
              </a:rPr>
              <a:t>variabels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nonlineariliest</a:t>
            </a:r>
            <a:r>
              <a:rPr lang="en-US" sz="1200" b="0" i="0" kern="1200" dirty="0">
                <a:solidFill>
                  <a:schemeClr val="tx1"/>
                </a:solidFill>
                <a:effectLst/>
                <a:latin typeface="+mn-lt"/>
                <a:ea typeface="+mn-ea"/>
                <a:cs typeface="+mn-cs"/>
              </a:rPr>
              <a:t> arising from the product of key decision variables</a:t>
            </a:r>
          </a:p>
          <a:p>
            <a:endParaRPr lang="en-US" dirty="0"/>
          </a:p>
        </p:txBody>
      </p:sp>
      <p:sp>
        <p:nvSpPr>
          <p:cNvPr id="4" name="Slide Number Placeholder 3">
            <a:extLst>
              <a:ext uri="{FF2B5EF4-FFF2-40B4-BE49-F238E27FC236}">
                <a16:creationId xmlns:a16="http://schemas.microsoft.com/office/drawing/2014/main" id="{0A6459EF-9678-D857-DE67-AEC1291E9A95}"/>
              </a:ext>
            </a:extLst>
          </p:cNvPr>
          <p:cNvSpPr>
            <a:spLocks noGrp="1"/>
          </p:cNvSpPr>
          <p:nvPr>
            <p:ph type="sldNum" sz="quarter" idx="5"/>
          </p:nvPr>
        </p:nvSpPr>
        <p:spPr/>
        <p:txBody>
          <a:bodyPr/>
          <a:lstStyle/>
          <a:p>
            <a:fld id="{1F2A1897-D047-4C41-830A-443B70738430}" type="slidenum">
              <a:rPr lang="en-US" smtClean="0"/>
              <a:t>9</a:t>
            </a:fld>
            <a:endParaRPr lang="en-US"/>
          </a:p>
        </p:txBody>
      </p:sp>
    </p:spTree>
    <p:extLst>
      <p:ext uri="{BB962C8B-B14F-4D97-AF65-F5344CB8AC3E}">
        <p14:creationId xmlns:p14="http://schemas.microsoft.com/office/powerpoint/2010/main" val="1402793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E19DB-CBF6-85E4-F0F0-350A9FF3AD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782A86-2269-21CC-70D4-A7EA2FA526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FCEEB6-E50E-020B-8289-9EC256C5EA53}"/>
              </a:ext>
            </a:extLst>
          </p:cNvPr>
          <p:cNvSpPr>
            <a:spLocks noGrp="1"/>
          </p:cNvSpPr>
          <p:nvPr>
            <p:ph type="body" idx="1"/>
          </p:nvPr>
        </p:nvSpPr>
        <p:spPr/>
        <p:txBody>
          <a:bodyPr/>
          <a:lstStyle/>
          <a:p>
            <a:pPr marL="0" indent="0">
              <a:buNone/>
            </a:pPr>
            <a:endParaRPr lang="en-US" dirty="0"/>
          </a:p>
          <a:p>
            <a:pPr marL="0" indent="0">
              <a:buNone/>
            </a:pPr>
            <a:r>
              <a:rPr lang="en-US" dirty="0"/>
              <a:t>Validate the integrated pricing–assortment–inventory model using real retail data (canned tuna SKUs).</a:t>
            </a:r>
          </a:p>
          <a:p>
            <a:pPr marL="0" indent="0">
              <a:buNone/>
            </a:pPr>
            <a:r>
              <a:rPr lang="en-US" b="1" dirty="0"/>
              <a:t>• What It Shows:</a:t>
            </a:r>
            <a:br>
              <a:rPr lang="en-US" dirty="0"/>
            </a:br>
            <a:r>
              <a:rPr lang="en-US" dirty="0"/>
              <a:t>– Integrated decisions outperform sequential ones</a:t>
            </a:r>
            <a:br>
              <a:rPr lang="en-US" dirty="0"/>
            </a:br>
            <a:r>
              <a:rPr lang="en-US" dirty="0"/>
              <a:t>– Coordinated pricing, assortment, and inventory improves profit</a:t>
            </a:r>
            <a:br>
              <a:rPr lang="en-US" dirty="0"/>
            </a:br>
            <a:r>
              <a:rPr lang="en-US" dirty="0"/>
              <a:t>– Substitution and customer heterogeneity are essential to model</a:t>
            </a:r>
            <a:br>
              <a:rPr lang="en-US" dirty="0"/>
            </a:br>
            <a:r>
              <a:rPr lang="en-US" dirty="0"/>
              <a:t>– Real-world feasibility of the approach demonstrated</a:t>
            </a:r>
          </a:p>
        </p:txBody>
      </p:sp>
      <p:sp>
        <p:nvSpPr>
          <p:cNvPr id="4" name="Slide Number Placeholder 3">
            <a:extLst>
              <a:ext uri="{FF2B5EF4-FFF2-40B4-BE49-F238E27FC236}">
                <a16:creationId xmlns:a16="http://schemas.microsoft.com/office/drawing/2014/main" id="{AB821991-16C0-7A4C-3766-5CCE838E17C5}"/>
              </a:ext>
            </a:extLst>
          </p:cNvPr>
          <p:cNvSpPr>
            <a:spLocks noGrp="1"/>
          </p:cNvSpPr>
          <p:nvPr>
            <p:ph type="sldNum" sz="quarter" idx="5"/>
          </p:nvPr>
        </p:nvSpPr>
        <p:spPr/>
        <p:txBody>
          <a:bodyPr/>
          <a:lstStyle/>
          <a:p>
            <a:fld id="{1F2A1897-D047-4C41-830A-443B70738430}" type="slidenum">
              <a:rPr lang="en-US" smtClean="0"/>
              <a:t>10</a:t>
            </a:fld>
            <a:endParaRPr lang="en-US"/>
          </a:p>
        </p:txBody>
      </p:sp>
    </p:spTree>
    <p:extLst>
      <p:ext uri="{BB962C8B-B14F-4D97-AF65-F5344CB8AC3E}">
        <p14:creationId xmlns:p14="http://schemas.microsoft.com/office/powerpoint/2010/main" val="10973890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B8C2E-D974-7321-F7FD-D674EDD1D6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1BEB1A-92AD-2ABA-96C6-682E7C2BDF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9E0D-6A10-5018-739C-CCC9AFFD1D16}"/>
              </a:ext>
            </a:extLst>
          </p:cNvPr>
          <p:cNvSpPr>
            <a:spLocks noGrp="1"/>
          </p:cNvSpPr>
          <p:nvPr>
            <p:ph type="body" idx="1"/>
          </p:nvPr>
        </p:nvSpPr>
        <p:spPr/>
        <p:txBody>
          <a:bodyPr/>
          <a:lstStyle/>
          <a:p>
            <a:pPr marL="228600" indent="-228600">
              <a:buAutoNum type="arabicPeriod"/>
            </a:pPr>
            <a:r>
              <a:rPr lang="en-US" dirty="0"/>
              <a:t>Due to the seasonality in demand and cost; the cannibalization effects between the different customer segments</a:t>
            </a:r>
          </a:p>
          <a:p>
            <a:pPr marL="228600" indent="-228600">
              <a:buAutoNum type="arabicPeriod"/>
            </a:pPr>
            <a:r>
              <a:rPr lang="en-US" dirty="0"/>
              <a:t>Highlight the importance of integrating ordering with pricing and assortment decisions</a:t>
            </a:r>
          </a:p>
          <a:p>
            <a:pPr marL="228600" indent="-228600">
              <a:buAutoNum type="arabicPeriod"/>
            </a:pPr>
            <a:r>
              <a:rPr lang="en-US" dirty="0"/>
              <a:t>Predictable seasonality of demand and cost is beneficial and can lead to significant increase in profitability if the retailer stocks wider assortments and higher shelf inventories</a:t>
            </a:r>
          </a:p>
        </p:txBody>
      </p:sp>
      <p:sp>
        <p:nvSpPr>
          <p:cNvPr id="4" name="Slide Number Placeholder 3">
            <a:extLst>
              <a:ext uri="{FF2B5EF4-FFF2-40B4-BE49-F238E27FC236}">
                <a16:creationId xmlns:a16="http://schemas.microsoft.com/office/drawing/2014/main" id="{D872C3F4-6CC9-EF19-39A1-530B4223A130}"/>
              </a:ext>
            </a:extLst>
          </p:cNvPr>
          <p:cNvSpPr>
            <a:spLocks noGrp="1"/>
          </p:cNvSpPr>
          <p:nvPr>
            <p:ph type="sldNum" sz="quarter" idx="5"/>
          </p:nvPr>
        </p:nvSpPr>
        <p:spPr/>
        <p:txBody>
          <a:bodyPr/>
          <a:lstStyle/>
          <a:p>
            <a:fld id="{1F2A1897-D047-4C41-830A-443B70738430}" type="slidenum">
              <a:rPr lang="en-US" smtClean="0"/>
              <a:t>12</a:t>
            </a:fld>
            <a:endParaRPr lang="en-US"/>
          </a:p>
        </p:txBody>
      </p:sp>
    </p:spTree>
    <p:extLst>
      <p:ext uri="{BB962C8B-B14F-4D97-AF65-F5344CB8AC3E}">
        <p14:creationId xmlns:p14="http://schemas.microsoft.com/office/powerpoint/2010/main" val="1434698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5.xml"/><Relationship Id="rId16"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2.png"/><Relationship Id="rId9" Type="http://schemas.openxmlformats.org/officeDocument/2006/relationships/image" Target="../media/image10.png"/><Relationship Id="rId14"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png"/><Relationship Id="rId21" Type="http://schemas.openxmlformats.org/officeDocument/2006/relationships/image" Target="../media/image34.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notesSlide" Target="../notesSlides/notesSlide6.xml"/><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png"/><Relationship Id="rId19" Type="http://schemas.openxmlformats.org/officeDocument/2006/relationships/image" Target="../media/image32.png"/><Relationship Id="rId4" Type="http://schemas.openxmlformats.org/officeDocument/2006/relationships/image" Target="../media/image2.png"/><Relationship Id="rId9" Type="http://schemas.openxmlformats.org/officeDocument/2006/relationships/image" Target="../media/image22.png"/><Relationship Id="rId14" Type="http://schemas.openxmlformats.org/officeDocument/2006/relationships/image" Target="../media/image27.png"/><Relationship Id="rId22" Type="http://schemas.openxmlformats.org/officeDocument/2006/relationships/image" Target="../media/image3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p:cNvPicPr>
            <a:picLocks noChangeAspect="1"/>
          </p:cNvPicPr>
          <p:nvPr/>
        </p:nvPicPr>
        <p:blipFill>
          <a:blip r:embed="rId3"/>
          <a:srcRect/>
          <a:stretch>
            <a:fillRect/>
          </a:stretch>
        </p:blipFill>
        <p:spPr>
          <a:xfrm>
            <a:off x="0" y="0"/>
            <a:ext cx="16256000" cy="9144000"/>
          </a:xfrm>
          <a:prstGeom prst="rect">
            <a:avLst/>
          </a:prstGeom>
        </p:spPr>
      </p:pic>
      <p:sp>
        <p:nvSpPr>
          <p:cNvPr id="4" name="TextBox 4"/>
          <p:cNvSpPr txBox="1"/>
          <p:nvPr/>
        </p:nvSpPr>
        <p:spPr>
          <a:xfrm>
            <a:off x="869950" y="2667000"/>
            <a:ext cx="14490700" cy="203200"/>
          </a:xfrm>
          <a:prstGeom prst="rect">
            <a:avLst/>
          </a:prstGeom>
          <a:solidFill>
            <a:srgbClr val="000000">
              <a:alpha val="0"/>
            </a:srgbClr>
          </a:solidFill>
        </p:spPr>
        <p:txBody>
          <a:bodyPr lIns="0" tIns="0" rIns="0" bIns="0" rtlCol="0" anchor="ctr"/>
          <a:lstStyle/>
          <a:p>
            <a:pPr indent="0" algn="l">
              <a:lnSpc>
                <a:spcPct val="119999"/>
              </a:lnSpc>
              <a:defRPr/>
            </a:pPr>
            <a:r>
              <a:rPr lang="en-US" sz="5800" b="1" dirty="0">
                <a:solidFill>
                  <a:srgbClr val="1A4378"/>
                </a:solidFill>
                <a:latin typeface="Poppins"/>
              </a:rPr>
              <a:t>Integrated retail decisions with multiple selling periods and customer segments: Optimization and insights</a:t>
            </a:r>
            <a:endParaRPr lang="en-US" sz="1100" dirty="0"/>
          </a:p>
        </p:txBody>
      </p:sp>
      <p:sp>
        <p:nvSpPr>
          <p:cNvPr id="6" name="TextBox 6"/>
          <p:cNvSpPr txBox="1"/>
          <p:nvPr/>
        </p:nvSpPr>
        <p:spPr>
          <a:xfrm>
            <a:off x="876300" y="6694037"/>
            <a:ext cx="14490700" cy="368300"/>
          </a:xfrm>
          <a:prstGeom prst="rect">
            <a:avLst/>
          </a:prstGeom>
          <a:solidFill>
            <a:srgbClr val="000000">
              <a:alpha val="0"/>
            </a:srgbClr>
          </a:solidFill>
        </p:spPr>
        <p:txBody>
          <a:bodyPr lIns="0" tIns="0" rIns="0" bIns="0" rtlCol="0" anchor="ctr"/>
          <a:lstStyle/>
          <a:p>
            <a:pPr indent="0" algn="l">
              <a:lnSpc>
                <a:spcPct val="149999"/>
              </a:lnSpc>
              <a:defRPr/>
            </a:pPr>
            <a:r>
              <a:rPr lang="en-US" sz="2800" b="1" dirty="0">
                <a:solidFill>
                  <a:srgbClr val="1A4378"/>
                </a:solidFill>
                <a:latin typeface="Poppins"/>
              </a:rPr>
              <a:t>Author Name – Ahmed </a:t>
            </a:r>
            <a:r>
              <a:rPr lang="en-US" sz="2800" b="1" dirty="0" err="1">
                <a:solidFill>
                  <a:srgbClr val="1A4378"/>
                </a:solidFill>
                <a:latin typeface="Poppins"/>
              </a:rPr>
              <a:t>Ghoniem</a:t>
            </a:r>
            <a:r>
              <a:rPr lang="en-US" sz="2800" b="1" dirty="0">
                <a:solidFill>
                  <a:srgbClr val="1A4378"/>
                </a:solidFill>
                <a:latin typeface="Poppins"/>
              </a:rPr>
              <a:t>, </a:t>
            </a:r>
            <a:r>
              <a:rPr lang="en-US" sz="2800" b="1" dirty="0" err="1">
                <a:solidFill>
                  <a:srgbClr val="1A4378"/>
                </a:solidFill>
                <a:latin typeface="Poppins"/>
              </a:rPr>
              <a:t>Bacel</a:t>
            </a:r>
            <a:r>
              <a:rPr lang="en-US" sz="2800" b="1" dirty="0">
                <a:solidFill>
                  <a:srgbClr val="1A4378"/>
                </a:solidFill>
                <a:latin typeface="Poppins"/>
              </a:rPr>
              <a:t> Maddah </a:t>
            </a:r>
            <a:endParaRPr lang="en-US" sz="2800" dirty="0"/>
          </a:p>
        </p:txBody>
      </p:sp>
      <p:sp>
        <p:nvSpPr>
          <p:cNvPr id="7" name="TextBox 7"/>
          <p:cNvSpPr txBox="1"/>
          <p:nvPr/>
        </p:nvSpPr>
        <p:spPr>
          <a:xfrm>
            <a:off x="869950" y="7133931"/>
            <a:ext cx="14490700" cy="368300"/>
          </a:xfrm>
          <a:prstGeom prst="rect">
            <a:avLst/>
          </a:prstGeom>
          <a:solidFill>
            <a:srgbClr val="000000">
              <a:alpha val="0"/>
            </a:srgbClr>
          </a:solidFill>
        </p:spPr>
        <p:txBody>
          <a:bodyPr lIns="0" tIns="0" rIns="0" bIns="0" rtlCol="0" anchor="ctr"/>
          <a:lstStyle/>
          <a:p>
            <a:pPr indent="0" algn="l">
              <a:lnSpc>
                <a:spcPct val="149999"/>
              </a:lnSpc>
              <a:defRPr/>
            </a:pPr>
            <a:r>
              <a:rPr lang="en-US" sz="2800" b="1" dirty="0">
                <a:solidFill>
                  <a:srgbClr val="1A4378"/>
                </a:solidFill>
                <a:latin typeface="Poppins"/>
              </a:rPr>
              <a:t>Journal - Omega</a:t>
            </a:r>
            <a:endParaRPr lang="en-US" sz="2800" dirty="0"/>
          </a:p>
        </p:txBody>
      </p:sp>
      <p:sp>
        <p:nvSpPr>
          <p:cNvPr id="8" name="TextBox 7">
            <a:extLst>
              <a:ext uri="{FF2B5EF4-FFF2-40B4-BE49-F238E27FC236}">
                <a16:creationId xmlns:a16="http://schemas.microsoft.com/office/drawing/2014/main" id="{1BE202DB-1629-08B7-6F67-622A1707294D}"/>
              </a:ext>
            </a:extLst>
          </p:cNvPr>
          <p:cNvSpPr txBox="1"/>
          <p:nvPr/>
        </p:nvSpPr>
        <p:spPr>
          <a:xfrm>
            <a:off x="869950" y="4872531"/>
            <a:ext cx="14027524" cy="1329338"/>
          </a:xfrm>
          <a:prstGeom prst="rect">
            <a:avLst/>
          </a:prstGeom>
          <a:noFill/>
        </p:spPr>
        <p:txBody>
          <a:bodyPr wrap="square">
            <a:spAutoFit/>
          </a:bodyPr>
          <a:lstStyle/>
          <a:p>
            <a:pPr algn="l">
              <a:lnSpc>
                <a:spcPts val="5000"/>
              </a:lnSpc>
              <a:spcBef>
                <a:spcPts val="1200"/>
              </a:spcBef>
              <a:spcAft>
                <a:spcPts val="600"/>
              </a:spcAft>
              <a:buNone/>
            </a:pPr>
            <a:r>
              <a:rPr lang="en-US" sz="3200" b="1" dirty="0">
                <a:solidFill>
                  <a:srgbClr val="1A4378"/>
                </a:solidFill>
                <a:latin typeface="Poppins"/>
              </a:rPr>
              <a:t>Keywords: Assortment planning, Pricing and inventory, Dynamic lot-sizing, Optimization modeling, Mathematical programming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78FEC-70FA-36F0-521F-E79E3708C39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1B45D63-6E62-6102-8D4F-11BF0CE172ED}"/>
              </a:ext>
            </a:extLst>
          </p:cNvPr>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a:extLst>
              <a:ext uri="{FF2B5EF4-FFF2-40B4-BE49-F238E27FC236}">
                <a16:creationId xmlns:a16="http://schemas.microsoft.com/office/drawing/2014/main" id="{F1E9C254-E237-0AA6-9C82-74B5408822AC}"/>
              </a:ext>
            </a:extLst>
          </p:cNvPr>
          <p:cNvPicPr>
            <a:picLocks noChangeAspect="1"/>
          </p:cNvPicPr>
          <p:nvPr/>
        </p:nvPicPr>
        <p:blipFill>
          <a:blip r:embed="rId2"/>
          <a:srcRect/>
          <a:stretch>
            <a:fillRect/>
          </a:stretch>
        </p:blipFill>
        <p:spPr>
          <a:xfrm>
            <a:off x="0" y="0"/>
            <a:ext cx="16256000" cy="9144000"/>
          </a:xfrm>
          <a:prstGeom prst="rect">
            <a:avLst/>
          </a:prstGeom>
        </p:spPr>
      </p:pic>
      <p:sp>
        <p:nvSpPr>
          <p:cNvPr id="4" name="AutoShape 4">
            <a:extLst>
              <a:ext uri="{FF2B5EF4-FFF2-40B4-BE49-F238E27FC236}">
                <a16:creationId xmlns:a16="http://schemas.microsoft.com/office/drawing/2014/main" id="{D57F224D-C141-4C36-E799-48D0206927DD}"/>
              </a:ext>
            </a:extLst>
          </p:cNvPr>
          <p:cNvSpPr/>
          <p:nvPr/>
        </p:nvSpPr>
        <p:spPr>
          <a:xfrm>
            <a:off x="876300" y="2819400"/>
            <a:ext cx="14490700" cy="4368800"/>
          </a:xfrm>
          <a:prstGeom prst="rect">
            <a:avLst/>
          </a:prstGeom>
          <a:solidFill>
            <a:srgbClr val="000000">
              <a:alpha val="0"/>
            </a:srgbClr>
          </a:solidFill>
        </p:spPr>
        <p:txBody>
          <a:bodyPr/>
          <a:lstStyle/>
          <a:p>
            <a:endParaRPr lang="en-US"/>
          </a:p>
        </p:txBody>
      </p:sp>
      <p:sp>
        <p:nvSpPr>
          <p:cNvPr id="5" name="AutoShape 5">
            <a:extLst>
              <a:ext uri="{FF2B5EF4-FFF2-40B4-BE49-F238E27FC236}">
                <a16:creationId xmlns:a16="http://schemas.microsoft.com/office/drawing/2014/main" id="{AE0A8D23-BB70-3842-EF8A-FA1E70463F91}"/>
              </a:ext>
            </a:extLst>
          </p:cNvPr>
          <p:cNvSpPr/>
          <p:nvPr/>
        </p:nvSpPr>
        <p:spPr>
          <a:xfrm>
            <a:off x="876300" y="3568700"/>
            <a:ext cx="4699000" cy="3619500"/>
          </a:xfrm>
          <a:prstGeom prst="rect">
            <a:avLst/>
          </a:prstGeom>
          <a:solidFill>
            <a:srgbClr val="000000">
              <a:alpha val="0"/>
            </a:srgbClr>
          </a:solidFill>
        </p:spPr>
        <p:txBody>
          <a:bodyPr/>
          <a:lstStyle/>
          <a:p>
            <a:endParaRPr lang="en-US"/>
          </a:p>
        </p:txBody>
      </p:sp>
      <p:sp>
        <p:nvSpPr>
          <p:cNvPr id="6" name="AutoShape 6">
            <a:extLst>
              <a:ext uri="{FF2B5EF4-FFF2-40B4-BE49-F238E27FC236}">
                <a16:creationId xmlns:a16="http://schemas.microsoft.com/office/drawing/2014/main" id="{D6D30EA9-EC5E-4F90-F866-0EC13895F6D6}"/>
              </a:ext>
            </a:extLst>
          </p:cNvPr>
          <p:cNvSpPr/>
          <p:nvPr/>
        </p:nvSpPr>
        <p:spPr>
          <a:xfrm>
            <a:off x="876300" y="3568700"/>
            <a:ext cx="4699000" cy="3619500"/>
          </a:xfrm>
          <a:prstGeom prst="roundRect">
            <a:avLst>
              <a:gd name="adj" fmla="val 2105"/>
            </a:avLst>
          </a:prstGeom>
          <a:solidFill>
            <a:srgbClr val="000000">
              <a:alpha val="0"/>
            </a:srgbClr>
          </a:solidFill>
        </p:spPr>
        <p:txBody>
          <a:bodyPr/>
          <a:lstStyle/>
          <a:p>
            <a:endParaRPr lang="en-US"/>
          </a:p>
        </p:txBody>
      </p:sp>
      <p:sp>
        <p:nvSpPr>
          <p:cNvPr id="8" name="AutoShape 8">
            <a:extLst>
              <a:ext uri="{FF2B5EF4-FFF2-40B4-BE49-F238E27FC236}">
                <a16:creationId xmlns:a16="http://schemas.microsoft.com/office/drawing/2014/main" id="{14F3E160-2DD3-6F3D-0B22-FF63F4379090}"/>
              </a:ext>
            </a:extLst>
          </p:cNvPr>
          <p:cNvSpPr/>
          <p:nvPr/>
        </p:nvSpPr>
        <p:spPr>
          <a:xfrm>
            <a:off x="5765800" y="3187700"/>
            <a:ext cx="4699000" cy="4000500"/>
          </a:xfrm>
          <a:prstGeom prst="rect">
            <a:avLst/>
          </a:prstGeom>
          <a:solidFill>
            <a:srgbClr val="000000">
              <a:alpha val="0"/>
            </a:srgbClr>
          </a:solidFill>
        </p:spPr>
        <p:txBody>
          <a:bodyPr/>
          <a:lstStyle/>
          <a:p>
            <a:endParaRPr lang="en-US"/>
          </a:p>
        </p:txBody>
      </p:sp>
      <p:sp>
        <p:nvSpPr>
          <p:cNvPr id="11" name="AutoShape 11">
            <a:extLst>
              <a:ext uri="{FF2B5EF4-FFF2-40B4-BE49-F238E27FC236}">
                <a16:creationId xmlns:a16="http://schemas.microsoft.com/office/drawing/2014/main" id="{5700DFFE-711F-808D-25FF-967BE7CDD83D}"/>
              </a:ext>
            </a:extLst>
          </p:cNvPr>
          <p:cNvSpPr/>
          <p:nvPr/>
        </p:nvSpPr>
        <p:spPr>
          <a:xfrm>
            <a:off x="10668000" y="2819400"/>
            <a:ext cx="4699000" cy="4368800"/>
          </a:xfrm>
          <a:prstGeom prst="rect">
            <a:avLst/>
          </a:prstGeom>
          <a:solidFill>
            <a:srgbClr val="000000">
              <a:alpha val="0"/>
            </a:srgbClr>
          </a:solidFill>
        </p:spPr>
        <p:txBody>
          <a:bodyPr/>
          <a:lstStyle/>
          <a:p>
            <a:endParaRPr lang="en-US"/>
          </a:p>
        </p:txBody>
      </p:sp>
      <p:sp>
        <p:nvSpPr>
          <p:cNvPr id="12" name="AutoShape 12">
            <a:extLst>
              <a:ext uri="{FF2B5EF4-FFF2-40B4-BE49-F238E27FC236}">
                <a16:creationId xmlns:a16="http://schemas.microsoft.com/office/drawing/2014/main" id="{D9D3B34B-74B1-27C8-1332-2F0D05B15485}"/>
              </a:ext>
            </a:extLst>
          </p:cNvPr>
          <p:cNvSpPr/>
          <p:nvPr/>
        </p:nvSpPr>
        <p:spPr>
          <a:xfrm>
            <a:off x="10668000" y="2819400"/>
            <a:ext cx="4699000" cy="4368800"/>
          </a:xfrm>
          <a:prstGeom prst="roundRect">
            <a:avLst>
              <a:gd name="adj" fmla="val 1744"/>
            </a:avLst>
          </a:prstGeom>
          <a:solidFill>
            <a:srgbClr val="000000">
              <a:alpha val="0"/>
            </a:srgbClr>
          </a:solidFill>
        </p:spPr>
        <p:txBody>
          <a:bodyPr/>
          <a:lstStyle/>
          <a:p>
            <a:endParaRPr lang="en-US"/>
          </a:p>
        </p:txBody>
      </p:sp>
      <p:sp>
        <p:nvSpPr>
          <p:cNvPr id="14" name="TextBox 14">
            <a:extLst>
              <a:ext uri="{FF2B5EF4-FFF2-40B4-BE49-F238E27FC236}">
                <a16:creationId xmlns:a16="http://schemas.microsoft.com/office/drawing/2014/main" id="{97474F18-3F8B-EB23-17F6-83D3E07A7BD3}"/>
              </a:ext>
            </a:extLst>
          </p:cNvPr>
          <p:cNvSpPr txBox="1"/>
          <p:nvPr/>
        </p:nvSpPr>
        <p:spPr>
          <a:xfrm>
            <a:off x="279400" y="190500"/>
            <a:ext cx="14490700" cy="584200"/>
          </a:xfrm>
          <a:prstGeom prst="rect">
            <a:avLst/>
          </a:prstGeom>
          <a:solidFill>
            <a:srgbClr val="000000">
              <a:alpha val="0"/>
            </a:srgbClr>
          </a:solidFill>
        </p:spPr>
        <p:txBody>
          <a:bodyPr lIns="0" tIns="0" rIns="0" bIns="0" rtlCol="0" anchor="ctr"/>
          <a:lstStyle/>
          <a:p>
            <a:pPr indent="0" algn="l">
              <a:lnSpc>
                <a:spcPct val="119999"/>
              </a:lnSpc>
              <a:defRPr/>
            </a:pPr>
            <a:r>
              <a:rPr lang="en-US" sz="3900" b="1" dirty="0">
                <a:solidFill>
                  <a:srgbClr val="1A4378"/>
                </a:solidFill>
                <a:latin typeface="Poppins"/>
              </a:rPr>
              <a:t>Table of Contents</a:t>
            </a:r>
            <a:endParaRPr lang="en-US" sz="1100" dirty="0"/>
          </a:p>
        </p:txBody>
      </p:sp>
      <p:sp>
        <p:nvSpPr>
          <p:cNvPr id="15" name="TextBox 15">
            <a:extLst>
              <a:ext uri="{FF2B5EF4-FFF2-40B4-BE49-F238E27FC236}">
                <a16:creationId xmlns:a16="http://schemas.microsoft.com/office/drawing/2014/main" id="{91328C23-AF8C-0199-86AB-B1AAA95BD22A}"/>
              </a:ext>
            </a:extLst>
          </p:cNvPr>
          <p:cNvSpPr txBox="1"/>
          <p:nvPr/>
        </p:nvSpPr>
        <p:spPr>
          <a:xfrm>
            <a:off x="283029" y="1246414"/>
            <a:ext cx="9661072" cy="5117193"/>
          </a:xfrm>
          <a:prstGeom prst="rect">
            <a:avLst/>
          </a:prstGeom>
          <a:solidFill>
            <a:srgbClr val="000000">
              <a:alpha val="0"/>
            </a:srgbClr>
          </a:solidFill>
        </p:spPr>
        <p:txBody>
          <a:bodyPr lIns="0" tIns="0" rIns="0" bIns="0" rtlCol="0" anchor="ctr"/>
          <a:lstStyle/>
          <a:p>
            <a:pPr indent="0" algn="l">
              <a:lnSpc>
                <a:spcPct val="300000"/>
              </a:lnSpc>
              <a:defRPr/>
            </a:pPr>
            <a:r>
              <a:rPr lang="en-US" sz="2900" b="1" dirty="0">
                <a:solidFill>
                  <a:srgbClr val="1A4378"/>
                </a:solidFill>
                <a:latin typeface="Poppins"/>
              </a:rPr>
              <a:t>Background</a:t>
            </a:r>
          </a:p>
          <a:p>
            <a:pPr>
              <a:lnSpc>
                <a:spcPct val="300000"/>
              </a:lnSpc>
              <a:defRPr/>
            </a:pPr>
            <a:r>
              <a:rPr lang="en-US" sz="2900" dirty="0">
                <a:solidFill>
                  <a:srgbClr val="1A4378"/>
                </a:solidFill>
                <a:latin typeface="Poppins"/>
              </a:rPr>
              <a:t>Methodology</a:t>
            </a:r>
          </a:p>
          <a:p>
            <a:pPr>
              <a:lnSpc>
                <a:spcPct val="300000"/>
              </a:lnSpc>
              <a:defRPr/>
            </a:pPr>
            <a:r>
              <a:rPr lang="en-US" sz="2900" dirty="0">
                <a:solidFill>
                  <a:srgbClr val="1A4378"/>
                </a:solidFill>
                <a:latin typeface="Poppins"/>
              </a:rPr>
              <a:t>Results &amp; Discussion</a:t>
            </a:r>
          </a:p>
          <a:p>
            <a:pPr>
              <a:lnSpc>
                <a:spcPct val="300000"/>
              </a:lnSpc>
              <a:defRPr/>
            </a:pPr>
            <a:r>
              <a:rPr lang="en-US" sz="2900" dirty="0">
                <a:solidFill>
                  <a:srgbClr val="1A4378"/>
                </a:solidFill>
                <a:latin typeface="Poppins"/>
              </a:rPr>
              <a:t>Research Summary &amp; Contribution</a:t>
            </a:r>
          </a:p>
          <a:p>
            <a:pPr indent="0" algn="l">
              <a:lnSpc>
                <a:spcPct val="120000"/>
              </a:lnSpc>
              <a:defRPr/>
            </a:pPr>
            <a:endParaRPr lang="en-US" sz="1100" dirty="0"/>
          </a:p>
        </p:txBody>
      </p:sp>
    </p:spTree>
    <p:extLst>
      <p:ext uri="{BB962C8B-B14F-4D97-AF65-F5344CB8AC3E}">
        <p14:creationId xmlns:p14="http://schemas.microsoft.com/office/powerpoint/2010/main" val="1259631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p:cNvPicPr>
            <a:picLocks noChangeAspect="1"/>
          </p:cNvPicPr>
          <p:nvPr/>
        </p:nvPicPr>
        <p:blipFill>
          <a:blip r:embed="rId3"/>
          <a:srcRect/>
          <a:stretch>
            <a:fillRect/>
          </a:stretch>
        </p:blipFill>
        <p:spPr>
          <a:xfrm>
            <a:off x="0" y="0"/>
            <a:ext cx="16256000" cy="9144000"/>
          </a:xfrm>
          <a:prstGeom prst="rect">
            <a:avLst/>
          </a:prstGeom>
        </p:spPr>
      </p:pic>
      <p:sp>
        <p:nvSpPr>
          <p:cNvPr id="4" name="AutoShape 4"/>
          <p:cNvSpPr/>
          <p:nvPr/>
        </p:nvSpPr>
        <p:spPr>
          <a:xfrm>
            <a:off x="876300" y="2489200"/>
            <a:ext cx="14490700" cy="4368800"/>
          </a:xfrm>
          <a:prstGeom prst="rect">
            <a:avLst/>
          </a:prstGeom>
          <a:solidFill>
            <a:srgbClr val="000000">
              <a:alpha val="0"/>
            </a:srgbClr>
          </a:solidFill>
        </p:spPr>
        <p:txBody>
          <a:bodyPr/>
          <a:lstStyle/>
          <a:p>
            <a:endParaRPr lang="en-US"/>
          </a:p>
        </p:txBody>
      </p:sp>
      <p:sp>
        <p:nvSpPr>
          <p:cNvPr id="5" name="AutoShape 5"/>
          <p:cNvSpPr/>
          <p:nvPr/>
        </p:nvSpPr>
        <p:spPr>
          <a:xfrm>
            <a:off x="876300" y="2489200"/>
            <a:ext cx="4660900" cy="4368800"/>
          </a:xfrm>
          <a:prstGeom prst="roundRect">
            <a:avLst>
              <a:gd name="adj" fmla="val 2616"/>
            </a:avLst>
          </a:prstGeom>
          <a:solidFill>
            <a:srgbClr val="D0E3F0"/>
          </a:solidFill>
        </p:spPr>
        <p:txBody>
          <a:bodyPr/>
          <a:lstStyle/>
          <a:p>
            <a:endParaRPr lang="en-US"/>
          </a:p>
        </p:txBody>
      </p:sp>
      <p:sp>
        <p:nvSpPr>
          <p:cNvPr id="6" name="AutoShape 6"/>
          <p:cNvSpPr/>
          <p:nvPr/>
        </p:nvSpPr>
        <p:spPr>
          <a:xfrm>
            <a:off x="1130300" y="2730500"/>
            <a:ext cx="749300" cy="749300"/>
          </a:xfrm>
          <a:prstGeom prst="roundRect">
            <a:avLst>
              <a:gd name="adj" fmla="val 49152"/>
            </a:avLst>
          </a:prstGeom>
          <a:solidFill>
            <a:srgbClr val="1A4378"/>
          </a:solidFill>
        </p:spPr>
        <p:txBody>
          <a:bodyPr/>
          <a:lstStyle/>
          <a:p>
            <a:endParaRPr lang="en-US"/>
          </a:p>
        </p:txBody>
      </p:sp>
      <p:sp>
        <p:nvSpPr>
          <p:cNvPr id="7" name="AutoShape 7"/>
          <p:cNvSpPr/>
          <p:nvPr/>
        </p:nvSpPr>
        <p:spPr>
          <a:xfrm>
            <a:off x="5791200" y="2489200"/>
            <a:ext cx="4660900" cy="4368800"/>
          </a:xfrm>
          <a:prstGeom prst="roundRect">
            <a:avLst>
              <a:gd name="adj" fmla="val 2616"/>
            </a:avLst>
          </a:prstGeom>
          <a:solidFill>
            <a:srgbClr val="D0E3F0"/>
          </a:solidFill>
        </p:spPr>
        <p:txBody>
          <a:bodyPr/>
          <a:lstStyle/>
          <a:p>
            <a:endParaRPr lang="en-US"/>
          </a:p>
        </p:txBody>
      </p:sp>
      <p:sp>
        <p:nvSpPr>
          <p:cNvPr id="8" name="AutoShape 8"/>
          <p:cNvSpPr/>
          <p:nvPr/>
        </p:nvSpPr>
        <p:spPr>
          <a:xfrm>
            <a:off x="6045200" y="2730500"/>
            <a:ext cx="749300" cy="749300"/>
          </a:xfrm>
          <a:prstGeom prst="roundRect">
            <a:avLst>
              <a:gd name="adj" fmla="val 49152"/>
            </a:avLst>
          </a:prstGeom>
          <a:solidFill>
            <a:srgbClr val="1A4378"/>
          </a:solidFill>
        </p:spPr>
        <p:txBody>
          <a:bodyPr/>
          <a:lstStyle/>
          <a:p>
            <a:endParaRPr lang="en-US"/>
          </a:p>
        </p:txBody>
      </p:sp>
      <p:sp>
        <p:nvSpPr>
          <p:cNvPr id="9" name="AutoShape 9"/>
          <p:cNvSpPr/>
          <p:nvPr/>
        </p:nvSpPr>
        <p:spPr>
          <a:xfrm>
            <a:off x="10706100" y="2489200"/>
            <a:ext cx="4660900" cy="4368800"/>
          </a:xfrm>
          <a:prstGeom prst="roundRect">
            <a:avLst>
              <a:gd name="adj" fmla="val 2616"/>
            </a:avLst>
          </a:prstGeom>
          <a:solidFill>
            <a:srgbClr val="D0E3F0"/>
          </a:solidFill>
        </p:spPr>
        <p:txBody>
          <a:bodyPr/>
          <a:lstStyle/>
          <a:p>
            <a:endParaRPr lang="en-US"/>
          </a:p>
        </p:txBody>
      </p:sp>
      <p:sp>
        <p:nvSpPr>
          <p:cNvPr id="10" name="AutoShape 10"/>
          <p:cNvSpPr/>
          <p:nvPr/>
        </p:nvSpPr>
        <p:spPr>
          <a:xfrm>
            <a:off x="10960100" y="2730500"/>
            <a:ext cx="749300" cy="749300"/>
          </a:xfrm>
          <a:prstGeom prst="roundRect">
            <a:avLst>
              <a:gd name="adj" fmla="val 49152"/>
            </a:avLst>
          </a:prstGeom>
          <a:solidFill>
            <a:srgbClr val="1A4378"/>
          </a:solidFill>
        </p:spPr>
        <p:txBody>
          <a:bodyPr/>
          <a:lstStyle/>
          <a:p>
            <a:endParaRPr lang="en-US"/>
          </a:p>
        </p:txBody>
      </p:sp>
      <p:sp>
        <p:nvSpPr>
          <p:cNvPr id="11" name="TextBox 11"/>
          <p:cNvSpPr txBox="1"/>
          <p:nvPr/>
        </p:nvSpPr>
        <p:spPr>
          <a:xfrm>
            <a:off x="203200" y="301585"/>
            <a:ext cx="14490700" cy="584200"/>
          </a:xfrm>
          <a:prstGeom prst="rect">
            <a:avLst/>
          </a:prstGeom>
          <a:solidFill>
            <a:srgbClr val="000000">
              <a:alpha val="0"/>
            </a:srgbClr>
          </a:solidFill>
        </p:spPr>
        <p:txBody>
          <a:bodyPr lIns="0" tIns="0" rIns="0" bIns="0" rtlCol="0" anchor="ctr"/>
          <a:lstStyle/>
          <a:p>
            <a:pPr indent="0" algn="l">
              <a:lnSpc>
                <a:spcPct val="119999"/>
              </a:lnSpc>
              <a:defRPr/>
            </a:pPr>
            <a:r>
              <a:rPr lang="en-US" sz="3900" b="1" dirty="0">
                <a:solidFill>
                  <a:srgbClr val="1A4378"/>
                </a:solidFill>
                <a:latin typeface="Poppins"/>
              </a:rPr>
              <a:t>Research Context</a:t>
            </a:r>
            <a:endParaRPr lang="en-US" sz="1100" dirty="0"/>
          </a:p>
        </p:txBody>
      </p:sp>
      <p:sp>
        <p:nvSpPr>
          <p:cNvPr id="12" name="TextBox 12"/>
          <p:cNvSpPr txBox="1"/>
          <p:nvPr/>
        </p:nvSpPr>
        <p:spPr>
          <a:xfrm>
            <a:off x="1130300" y="3746500"/>
            <a:ext cx="41529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dirty="0">
                <a:solidFill>
                  <a:srgbClr val="1A4378"/>
                </a:solidFill>
                <a:latin typeface="Poppins"/>
              </a:rPr>
              <a:t>Real-World Problem</a:t>
            </a:r>
            <a:endParaRPr lang="en-US" sz="1100" dirty="0"/>
          </a:p>
        </p:txBody>
      </p:sp>
      <p:sp>
        <p:nvSpPr>
          <p:cNvPr id="13" name="TextBox 13"/>
          <p:cNvSpPr txBox="1"/>
          <p:nvPr/>
        </p:nvSpPr>
        <p:spPr>
          <a:xfrm>
            <a:off x="6045200" y="3746500"/>
            <a:ext cx="41529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Why It Matters</a:t>
            </a:r>
            <a:endParaRPr lang="en-US" sz="1100"/>
          </a:p>
        </p:txBody>
      </p:sp>
      <p:sp>
        <p:nvSpPr>
          <p:cNvPr id="14" name="TextBox 14"/>
          <p:cNvSpPr txBox="1"/>
          <p:nvPr/>
        </p:nvSpPr>
        <p:spPr>
          <a:xfrm>
            <a:off x="10960100" y="3746500"/>
            <a:ext cx="41529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The Gap</a:t>
            </a:r>
            <a:endParaRPr lang="en-US" sz="1100"/>
          </a:p>
        </p:txBody>
      </p:sp>
      <p:sp>
        <p:nvSpPr>
          <p:cNvPr id="15" name="TextBox 15"/>
          <p:cNvSpPr txBox="1"/>
          <p:nvPr/>
        </p:nvSpPr>
        <p:spPr>
          <a:xfrm>
            <a:off x="1130300" y="4368800"/>
            <a:ext cx="4152900" cy="2235200"/>
          </a:xfrm>
          <a:prstGeom prst="rect">
            <a:avLst/>
          </a:prstGeom>
          <a:solidFill>
            <a:srgbClr val="000000">
              <a:alpha val="0"/>
            </a:srgbClr>
          </a:solidFill>
        </p:spPr>
        <p:txBody>
          <a:bodyPr lIns="0" tIns="0" rIns="0" bIns="0" rtlCol="0" anchor="ctr"/>
          <a:lstStyle/>
          <a:p>
            <a:pPr indent="0" algn="l">
              <a:lnSpc>
                <a:spcPct val="149999"/>
              </a:lnSpc>
              <a:defRPr/>
            </a:pPr>
            <a:r>
              <a:rPr lang="en-US" sz="1900" b="1" dirty="0">
                <a:solidFill>
                  <a:srgbClr val="1A4378"/>
                </a:solidFill>
                <a:latin typeface="Poppins"/>
              </a:rPr>
              <a:t>Retailers (Walmart, JCPenney, Saks) face interconnected assortment, pricing, and inventory decisions. Typically optimized separately, missing joint synergies.</a:t>
            </a:r>
            <a:endParaRPr lang="en-US" sz="1100" dirty="0"/>
          </a:p>
        </p:txBody>
      </p:sp>
      <p:sp>
        <p:nvSpPr>
          <p:cNvPr id="16" name="TextBox 16"/>
          <p:cNvSpPr txBox="1"/>
          <p:nvPr/>
        </p:nvSpPr>
        <p:spPr>
          <a:xfrm>
            <a:off x="6045200" y="4368800"/>
            <a:ext cx="4152900" cy="18669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US grocery industry operates at 1.09% margins. Even small inefficiencies cause significant profit loss. Integrated optimization is business-critical.</a:t>
            </a:r>
            <a:endParaRPr lang="en-US" sz="1100"/>
          </a:p>
        </p:txBody>
      </p:sp>
      <p:sp>
        <p:nvSpPr>
          <p:cNvPr id="17" name="TextBox 17"/>
          <p:cNvSpPr txBox="1"/>
          <p:nvPr/>
        </p:nvSpPr>
        <p:spPr>
          <a:xfrm>
            <a:off x="10960100" y="4368800"/>
            <a:ext cx="4152900" cy="2235200"/>
          </a:xfrm>
          <a:prstGeom prst="rect">
            <a:avLst/>
          </a:prstGeom>
          <a:solidFill>
            <a:srgbClr val="000000">
              <a:alpha val="0"/>
            </a:srgbClr>
          </a:solidFill>
        </p:spPr>
        <p:txBody>
          <a:bodyPr lIns="0" tIns="0" rIns="0" bIns="0" rtlCol="0" anchor="ctr"/>
          <a:lstStyle/>
          <a:p>
            <a:pPr indent="0" algn="l">
              <a:lnSpc>
                <a:spcPct val="149999"/>
              </a:lnSpc>
              <a:defRPr/>
            </a:pPr>
            <a:r>
              <a:rPr lang="en-US" sz="1900" b="1" dirty="0">
                <a:solidFill>
                  <a:srgbClr val="1A4378"/>
                </a:solidFill>
                <a:latin typeface="Poppins"/>
              </a:rPr>
              <a:t>Existing models rarely handle all factors: multiple products, customer segments, multi-period horizon, substitution effects, and operational costs simultaneously.</a:t>
            </a:r>
            <a:endParaRPr lang="en-US" sz="1100" dirty="0"/>
          </a:p>
        </p:txBody>
      </p:sp>
      <p:sp>
        <p:nvSpPr>
          <p:cNvPr id="18" name="TextBox 18"/>
          <p:cNvSpPr txBox="1"/>
          <p:nvPr/>
        </p:nvSpPr>
        <p:spPr>
          <a:xfrm>
            <a:off x="876300" y="7150100"/>
            <a:ext cx="14490700" cy="368300"/>
          </a:xfrm>
          <a:prstGeom prst="rect">
            <a:avLst/>
          </a:prstGeom>
          <a:solidFill>
            <a:srgbClr val="000000">
              <a:alpha val="0"/>
            </a:srgbClr>
          </a:solidFill>
        </p:spPr>
        <p:txBody>
          <a:bodyPr lIns="0" tIns="0" rIns="0" bIns="0" rtlCol="0" anchor="ctr"/>
          <a:lstStyle/>
          <a:p>
            <a:pPr indent="0" algn="l">
              <a:lnSpc>
                <a:spcPct val="149999"/>
              </a:lnSpc>
              <a:defRPr/>
            </a:pPr>
            <a:r>
              <a:rPr lang="en-US" sz="1900" b="1" i="1" dirty="0">
                <a:solidFill>
                  <a:srgbClr val="1A4378"/>
                </a:solidFill>
                <a:latin typeface="Poppins"/>
              </a:rPr>
              <a:t>This research fills the critical gap with a unified optimization framework.</a:t>
            </a:r>
            <a:endParaRPr lang="en-US" sz="1100" dirty="0"/>
          </a:p>
        </p:txBody>
      </p:sp>
      <p:pic>
        <p:nvPicPr>
          <p:cNvPr id="19" name="Picture 19"/>
          <p:cNvPicPr>
            <a:picLocks noChangeAspect="1"/>
          </p:cNvPicPr>
          <p:nvPr/>
        </p:nvPicPr>
        <p:blipFill>
          <a:blip r:embed="rId4"/>
          <a:srcRect/>
          <a:stretch>
            <a:fillRect/>
          </a:stretch>
        </p:blipFill>
        <p:spPr>
          <a:xfrm>
            <a:off x="1384300" y="2984500"/>
            <a:ext cx="241300" cy="241300"/>
          </a:xfrm>
          <a:prstGeom prst="rect">
            <a:avLst/>
          </a:prstGeom>
        </p:spPr>
      </p:pic>
      <p:pic>
        <p:nvPicPr>
          <p:cNvPr id="20" name="Picture 20"/>
          <p:cNvPicPr>
            <a:picLocks noChangeAspect="1"/>
          </p:cNvPicPr>
          <p:nvPr/>
        </p:nvPicPr>
        <p:blipFill>
          <a:blip r:embed="rId5"/>
          <a:srcRect t="7000" b="7000"/>
          <a:stretch>
            <a:fillRect/>
          </a:stretch>
        </p:blipFill>
        <p:spPr>
          <a:xfrm>
            <a:off x="6273800" y="2984500"/>
            <a:ext cx="279400" cy="241300"/>
          </a:xfrm>
          <a:prstGeom prst="rect">
            <a:avLst/>
          </a:prstGeom>
        </p:spPr>
      </p:pic>
      <p:pic>
        <p:nvPicPr>
          <p:cNvPr id="21" name="Picture 21"/>
          <p:cNvPicPr>
            <a:picLocks noChangeAspect="1"/>
          </p:cNvPicPr>
          <p:nvPr/>
        </p:nvPicPr>
        <p:blipFill>
          <a:blip r:embed="rId6"/>
          <a:srcRect t="11000" b="11000"/>
          <a:stretch>
            <a:fillRect/>
          </a:stretch>
        </p:blipFill>
        <p:spPr>
          <a:xfrm>
            <a:off x="11176000" y="2984500"/>
            <a:ext cx="304800" cy="2413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p:cNvPicPr>
            <a:picLocks noChangeAspect="1"/>
          </p:cNvPicPr>
          <p:nvPr/>
        </p:nvPicPr>
        <p:blipFill>
          <a:blip r:embed="rId2"/>
          <a:srcRect/>
          <a:stretch>
            <a:fillRect/>
          </a:stretch>
        </p:blipFill>
        <p:spPr>
          <a:xfrm>
            <a:off x="0" y="0"/>
            <a:ext cx="16256000" cy="9144000"/>
          </a:xfrm>
          <a:prstGeom prst="rect">
            <a:avLst/>
          </a:prstGeom>
        </p:spPr>
      </p:pic>
      <p:sp>
        <p:nvSpPr>
          <p:cNvPr id="4" name="AutoShape 4"/>
          <p:cNvSpPr/>
          <p:nvPr/>
        </p:nvSpPr>
        <p:spPr>
          <a:xfrm>
            <a:off x="876300" y="2819400"/>
            <a:ext cx="14490700" cy="4368800"/>
          </a:xfrm>
          <a:prstGeom prst="rect">
            <a:avLst/>
          </a:prstGeom>
          <a:solidFill>
            <a:srgbClr val="000000">
              <a:alpha val="0"/>
            </a:srgbClr>
          </a:solidFill>
        </p:spPr>
        <p:txBody>
          <a:bodyPr/>
          <a:lstStyle/>
          <a:p>
            <a:endParaRPr lang="en-US"/>
          </a:p>
        </p:txBody>
      </p:sp>
      <p:sp>
        <p:nvSpPr>
          <p:cNvPr id="5" name="AutoShape 5"/>
          <p:cNvSpPr/>
          <p:nvPr/>
        </p:nvSpPr>
        <p:spPr>
          <a:xfrm>
            <a:off x="876300" y="3568700"/>
            <a:ext cx="4699000" cy="3619500"/>
          </a:xfrm>
          <a:prstGeom prst="rect">
            <a:avLst/>
          </a:prstGeom>
          <a:solidFill>
            <a:srgbClr val="000000">
              <a:alpha val="0"/>
            </a:srgbClr>
          </a:solidFill>
        </p:spPr>
        <p:txBody>
          <a:bodyPr/>
          <a:lstStyle/>
          <a:p>
            <a:endParaRPr lang="en-US"/>
          </a:p>
        </p:txBody>
      </p:sp>
      <p:sp>
        <p:nvSpPr>
          <p:cNvPr id="6" name="AutoShape 6"/>
          <p:cNvSpPr/>
          <p:nvPr/>
        </p:nvSpPr>
        <p:spPr>
          <a:xfrm>
            <a:off x="876300" y="3568700"/>
            <a:ext cx="4699000" cy="3619500"/>
          </a:xfrm>
          <a:prstGeom prst="roundRect">
            <a:avLst>
              <a:gd name="adj" fmla="val 2105"/>
            </a:avLst>
          </a:prstGeom>
          <a:solidFill>
            <a:srgbClr val="000000">
              <a:alpha val="0"/>
            </a:srgbClr>
          </a:solidFill>
        </p:spPr>
        <p:txBody>
          <a:bodyPr/>
          <a:lstStyle/>
          <a:p>
            <a:endParaRPr lang="en-US"/>
          </a:p>
        </p:txBody>
      </p:sp>
      <p:sp>
        <p:nvSpPr>
          <p:cNvPr id="7" name="AutoShape 7"/>
          <p:cNvSpPr/>
          <p:nvPr/>
        </p:nvSpPr>
        <p:spPr>
          <a:xfrm>
            <a:off x="876300" y="3568700"/>
            <a:ext cx="4699000" cy="241300"/>
          </a:xfrm>
          <a:prstGeom prst="roundRect">
            <a:avLst>
              <a:gd name="adj" fmla="val 47368"/>
            </a:avLst>
          </a:prstGeom>
          <a:solidFill>
            <a:srgbClr val="D0E3F0"/>
          </a:solidFill>
        </p:spPr>
        <p:txBody>
          <a:bodyPr/>
          <a:lstStyle/>
          <a:p>
            <a:endParaRPr lang="en-US"/>
          </a:p>
        </p:txBody>
      </p:sp>
      <p:sp>
        <p:nvSpPr>
          <p:cNvPr id="8" name="AutoShape 8"/>
          <p:cNvSpPr/>
          <p:nvPr/>
        </p:nvSpPr>
        <p:spPr>
          <a:xfrm>
            <a:off x="5765800" y="3187700"/>
            <a:ext cx="4699000" cy="4000500"/>
          </a:xfrm>
          <a:prstGeom prst="rect">
            <a:avLst/>
          </a:prstGeom>
          <a:solidFill>
            <a:srgbClr val="000000">
              <a:alpha val="0"/>
            </a:srgbClr>
          </a:solidFill>
        </p:spPr>
        <p:txBody>
          <a:bodyPr/>
          <a:lstStyle/>
          <a:p>
            <a:endParaRPr lang="en-US"/>
          </a:p>
        </p:txBody>
      </p:sp>
      <p:sp>
        <p:nvSpPr>
          <p:cNvPr id="9" name="AutoShape 9"/>
          <p:cNvSpPr/>
          <p:nvPr/>
        </p:nvSpPr>
        <p:spPr>
          <a:xfrm>
            <a:off x="5765800" y="3187700"/>
            <a:ext cx="4699000" cy="4000500"/>
          </a:xfrm>
          <a:prstGeom prst="roundRect">
            <a:avLst>
              <a:gd name="adj" fmla="val 1904"/>
            </a:avLst>
          </a:prstGeom>
          <a:solidFill>
            <a:srgbClr val="000000">
              <a:alpha val="0"/>
            </a:srgbClr>
          </a:solidFill>
        </p:spPr>
        <p:txBody>
          <a:bodyPr/>
          <a:lstStyle/>
          <a:p>
            <a:endParaRPr lang="en-US"/>
          </a:p>
        </p:txBody>
      </p:sp>
      <p:sp>
        <p:nvSpPr>
          <p:cNvPr id="10" name="AutoShape 10"/>
          <p:cNvSpPr/>
          <p:nvPr/>
        </p:nvSpPr>
        <p:spPr>
          <a:xfrm>
            <a:off x="5765800" y="3187700"/>
            <a:ext cx="4699000" cy="241300"/>
          </a:xfrm>
          <a:prstGeom prst="roundRect">
            <a:avLst>
              <a:gd name="adj" fmla="val 47368"/>
            </a:avLst>
          </a:prstGeom>
          <a:solidFill>
            <a:srgbClr val="D0E3F0"/>
          </a:solidFill>
        </p:spPr>
        <p:txBody>
          <a:bodyPr/>
          <a:lstStyle/>
          <a:p>
            <a:endParaRPr lang="en-US"/>
          </a:p>
        </p:txBody>
      </p:sp>
      <p:sp>
        <p:nvSpPr>
          <p:cNvPr id="11" name="AutoShape 11"/>
          <p:cNvSpPr/>
          <p:nvPr/>
        </p:nvSpPr>
        <p:spPr>
          <a:xfrm>
            <a:off x="10668000" y="2819400"/>
            <a:ext cx="4699000" cy="4368800"/>
          </a:xfrm>
          <a:prstGeom prst="rect">
            <a:avLst/>
          </a:prstGeom>
          <a:solidFill>
            <a:srgbClr val="000000">
              <a:alpha val="0"/>
            </a:srgbClr>
          </a:solidFill>
        </p:spPr>
        <p:txBody>
          <a:bodyPr/>
          <a:lstStyle/>
          <a:p>
            <a:endParaRPr lang="en-US"/>
          </a:p>
        </p:txBody>
      </p:sp>
      <p:sp>
        <p:nvSpPr>
          <p:cNvPr id="12" name="AutoShape 12"/>
          <p:cNvSpPr/>
          <p:nvPr/>
        </p:nvSpPr>
        <p:spPr>
          <a:xfrm>
            <a:off x="10668000" y="2819400"/>
            <a:ext cx="4699000" cy="4368800"/>
          </a:xfrm>
          <a:prstGeom prst="roundRect">
            <a:avLst>
              <a:gd name="adj" fmla="val 1744"/>
            </a:avLst>
          </a:prstGeom>
          <a:solidFill>
            <a:srgbClr val="000000">
              <a:alpha val="0"/>
            </a:srgbClr>
          </a:solidFill>
        </p:spPr>
        <p:txBody>
          <a:bodyPr/>
          <a:lstStyle/>
          <a:p>
            <a:endParaRPr lang="en-US"/>
          </a:p>
        </p:txBody>
      </p:sp>
      <p:sp>
        <p:nvSpPr>
          <p:cNvPr id="13" name="AutoShape 13"/>
          <p:cNvSpPr/>
          <p:nvPr/>
        </p:nvSpPr>
        <p:spPr>
          <a:xfrm>
            <a:off x="10668000" y="2819400"/>
            <a:ext cx="4699000" cy="241300"/>
          </a:xfrm>
          <a:prstGeom prst="roundRect">
            <a:avLst>
              <a:gd name="adj" fmla="val 47368"/>
            </a:avLst>
          </a:prstGeom>
          <a:solidFill>
            <a:srgbClr val="D0E3F0"/>
          </a:solidFill>
        </p:spPr>
        <p:txBody>
          <a:bodyPr/>
          <a:lstStyle/>
          <a:p>
            <a:endParaRPr lang="en-US"/>
          </a:p>
        </p:txBody>
      </p:sp>
      <p:sp>
        <p:nvSpPr>
          <p:cNvPr id="14" name="TextBox 14"/>
          <p:cNvSpPr txBox="1"/>
          <p:nvPr/>
        </p:nvSpPr>
        <p:spPr>
          <a:xfrm>
            <a:off x="279400" y="190500"/>
            <a:ext cx="14490700" cy="584200"/>
          </a:xfrm>
          <a:prstGeom prst="rect">
            <a:avLst/>
          </a:prstGeom>
          <a:solidFill>
            <a:srgbClr val="000000">
              <a:alpha val="0"/>
            </a:srgbClr>
          </a:solidFill>
        </p:spPr>
        <p:txBody>
          <a:bodyPr lIns="0" tIns="0" rIns="0" bIns="0" rtlCol="0" anchor="ctr"/>
          <a:lstStyle/>
          <a:p>
            <a:pPr indent="0" algn="l">
              <a:lnSpc>
                <a:spcPct val="119999"/>
              </a:lnSpc>
              <a:defRPr/>
            </a:pPr>
            <a:r>
              <a:rPr lang="en-US" sz="3900" b="1" dirty="0">
                <a:solidFill>
                  <a:srgbClr val="1A4378"/>
                </a:solidFill>
                <a:latin typeface="Poppins"/>
              </a:rPr>
              <a:t>Research Objectives</a:t>
            </a:r>
            <a:endParaRPr lang="en-US" sz="1100" dirty="0"/>
          </a:p>
        </p:txBody>
      </p:sp>
      <p:sp>
        <p:nvSpPr>
          <p:cNvPr id="15" name="TextBox 15"/>
          <p:cNvSpPr txBox="1"/>
          <p:nvPr/>
        </p:nvSpPr>
        <p:spPr>
          <a:xfrm>
            <a:off x="1130300" y="4076700"/>
            <a:ext cx="4191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Main Aim</a:t>
            </a:r>
            <a:endParaRPr lang="en-US" sz="1100"/>
          </a:p>
        </p:txBody>
      </p:sp>
      <p:sp>
        <p:nvSpPr>
          <p:cNvPr id="16" name="TextBox 16"/>
          <p:cNvSpPr txBox="1"/>
          <p:nvPr/>
        </p:nvSpPr>
        <p:spPr>
          <a:xfrm>
            <a:off x="6019800" y="3695700"/>
            <a:ext cx="4191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Key Focus</a:t>
            </a:r>
            <a:endParaRPr lang="en-US" sz="1100"/>
          </a:p>
        </p:txBody>
      </p:sp>
      <p:sp>
        <p:nvSpPr>
          <p:cNvPr id="17" name="TextBox 17"/>
          <p:cNvSpPr txBox="1"/>
          <p:nvPr/>
        </p:nvSpPr>
        <p:spPr>
          <a:xfrm>
            <a:off x="10909300" y="3314700"/>
            <a:ext cx="4191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Validation</a:t>
            </a:r>
            <a:endParaRPr lang="en-US" sz="1100"/>
          </a:p>
        </p:txBody>
      </p:sp>
      <p:sp>
        <p:nvSpPr>
          <p:cNvPr id="18" name="TextBox 18"/>
          <p:cNvSpPr txBox="1"/>
          <p:nvPr/>
        </p:nvSpPr>
        <p:spPr>
          <a:xfrm>
            <a:off x="1130300" y="4699000"/>
            <a:ext cx="4191000" cy="22352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Develop scalable optimization model for joint determination of assortment, pricing, and inventory decisions under deterministic customer choice model.</a:t>
            </a:r>
            <a:endParaRPr lang="en-US" sz="1100"/>
          </a:p>
        </p:txBody>
      </p:sp>
      <p:sp>
        <p:nvSpPr>
          <p:cNvPr id="19" name="TextBox 19"/>
          <p:cNvSpPr txBox="1"/>
          <p:nvPr/>
        </p:nvSpPr>
        <p:spPr>
          <a:xfrm>
            <a:off x="6019800" y="4318000"/>
            <a:ext cx="4191000" cy="14859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Transform nonlinear model to computationally efficient linear MIP enabling real-world scalability.</a:t>
            </a:r>
            <a:endParaRPr lang="en-US" sz="1100"/>
          </a:p>
        </p:txBody>
      </p:sp>
      <p:sp>
        <p:nvSpPr>
          <p:cNvPr id="20" name="TextBox 20"/>
          <p:cNvSpPr txBox="1"/>
          <p:nvPr/>
        </p:nvSpPr>
        <p:spPr>
          <a:xfrm>
            <a:off x="10909300" y="3949700"/>
            <a:ext cx="4191000" cy="14859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Test with real consumer data, evaluate profit losses from myopic policies, generate interaction insights.</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p:cNvPicPr>
            <a:picLocks noChangeAspect="1"/>
          </p:cNvPicPr>
          <p:nvPr/>
        </p:nvPicPr>
        <p:blipFill>
          <a:blip r:embed="rId3"/>
          <a:srcRect/>
          <a:stretch>
            <a:fillRect/>
          </a:stretch>
        </p:blipFill>
        <p:spPr>
          <a:xfrm>
            <a:off x="0" y="-176306"/>
            <a:ext cx="16256000" cy="9144000"/>
          </a:xfrm>
          <a:prstGeom prst="rect">
            <a:avLst/>
          </a:prstGeom>
        </p:spPr>
      </p:pic>
      <p:sp>
        <p:nvSpPr>
          <p:cNvPr id="11" name="TextBox 11"/>
          <p:cNvSpPr txBox="1"/>
          <p:nvPr/>
        </p:nvSpPr>
        <p:spPr>
          <a:xfrm>
            <a:off x="355600" y="-1121"/>
            <a:ext cx="14490700" cy="584200"/>
          </a:xfrm>
          <a:prstGeom prst="rect">
            <a:avLst/>
          </a:prstGeom>
          <a:solidFill>
            <a:srgbClr val="000000">
              <a:alpha val="0"/>
            </a:srgbClr>
          </a:solidFill>
        </p:spPr>
        <p:txBody>
          <a:bodyPr lIns="0" tIns="0" rIns="0" bIns="0" rtlCol="0" anchor="ctr"/>
          <a:lstStyle/>
          <a:p>
            <a:pPr>
              <a:lnSpc>
                <a:spcPct val="119999"/>
              </a:lnSpc>
              <a:defRPr/>
            </a:pPr>
            <a:r>
              <a:rPr lang="en-US" sz="3900" b="1" dirty="0">
                <a:solidFill>
                  <a:srgbClr val="1A4378"/>
                </a:solidFill>
                <a:latin typeface="Poppins"/>
              </a:rPr>
              <a:t>Research Questions</a:t>
            </a:r>
            <a:endParaRPr lang="en-US" sz="1100" dirty="0"/>
          </a:p>
        </p:txBody>
      </p:sp>
      <p:grpSp>
        <p:nvGrpSpPr>
          <p:cNvPr id="6" name="Group 5">
            <a:extLst>
              <a:ext uri="{FF2B5EF4-FFF2-40B4-BE49-F238E27FC236}">
                <a16:creationId xmlns:a16="http://schemas.microsoft.com/office/drawing/2014/main" id="{8753F7E1-333F-C465-5148-52CE718810B1}"/>
              </a:ext>
            </a:extLst>
          </p:cNvPr>
          <p:cNvGrpSpPr/>
          <p:nvPr/>
        </p:nvGrpSpPr>
        <p:grpSpPr>
          <a:xfrm>
            <a:off x="508000" y="1219200"/>
            <a:ext cx="15037920" cy="5478182"/>
            <a:chOff x="862479" y="2336800"/>
            <a:chExt cx="15037920" cy="5478182"/>
          </a:xfrm>
        </p:grpSpPr>
        <p:sp>
          <p:nvSpPr>
            <p:cNvPr id="4" name="AutoShape 4"/>
            <p:cNvSpPr/>
            <p:nvPr/>
          </p:nvSpPr>
          <p:spPr>
            <a:xfrm>
              <a:off x="862479" y="2336800"/>
              <a:ext cx="14490700" cy="4749800"/>
            </a:xfrm>
            <a:prstGeom prst="rect">
              <a:avLst/>
            </a:prstGeom>
            <a:solidFill>
              <a:srgbClr val="000000">
                <a:alpha val="0"/>
              </a:srgbClr>
            </a:solidFill>
          </p:spPr>
          <p:txBody>
            <a:bodyPr/>
            <a:lstStyle/>
            <a:p>
              <a:endParaRPr lang="en-US"/>
            </a:p>
          </p:txBody>
        </p:sp>
        <p:sp>
          <p:nvSpPr>
            <p:cNvPr id="5" name="AutoShape 5"/>
            <p:cNvSpPr/>
            <p:nvPr/>
          </p:nvSpPr>
          <p:spPr>
            <a:xfrm>
              <a:off x="876300" y="2628900"/>
              <a:ext cx="14476878" cy="1638300"/>
            </a:xfrm>
            <a:prstGeom prst="roundRect">
              <a:avLst>
                <a:gd name="adj" fmla="val 2452"/>
              </a:avLst>
            </a:prstGeom>
            <a:solidFill>
              <a:srgbClr val="D0E3F0"/>
            </a:solidFill>
          </p:spPr>
          <p:txBody>
            <a:bodyPr/>
            <a:lstStyle/>
            <a:p>
              <a:endParaRPr lang="en-US"/>
            </a:p>
          </p:txBody>
        </p:sp>
        <p:sp>
          <p:nvSpPr>
            <p:cNvPr id="7" name="AutoShape 7"/>
            <p:cNvSpPr/>
            <p:nvPr/>
          </p:nvSpPr>
          <p:spPr>
            <a:xfrm>
              <a:off x="895350" y="4395694"/>
              <a:ext cx="14490700" cy="1485900"/>
            </a:xfrm>
            <a:prstGeom prst="roundRect">
              <a:avLst>
                <a:gd name="adj" fmla="val 2452"/>
              </a:avLst>
            </a:prstGeom>
            <a:solidFill>
              <a:srgbClr val="D0E3F0"/>
            </a:solidFill>
          </p:spPr>
          <p:txBody>
            <a:bodyPr/>
            <a:lstStyle/>
            <a:p>
              <a:endParaRPr lang="en-US" dirty="0"/>
            </a:p>
          </p:txBody>
        </p:sp>
        <p:sp>
          <p:nvSpPr>
            <p:cNvPr id="9" name="AutoShape 9"/>
            <p:cNvSpPr/>
            <p:nvPr/>
          </p:nvSpPr>
          <p:spPr>
            <a:xfrm>
              <a:off x="876299" y="6020921"/>
              <a:ext cx="14476879" cy="1638300"/>
            </a:xfrm>
            <a:prstGeom prst="roundRect">
              <a:avLst>
                <a:gd name="adj" fmla="val 2452"/>
              </a:avLst>
            </a:prstGeom>
            <a:solidFill>
              <a:srgbClr val="D0E3F0"/>
            </a:solidFill>
          </p:spPr>
          <p:txBody>
            <a:bodyPr/>
            <a:lstStyle/>
            <a:p>
              <a:endParaRPr lang="en-US" dirty="0"/>
            </a:p>
          </p:txBody>
        </p:sp>
        <p:sp>
          <p:nvSpPr>
            <p:cNvPr id="15" name="TextBox 15"/>
            <p:cNvSpPr txBox="1"/>
            <p:nvPr/>
          </p:nvSpPr>
          <p:spPr>
            <a:xfrm>
              <a:off x="1082647" y="2648217"/>
              <a:ext cx="13639800" cy="1347694"/>
            </a:xfrm>
            <a:prstGeom prst="rect">
              <a:avLst/>
            </a:prstGeom>
            <a:solidFill>
              <a:srgbClr val="000000">
                <a:alpha val="0"/>
              </a:srgbClr>
            </a:solidFill>
          </p:spPr>
          <p:txBody>
            <a:bodyPr lIns="0" tIns="0" rIns="0" bIns="0" rtlCol="0" anchor="ctr"/>
            <a:lstStyle/>
            <a:p>
              <a:pPr>
                <a:lnSpc>
                  <a:spcPct val="149999"/>
                </a:lnSpc>
                <a:defRPr/>
              </a:pPr>
              <a:r>
                <a:rPr lang="en-US" sz="2800" b="1" dirty="0">
                  <a:solidFill>
                    <a:srgbClr val="1A4378"/>
                  </a:solidFill>
                  <a:latin typeface="Poppins"/>
                </a:rPr>
                <a:t>1. How to optimally integrate pricing, assortment, and inventory decisions?</a:t>
              </a:r>
            </a:p>
          </p:txBody>
        </p:sp>
        <p:sp>
          <p:nvSpPr>
            <p:cNvPr id="16" name="TextBox 16"/>
            <p:cNvSpPr txBox="1"/>
            <p:nvPr/>
          </p:nvSpPr>
          <p:spPr>
            <a:xfrm>
              <a:off x="1117600" y="4120776"/>
              <a:ext cx="14135100" cy="1866900"/>
            </a:xfrm>
            <a:prstGeom prst="rect">
              <a:avLst/>
            </a:prstGeom>
            <a:solidFill>
              <a:srgbClr val="000000">
                <a:alpha val="0"/>
              </a:srgbClr>
            </a:solidFill>
          </p:spPr>
          <p:txBody>
            <a:bodyPr lIns="0" tIns="0" rIns="0" bIns="0" rtlCol="0" anchor="ctr"/>
            <a:lstStyle/>
            <a:p>
              <a:pPr>
                <a:lnSpc>
                  <a:spcPct val="149999"/>
                </a:lnSpc>
                <a:defRPr/>
              </a:pPr>
              <a:r>
                <a:rPr lang="en-US" sz="2800" b="1" dirty="0">
                  <a:solidFill>
                    <a:srgbClr val="1A4378"/>
                  </a:solidFill>
                  <a:latin typeface="Poppins"/>
                </a:rPr>
                <a:t>2. How</a:t>
              </a:r>
              <a:r>
                <a:rPr lang="en-US" sz="2800" dirty="0"/>
                <a:t> </a:t>
              </a:r>
              <a:r>
                <a:rPr lang="en-US" sz="2800" b="1" dirty="0">
                  <a:solidFill>
                    <a:srgbClr val="1A4378"/>
                  </a:solidFill>
                  <a:latin typeface="Poppins"/>
                </a:rPr>
                <a:t>do customer segments impact these decisions?</a:t>
              </a:r>
            </a:p>
          </p:txBody>
        </p:sp>
        <p:sp>
          <p:nvSpPr>
            <p:cNvPr id="17" name="TextBox 17"/>
            <p:cNvSpPr txBox="1"/>
            <p:nvPr/>
          </p:nvSpPr>
          <p:spPr>
            <a:xfrm>
              <a:off x="1100790" y="5650005"/>
              <a:ext cx="14799609" cy="2164977"/>
            </a:xfrm>
            <a:prstGeom prst="rect">
              <a:avLst/>
            </a:prstGeom>
            <a:solidFill>
              <a:srgbClr val="000000">
                <a:alpha val="0"/>
              </a:srgbClr>
            </a:solidFill>
          </p:spPr>
          <p:txBody>
            <a:bodyPr lIns="0" tIns="0" rIns="0" bIns="0" rtlCol="0" anchor="ctr"/>
            <a:lstStyle/>
            <a:p>
              <a:pPr>
                <a:lnSpc>
                  <a:spcPct val="149999"/>
                </a:lnSpc>
                <a:defRPr/>
              </a:pPr>
              <a:r>
                <a:rPr lang="en-US" sz="2800" b="1" dirty="0">
                  <a:solidFill>
                    <a:srgbClr val="1A4378"/>
                  </a:solidFill>
                  <a:latin typeface="Poppins"/>
                </a:rPr>
                <a:t>3. How to manage multiple selling periods dynamically?</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9AFA9-1AF4-B3D0-DE57-0A242413AC4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CA5B95B-8F93-D026-0810-2EDA03158B72}"/>
              </a:ext>
            </a:extLst>
          </p:cNvPr>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a:extLst>
              <a:ext uri="{FF2B5EF4-FFF2-40B4-BE49-F238E27FC236}">
                <a16:creationId xmlns:a16="http://schemas.microsoft.com/office/drawing/2014/main" id="{E8CEB199-E43B-D610-CB37-1589A9251AA7}"/>
              </a:ext>
            </a:extLst>
          </p:cNvPr>
          <p:cNvPicPr>
            <a:picLocks noChangeAspect="1"/>
          </p:cNvPicPr>
          <p:nvPr/>
        </p:nvPicPr>
        <p:blipFill>
          <a:blip r:embed="rId2"/>
          <a:srcRect/>
          <a:stretch>
            <a:fillRect/>
          </a:stretch>
        </p:blipFill>
        <p:spPr>
          <a:xfrm>
            <a:off x="0" y="0"/>
            <a:ext cx="16256000" cy="9144000"/>
          </a:xfrm>
          <a:prstGeom prst="rect">
            <a:avLst/>
          </a:prstGeom>
        </p:spPr>
      </p:pic>
      <p:sp>
        <p:nvSpPr>
          <p:cNvPr id="4" name="AutoShape 4">
            <a:extLst>
              <a:ext uri="{FF2B5EF4-FFF2-40B4-BE49-F238E27FC236}">
                <a16:creationId xmlns:a16="http://schemas.microsoft.com/office/drawing/2014/main" id="{19828791-1B05-CEC3-CF1B-03D93CC480A2}"/>
              </a:ext>
            </a:extLst>
          </p:cNvPr>
          <p:cNvSpPr/>
          <p:nvPr/>
        </p:nvSpPr>
        <p:spPr>
          <a:xfrm>
            <a:off x="876300" y="2819400"/>
            <a:ext cx="14490700" cy="4368800"/>
          </a:xfrm>
          <a:prstGeom prst="rect">
            <a:avLst/>
          </a:prstGeom>
          <a:solidFill>
            <a:srgbClr val="000000">
              <a:alpha val="0"/>
            </a:srgbClr>
          </a:solidFill>
        </p:spPr>
        <p:txBody>
          <a:bodyPr/>
          <a:lstStyle/>
          <a:p>
            <a:endParaRPr lang="en-US"/>
          </a:p>
        </p:txBody>
      </p:sp>
      <p:sp>
        <p:nvSpPr>
          <p:cNvPr id="5" name="AutoShape 5">
            <a:extLst>
              <a:ext uri="{FF2B5EF4-FFF2-40B4-BE49-F238E27FC236}">
                <a16:creationId xmlns:a16="http://schemas.microsoft.com/office/drawing/2014/main" id="{E3103F60-40D8-EE26-3D0C-595893DE5BC4}"/>
              </a:ext>
            </a:extLst>
          </p:cNvPr>
          <p:cNvSpPr/>
          <p:nvPr/>
        </p:nvSpPr>
        <p:spPr>
          <a:xfrm>
            <a:off x="876300" y="3568700"/>
            <a:ext cx="4699000" cy="3619500"/>
          </a:xfrm>
          <a:prstGeom prst="rect">
            <a:avLst/>
          </a:prstGeom>
          <a:solidFill>
            <a:srgbClr val="000000">
              <a:alpha val="0"/>
            </a:srgbClr>
          </a:solidFill>
        </p:spPr>
        <p:txBody>
          <a:bodyPr/>
          <a:lstStyle/>
          <a:p>
            <a:endParaRPr lang="en-US"/>
          </a:p>
        </p:txBody>
      </p:sp>
      <p:sp>
        <p:nvSpPr>
          <p:cNvPr id="6" name="AutoShape 6">
            <a:extLst>
              <a:ext uri="{FF2B5EF4-FFF2-40B4-BE49-F238E27FC236}">
                <a16:creationId xmlns:a16="http://schemas.microsoft.com/office/drawing/2014/main" id="{76E64E57-6C8A-FECE-16CD-FC406BC127CD}"/>
              </a:ext>
            </a:extLst>
          </p:cNvPr>
          <p:cNvSpPr/>
          <p:nvPr/>
        </p:nvSpPr>
        <p:spPr>
          <a:xfrm>
            <a:off x="876300" y="3568700"/>
            <a:ext cx="4699000" cy="3619500"/>
          </a:xfrm>
          <a:prstGeom prst="roundRect">
            <a:avLst>
              <a:gd name="adj" fmla="val 2105"/>
            </a:avLst>
          </a:prstGeom>
          <a:solidFill>
            <a:srgbClr val="000000">
              <a:alpha val="0"/>
            </a:srgbClr>
          </a:solidFill>
        </p:spPr>
        <p:txBody>
          <a:bodyPr/>
          <a:lstStyle/>
          <a:p>
            <a:endParaRPr lang="en-US"/>
          </a:p>
        </p:txBody>
      </p:sp>
      <p:sp>
        <p:nvSpPr>
          <p:cNvPr id="8" name="AutoShape 8">
            <a:extLst>
              <a:ext uri="{FF2B5EF4-FFF2-40B4-BE49-F238E27FC236}">
                <a16:creationId xmlns:a16="http://schemas.microsoft.com/office/drawing/2014/main" id="{606D6C66-AF7B-F98A-D4DD-F5E7E4D777C0}"/>
              </a:ext>
            </a:extLst>
          </p:cNvPr>
          <p:cNvSpPr/>
          <p:nvPr/>
        </p:nvSpPr>
        <p:spPr>
          <a:xfrm>
            <a:off x="5765800" y="3187700"/>
            <a:ext cx="4699000" cy="4000500"/>
          </a:xfrm>
          <a:prstGeom prst="rect">
            <a:avLst/>
          </a:prstGeom>
          <a:solidFill>
            <a:srgbClr val="000000">
              <a:alpha val="0"/>
            </a:srgbClr>
          </a:solidFill>
        </p:spPr>
        <p:txBody>
          <a:bodyPr/>
          <a:lstStyle/>
          <a:p>
            <a:endParaRPr lang="en-US"/>
          </a:p>
        </p:txBody>
      </p:sp>
      <p:sp>
        <p:nvSpPr>
          <p:cNvPr id="11" name="AutoShape 11">
            <a:extLst>
              <a:ext uri="{FF2B5EF4-FFF2-40B4-BE49-F238E27FC236}">
                <a16:creationId xmlns:a16="http://schemas.microsoft.com/office/drawing/2014/main" id="{CFCF46C5-2DF9-AB38-787F-47FEF871CD1D}"/>
              </a:ext>
            </a:extLst>
          </p:cNvPr>
          <p:cNvSpPr/>
          <p:nvPr/>
        </p:nvSpPr>
        <p:spPr>
          <a:xfrm>
            <a:off x="10668000" y="2819400"/>
            <a:ext cx="4699000" cy="4368800"/>
          </a:xfrm>
          <a:prstGeom prst="rect">
            <a:avLst/>
          </a:prstGeom>
          <a:solidFill>
            <a:srgbClr val="000000">
              <a:alpha val="0"/>
            </a:srgbClr>
          </a:solidFill>
        </p:spPr>
        <p:txBody>
          <a:bodyPr/>
          <a:lstStyle/>
          <a:p>
            <a:endParaRPr lang="en-US"/>
          </a:p>
        </p:txBody>
      </p:sp>
      <p:sp>
        <p:nvSpPr>
          <p:cNvPr id="12" name="AutoShape 12">
            <a:extLst>
              <a:ext uri="{FF2B5EF4-FFF2-40B4-BE49-F238E27FC236}">
                <a16:creationId xmlns:a16="http://schemas.microsoft.com/office/drawing/2014/main" id="{47652EA3-5656-BB74-4583-96A68A460F31}"/>
              </a:ext>
            </a:extLst>
          </p:cNvPr>
          <p:cNvSpPr/>
          <p:nvPr/>
        </p:nvSpPr>
        <p:spPr>
          <a:xfrm>
            <a:off x="10668000" y="2819400"/>
            <a:ext cx="4699000" cy="4368800"/>
          </a:xfrm>
          <a:prstGeom prst="roundRect">
            <a:avLst>
              <a:gd name="adj" fmla="val 1744"/>
            </a:avLst>
          </a:prstGeom>
          <a:solidFill>
            <a:srgbClr val="000000">
              <a:alpha val="0"/>
            </a:srgbClr>
          </a:solidFill>
        </p:spPr>
        <p:txBody>
          <a:bodyPr/>
          <a:lstStyle/>
          <a:p>
            <a:endParaRPr lang="en-US"/>
          </a:p>
        </p:txBody>
      </p:sp>
      <p:sp>
        <p:nvSpPr>
          <p:cNvPr id="14" name="TextBox 14">
            <a:extLst>
              <a:ext uri="{FF2B5EF4-FFF2-40B4-BE49-F238E27FC236}">
                <a16:creationId xmlns:a16="http://schemas.microsoft.com/office/drawing/2014/main" id="{AFA0348A-BE87-CBF9-49E6-4D2AFB2D5927}"/>
              </a:ext>
            </a:extLst>
          </p:cNvPr>
          <p:cNvSpPr txBox="1"/>
          <p:nvPr/>
        </p:nvSpPr>
        <p:spPr>
          <a:xfrm>
            <a:off x="279400" y="190500"/>
            <a:ext cx="14490700" cy="584200"/>
          </a:xfrm>
          <a:prstGeom prst="rect">
            <a:avLst/>
          </a:prstGeom>
          <a:solidFill>
            <a:srgbClr val="000000">
              <a:alpha val="0"/>
            </a:srgbClr>
          </a:solidFill>
        </p:spPr>
        <p:txBody>
          <a:bodyPr lIns="0" tIns="0" rIns="0" bIns="0" rtlCol="0" anchor="ctr"/>
          <a:lstStyle/>
          <a:p>
            <a:pPr indent="0" algn="l">
              <a:lnSpc>
                <a:spcPct val="119999"/>
              </a:lnSpc>
              <a:defRPr/>
            </a:pPr>
            <a:r>
              <a:rPr lang="en-US" sz="3900" b="1" dirty="0">
                <a:solidFill>
                  <a:srgbClr val="1A4378"/>
                </a:solidFill>
                <a:latin typeface="Poppins"/>
              </a:rPr>
              <a:t>Table of Contents</a:t>
            </a:r>
            <a:endParaRPr lang="en-US" sz="1100" dirty="0"/>
          </a:p>
        </p:txBody>
      </p:sp>
      <p:sp>
        <p:nvSpPr>
          <p:cNvPr id="15" name="TextBox 15">
            <a:extLst>
              <a:ext uri="{FF2B5EF4-FFF2-40B4-BE49-F238E27FC236}">
                <a16:creationId xmlns:a16="http://schemas.microsoft.com/office/drawing/2014/main" id="{4AE22A18-CF24-7E36-E9E3-14B9AF9FA3CB}"/>
              </a:ext>
            </a:extLst>
          </p:cNvPr>
          <p:cNvSpPr txBox="1"/>
          <p:nvPr/>
        </p:nvSpPr>
        <p:spPr>
          <a:xfrm>
            <a:off x="283029" y="1246414"/>
            <a:ext cx="9661072" cy="5117193"/>
          </a:xfrm>
          <a:prstGeom prst="rect">
            <a:avLst/>
          </a:prstGeom>
          <a:solidFill>
            <a:srgbClr val="000000">
              <a:alpha val="0"/>
            </a:srgbClr>
          </a:solidFill>
        </p:spPr>
        <p:txBody>
          <a:bodyPr lIns="0" tIns="0" rIns="0" bIns="0" rtlCol="0" anchor="ctr"/>
          <a:lstStyle/>
          <a:p>
            <a:pPr indent="0" algn="l">
              <a:lnSpc>
                <a:spcPct val="300000"/>
              </a:lnSpc>
              <a:defRPr/>
            </a:pPr>
            <a:r>
              <a:rPr lang="en-US" sz="2900" dirty="0">
                <a:solidFill>
                  <a:srgbClr val="1A4378"/>
                </a:solidFill>
                <a:latin typeface="Poppins"/>
              </a:rPr>
              <a:t>Background</a:t>
            </a:r>
          </a:p>
          <a:p>
            <a:pPr>
              <a:lnSpc>
                <a:spcPct val="300000"/>
              </a:lnSpc>
              <a:defRPr/>
            </a:pPr>
            <a:r>
              <a:rPr lang="en-US" sz="2900" b="1" dirty="0">
                <a:solidFill>
                  <a:srgbClr val="1A4378"/>
                </a:solidFill>
                <a:latin typeface="Poppins"/>
              </a:rPr>
              <a:t>Methodology</a:t>
            </a:r>
          </a:p>
          <a:p>
            <a:pPr>
              <a:lnSpc>
                <a:spcPct val="300000"/>
              </a:lnSpc>
              <a:defRPr/>
            </a:pPr>
            <a:r>
              <a:rPr lang="en-US" sz="2900" dirty="0">
                <a:solidFill>
                  <a:srgbClr val="1A4378"/>
                </a:solidFill>
                <a:latin typeface="Poppins"/>
              </a:rPr>
              <a:t>Results &amp; Discussion</a:t>
            </a:r>
          </a:p>
          <a:p>
            <a:pPr>
              <a:lnSpc>
                <a:spcPct val="300000"/>
              </a:lnSpc>
              <a:defRPr/>
            </a:pPr>
            <a:r>
              <a:rPr lang="en-US" sz="2900" dirty="0">
                <a:solidFill>
                  <a:srgbClr val="1A4378"/>
                </a:solidFill>
                <a:latin typeface="Poppins"/>
              </a:rPr>
              <a:t>Research Summary &amp; Contribution</a:t>
            </a:r>
          </a:p>
          <a:p>
            <a:pPr indent="0" algn="l">
              <a:lnSpc>
                <a:spcPct val="120000"/>
              </a:lnSpc>
              <a:defRPr/>
            </a:pPr>
            <a:endParaRPr lang="en-US" sz="1100" dirty="0"/>
          </a:p>
        </p:txBody>
      </p:sp>
    </p:spTree>
    <p:extLst>
      <p:ext uri="{BB962C8B-B14F-4D97-AF65-F5344CB8AC3E}">
        <p14:creationId xmlns:p14="http://schemas.microsoft.com/office/powerpoint/2010/main" val="504364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EE1B6-7F3A-348A-9629-B4E7ADEE3BA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CCB1966-EA00-1B59-CF3C-294854F11D42}"/>
              </a:ext>
            </a:extLst>
          </p:cNvPr>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a:extLst>
              <a:ext uri="{FF2B5EF4-FFF2-40B4-BE49-F238E27FC236}">
                <a16:creationId xmlns:a16="http://schemas.microsoft.com/office/drawing/2014/main" id="{F93FC288-006F-B53A-821E-70F58088EB1C}"/>
              </a:ext>
            </a:extLst>
          </p:cNvPr>
          <p:cNvPicPr>
            <a:picLocks noChangeAspect="1"/>
          </p:cNvPicPr>
          <p:nvPr/>
        </p:nvPicPr>
        <p:blipFill>
          <a:blip r:embed="rId3"/>
          <a:srcRect/>
          <a:stretch>
            <a:fillRect/>
          </a:stretch>
        </p:blipFill>
        <p:spPr>
          <a:xfrm>
            <a:off x="0" y="0"/>
            <a:ext cx="16256000" cy="9144000"/>
          </a:xfrm>
          <a:prstGeom prst="rect">
            <a:avLst/>
          </a:prstGeom>
        </p:spPr>
      </p:pic>
      <p:sp>
        <p:nvSpPr>
          <p:cNvPr id="4" name="AutoShape 4">
            <a:extLst>
              <a:ext uri="{FF2B5EF4-FFF2-40B4-BE49-F238E27FC236}">
                <a16:creationId xmlns:a16="http://schemas.microsoft.com/office/drawing/2014/main" id="{62D19D9F-5E3E-8D8A-020E-05128A8A01FD}"/>
              </a:ext>
            </a:extLst>
          </p:cNvPr>
          <p:cNvSpPr/>
          <p:nvPr/>
        </p:nvSpPr>
        <p:spPr>
          <a:xfrm>
            <a:off x="876300" y="2628900"/>
            <a:ext cx="14490700" cy="4749800"/>
          </a:xfrm>
          <a:prstGeom prst="rect">
            <a:avLst/>
          </a:prstGeom>
          <a:solidFill>
            <a:srgbClr val="000000">
              <a:alpha val="0"/>
            </a:srgbClr>
          </a:solidFill>
        </p:spPr>
        <p:txBody>
          <a:bodyPr/>
          <a:lstStyle/>
          <a:p>
            <a:endParaRPr lang="en-US"/>
          </a:p>
        </p:txBody>
      </p:sp>
      <p:sp>
        <p:nvSpPr>
          <p:cNvPr id="5" name="AutoShape 5">
            <a:extLst>
              <a:ext uri="{FF2B5EF4-FFF2-40B4-BE49-F238E27FC236}">
                <a16:creationId xmlns:a16="http://schemas.microsoft.com/office/drawing/2014/main" id="{C7EC1864-2A74-F018-26C7-DCDF95629106}"/>
              </a:ext>
            </a:extLst>
          </p:cNvPr>
          <p:cNvSpPr/>
          <p:nvPr/>
        </p:nvSpPr>
        <p:spPr>
          <a:xfrm>
            <a:off x="876300" y="2628900"/>
            <a:ext cx="4660900" cy="4749800"/>
          </a:xfrm>
          <a:prstGeom prst="roundRect">
            <a:avLst>
              <a:gd name="adj" fmla="val 2452"/>
            </a:avLst>
          </a:prstGeom>
          <a:solidFill>
            <a:srgbClr val="D0E3F0"/>
          </a:solidFill>
        </p:spPr>
        <p:txBody>
          <a:bodyPr/>
          <a:lstStyle/>
          <a:p>
            <a:endParaRPr lang="en-US"/>
          </a:p>
        </p:txBody>
      </p:sp>
      <p:sp>
        <p:nvSpPr>
          <p:cNvPr id="6" name="AutoShape 6">
            <a:extLst>
              <a:ext uri="{FF2B5EF4-FFF2-40B4-BE49-F238E27FC236}">
                <a16:creationId xmlns:a16="http://schemas.microsoft.com/office/drawing/2014/main" id="{B0C443BD-82FE-4F33-AC6E-14ED70A3E085}"/>
              </a:ext>
            </a:extLst>
          </p:cNvPr>
          <p:cNvSpPr/>
          <p:nvPr/>
        </p:nvSpPr>
        <p:spPr>
          <a:xfrm>
            <a:off x="1130300" y="2882900"/>
            <a:ext cx="749300" cy="749300"/>
          </a:xfrm>
          <a:prstGeom prst="roundRect">
            <a:avLst>
              <a:gd name="adj" fmla="val 49152"/>
            </a:avLst>
          </a:prstGeom>
          <a:solidFill>
            <a:srgbClr val="1A4378"/>
          </a:solidFill>
        </p:spPr>
        <p:txBody>
          <a:bodyPr/>
          <a:lstStyle/>
          <a:p>
            <a:endParaRPr lang="en-US"/>
          </a:p>
        </p:txBody>
      </p:sp>
      <p:sp>
        <p:nvSpPr>
          <p:cNvPr id="11" name="TextBox 11">
            <a:extLst>
              <a:ext uri="{FF2B5EF4-FFF2-40B4-BE49-F238E27FC236}">
                <a16:creationId xmlns:a16="http://schemas.microsoft.com/office/drawing/2014/main" id="{D3D59A9E-24F5-F30B-D81A-2D1557D420C0}"/>
              </a:ext>
            </a:extLst>
          </p:cNvPr>
          <p:cNvSpPr txBox="1"/>
          <p:nvPr/>
        </p:nvSpPr>
        <p:spPr>
          <a:xfrm>
            <a:off x="279400" y="279400"/>
            <a:ext cx="14490700" cy="584200"/>
          </a:xfrm>
          <a:prstGeom prst="rect">
            <a:avLst/>
          </a:prstGeom>
          <a:solidFill>
            <a:srgbClr val="000000">
              <a:alpha val="0"/>
            </a:srgbClr>
          </a:solidFill>
        </p:spPr>
        <p:txBody>
          <a:bodyPr lIns="0" tIns="0" rIns="0" bIns="0" rtlCol="0" anchor="ctr"/>
          <a:lstStyle/>
          <a:p>
            <a:pPr indent="0" algn="l">
              <a:lnSpc>
                <a:spcPct val="119999"/>
              </a:lnSpc>
              <a:defRPr/>
            </a:pPr>
            <a:r>
              <a:rPr lang="en-US" sz="3900" b="1" dirty="0">
                <a:solidFill>
                  <a:srgbClr val="1A4378"/>
                </a:solidFill>
                <a:latin typeface="Poppins"/>
              </a:rPr>
              <a:t>Methodology: From MINLP to Scalable MIP</a:t>
            </a:r>
            <a:endParaRPr lang="en-US" sz="1100" dirty="0"/>
          </a:p>
        </p:txBody>
      </p:sp>
      <p:sp>
        <p:nvSpPr>
          <p:cNvPr id="12" name="TextBox 12">
            <a:extLst>
              <a:ext uri="{FF2B5EF4-FFF2-40B4-BE49-F238E27FC236}">
                <a16:creationId xmlns:a16="http://schemas.microsoft.com/office/drawing/2014/main" id="{76AF69CA-F512-9597-5DB0-E16E517937BC}"/>
              </a:ext>
            </a:extLst>
          </p:cNvPr>
          <p:cNvSpPr txBox="1"/>
          <p:nvPr/>
        </p:nvSpPr>
        <p:spPr>
          <a:xfrm>
            <a:off x="1130300" y="3886200"/>
            <a:ext cx="41529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dirty="0">
                <a:solidFill>
                  <a:srgbClr val="1A4378"/>
                </a:solidFill>
                <a:latin typeface="Poppins"/>
              </a:rPr>
              <a:t>Problem Formulation</a:t>
            </a:r>
            <a:endParaRPr lang="en-US" sz="1100" dirty="0"/>
          </a:p>
        </p:txBody>
      </p:sp>
      <p:sp>
        <p:nvSpPr>
          <p:cNvPr id="15" name="TextBox 15">
            <a:extLst>
              <a:ext uri="{FF2B5EF4-FFF2-40B4-BE49-F238E27FC236}">
                <a16:creationId xmlns:a16="http://schemas.microsoft.com/office/drawing/2014/main" id="{EEFAE66C-5B5C-DF7F-9CA5-F4EA7E255F3A}"/>
              </a:ext>
            </a:extLst>
          </p:cNvPr>
          <p:cNvSpPr txBox="1"/>
          <p:nvPr/>
        </p:nvSpPr>
        <p:spPr>
          <a:xfrm>
            <a:off x="1130300" y="4508500"/>
            <a:ext cx="4152900" cy="2603500"/>
          </a:xfrm>
          <a:prstGeom prst="rect">
            <a:avLst/>
          </a:prstGeom>
          <a:solidFill>
            <a:srgbClr val="000000">
              <a:alpha val="0"/>
            </a:srgbClr>
          </a:solidFill>
        </p:spPr>
        <p:txBody>
          <a:bodyPr lIns="0" tIns="0" rIns="0" bIns="0" rtlCol="0" anchor="ctr"/>
          <a:lstStyle/>
          <a:p>
            <a:pPr indent="0" algn="l">
              <a:lnSpc>
                <a:spcPct val="149999"/>
              </a:lnSpc>
              <a:defRPr/>
            </a:pPr>
            <a:r>
              <a:rPr lang="en-US" sz="1900" b="1" dirty="0">
                <a:solidFill>
                  <a:srgbClr val="1A4378"/>
                </a:solidFill>
                <a:latin typeface="Poppins"/>
              </a:rPr>
              <a:t>Multi-period mixed-integer nonlinear program (MINLP) jointly optimizing assortment, pricing, and inventory decisions with maximum-surplus deterministic consumer choice model.</a:t>
            </a:r>
            <a:endParaRPr lang="en-US" sz="1100" dirty="0"/>
          </a:p>
        </p:txBody>
      </p:sp>
      <p:grpSp>
        <p:nvGrpSpPr>
          <p:cNvPr id="21" name="Group 20">
            <a:extLst>
              <a:ext uri="{FF2B5EF4-FFF2-40B4-BE49-F238E27FC236}">
                <a16:creationId xmlns:a16="http://schemas.microsoft.com/office/drawing/2014/main" id="{F225B83F-A16A-E071-9AC4-76199EA41CEB}"/>
              </a:ext>
            </a:extLst>
          </p:cNvPr>
          <p:cNvGrpSpPr/>
          <p:nvPr/>
        </p:nvGrpSpPr>
        <p:grpSpPr>
          <a:xfrm>
            <a:off x="6083302" y="2628900"/>
            <a:ext cx="4660900" cy="4749800"/>
            <a:chOff x="5791200" y="2628900"/>
            <a:chExt cx="4660900" cy="4749800"/>
          </a:xfrm>
        </p:grpSpPr>
        <p:sp>
          <p:nvSpPr>
            <p:cNvPr id="7" name="AutoShape 7">
              <a:extLst>
                <a:ext uri="{FF2B5EF4-FFF2-40B4-BE49-F238E27FC236}">
                  <a16:creationId xmlns:a16="http://schemas.microsoft.com/office/drawing/2014/main" id="{D4927182-8337-A668-07AD-940EE47A369C}"/>
                </a:ext>
              </a:extLst>
            </p:cNvPr>
            <p:cNvSpPr/>
            <p:nvPr/>
          </p:nvSpPr>
          <p:spPr>
            <a:xfrm>
              <a:off x="5791200" y="2628900"/>
              <a:ext cx="4660900" cy="4749800"/>
            </a:xfrm>
            <a:prstGeom prst="roundRect">
              <a:avLst>
                <a:gd name="adj" fmla="val 2452"/>
              </a:avLst>
            </a:prstGeom>
            <a:solidFill>
              <a:srgbClr val="D0E3F0"/>
            </a:solidFill>
          </p:spPr>
          <p:txBody>
            <a:bodyPr/>
            <a:lstStyle/>
            <a:p>
              <a:endParaRPr lang="en-US"/>
            </a:p>
          </p:txBody>
        </p:sp>
        <p:sp>
          <p:nvSpPr>
            <p:cNvPr id="8" name="AutoShape 8">
              <a:extLst>
                <a:ext uri="{FF2B5EF4-FFF2-40B4-BE49-F238E27FC236}">
                  <a16:creationId xmlns:a16="http://schemas.microsoft.com/office/drawing/2014/main" id="{9EBF1255-1F80-A3D2-FE30-0C9DBB0A5701}"/>
                </a:ext>
              </a:extLst>
            </p:cNvPr>
            <p:cNvSpPr/>
            <p:nvPr/>
          </p:nvSpPr>
          <p:spPr>
            <a:xfrm>
              <a:off x="6045200" y="2882900"/>
              <a:ext cx="749300" cy="749300"/>
            </a:xfrm>
            <a:prstGeom prst="roundRect">
              <a:avLst>
                <a:gd name="adj" fmla="val 49152"/>
              </a:avLst>
            </a:prstGeom>
            <a:solidFill>
              <a:srgbClr val="1A4378"/>
            </a:solidFill>
          </p:spPr>
          <p:txBody>
            <a:bodyPr/>
            <a:lstStyle/>
            <a:p>
              <a:endParaRPr lang="en-US"/>
            </a:p>
          </p:txBody>
        </p:sp>
        <p:sp>
          <p:nvSpPr>
            <p:cNvPr id="13" name="TextBox 13">
              <a:extLst>
                <a:ext uri="{FF2B5EF4-FFF2-40B4-BE49-F238E27FC236}">
                  <a16:creationId xmlns:a16="http://schemas.microsoft.com/office/drawing/2014/main" id="{FB148373-ED14-A91C-BCEE-5D359C1C8515}"/>
                </a:ext>
              </a:extLst>
            </p:cNvPr>
            <p:cNvSpPr txBox="1"/>
            <p:nvPr/>
          </p:nvSpPr>
          <p:spPr>
            <a:xfrm>
              <a:off x="6045200" y="3886200"/>
              <a:ext cx="41529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dirty="0">
                  <a:solidFill>
                    <a:srgbClr val="1A4378"/>
                  </a:solidFill>
                  <a:latin typeface="Poppins"/>
                </a:rPr>
                <a:t>Key Innovation</a:t>
              </a:r>
              <a:endParaRPr lang="en-US" sz="1100" dirty="0"/>
            </a:p>
          </p:txBody>
        </p:sp>
        <p:sp>
          <p:nvSpPr>
            <p:cNvPr id="16" name="TextBox 16">
              <a:extLst>
                <a:ext uri="{FF2B5EF4-FFF2-40B4-BE49-F238E27FC236}">
                  <a16:creationId xmlns:a16="http://schemas.microsoft.com/office/drawing/2014/main" id="{8E114A8C-FAB9-14D7-A42A-06C71E9D4053}"/>
                </a:ext>
              </a:extLst>
            </p:cNvPr>
            <p:cNvSpPr txBox="1"/>
            <p:nvPr/>
          </p:nvSpPr>
          <p:spPr>
            <a:xfrm>
              <a:off x="6045200" y="4508500"/>
              <a:ext cx="4152900" cy="1866900"/>
            </a:xfrm>
            <a:prstGeom prst="rect">
              <a:avLst/>
            </a:prstGeom>
            <a:solidFill>
              <a:srgbClr val="000000">
                <a:alpha val="0"/>
              </a:srgbClr>
            </a:solidFill>
          </p:spPr>
          <p:txBody>
            <a:bodyPr lIns="0" tIns="0" rIns="0" bIns="0" rtlCol="0" anchor="ctr"/>
            <a:lstStyle/>
            <a:p>
              <a:pPr indent="0" algn="l">
                <a:lnSpc>
                  <a:spcPct val="149999"/>
                </a:lnSpc>
                <a:defRPr/>
              </a:pPr>
              <a:r>
                <a:rPr lang="en-US" sz="1900" b="1" dirty="0">
                  <a:solidFill>
                    <a:srgbClr val="1A4378"/>
                  </a:solidFill>
                  <a:latin typeface="Poppins"/>
                </a:rPr>
                <a:t>Linearization of nonlinear constraints transforms the MINLP into computationally tractable linear MIP while preserving solution optimality.</a:t>
              </a:r>
              <a:endParaRPr lang="en-US" sz="1100" dirty="0"/>
            </a:p>
          </p:txBody>
        </p:sp>
      </p:grpSp>
      <p:pic>
        <p:nvPicPr>
          <p:cNvPr id="18" name="Picture 18">
            <a:extLst>
              <a:ext uri="{FF2B5EF4-FFF2-40B4-BE49-F238E27FC236}">
                <a16:creationId xmlns:a16="http://schemas.microsoft.com/office/drawing/2014/main" id="{6953ABA2-B60C-DB76-0250-A891420CD647}"/>
              </a:ext>
            </a:extLst>
          </p:cNvPr>
          <p:cNvPicPr>
            <a:picLocks noChangeAspect="1"/>
          </p:cNvPicPr>
          <p:nvPr/>
        </p:nvPicPr>
        <p:blipFill>
          <a:blip r:embed="rId4"/>
          <a:srcRect/>
          <a:stretch>
            <a:fillRect/>
          </a:stretch>
        </p:blipFill>
        <p:spPr>
          <a:xfrm>
            <a:off x="1384300" y="3136900"/>
            <a:ext cx="241300" cy="241300"/>
          </a:xfrm>
          <a:prstGeom prst="rect">
            <a:avLst/>
          </a:prstGeom>
        </p:spPr>
      </p:pic>
      <p:pic>
        <p:nvPicPr>
          <p:cNvPr id="19" name="Picture 19">
            <a:extLst>
              <a:ext uri="{FF2B5EF4-FFF2-40B4-BE49-F238E27FC236}">
                <a16:creationId xmlns:a16="http://schemas.microsoft.com/office/drawing/2014/main" id="{4E8A541D-0413-74A0-26BB-AD8E31FB4741}"/>
              </a:ext>
            </a:extLst>
          </p:cNvPr>
          <p:cNvPicPr>
            <a:picLocks noChangeAspect="1"/>
          </p:cNvPicPr>
          <p:nvPr/>
        </p:nvPicPr>
        <p:blipFill>
          <a:blip r:embed="rId5"/>
          <a:srcRect/>
          <a:stretch>
            <a:fillRect/>
          </a:stretch>
        </p:blipFill>
        <p:spPr>
          <a:xfrm>
            <a:off x="6299200" y="3136900"/>
            <a:ext cx="241300" cy="241300"/>
          </a:xfrm>
          <a:prstGeom prst="rect">
            <a:avLst/>
          </a:prstGeom>
        </p:spPr>
      </p:pic>
    </p:spTree>
    <p:extLst>
      <p:ext uri="{BB962C8B-B14F-4D97-AF65-F5344CB8AC3E}">
        <p14:creationId xmlns:p14="http://schemas.microsoft.com/office/powerpoint/2010/main" val="1454635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A4360-5D77-E3B3-764C-8E539E357C7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45CC161-9FCE-8F41-EBD1-6989A0470178}"/>
              </a:ext>
            </a:extLst>
          </p:cNvPr>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a:extLst>
              <a:ext uri="{FF2B5EF4-FFF2-40B4-BE49-F238E27FC236}">
                <a16:creationId xmlns:a16="http://schemas.microsoft.com/office/drawing/2014/main" id="{DE35780D-1808-DEA8-C0F1-80DA91B27319}"/>
              </a:ext>
            </a:extLst>
          </p:cNvPr>
          <p:cNvPicPr>
            <a:picLocks noChangeAspect="1"/>
          </p:cNvPicPr>
          <p:nvPr/>
        </p:nvPicPr>
        <p:blipFill>
          <a:blip r:embed="rId3"/>
          <a:srcRect/>
          <a:stretch>
            <a:fillRect/>
          </a:stretch>
        </p:blipFill>
        <p:spPr>
          <a:xfrm>
            <a:off x="-27898" y="0"/>
            <a:ext cx="16256000" cy="9144000"/>
          </a:xfrm>
          <a:prstGeom prst="rect">
            <a:avLst/>
          </a:prstGeom>
        </p:spPr>
      </p:pic>
      <p:sp>
        <p:nvSpPr>
          <p:cNvPr id="11" name="TextBox 11">
            <a:extLst>
              <a:ext uri="{FF2B5EF4-FFF2-40B4-BE49-F238E27FC236}">
                <a16:creationId xmlns:a16="http://schemas.microsoft.com/office/drawing/2014/main" id="{32BC453A-EBA5-D94E-A7DD-BE2322FCD534}"/>
              </a:ext>
            </a:extLst>
          </p:cNvPr>
          <p:cNvSpPr txBox="1"/>
          <p:nvPr/>
        </p:nvSpPr>
        <p:spPr>
          <a:xfrm>
            <a:off x="203200" y="304800"/>
            <a:ext cx="14490700" cy="584200"/>
          </a:xfrm>
          <a:prstGeom prst="rect">
            <a:avLst/>
          </a:prstGeom>
          <a:solidFill>
            <a:srgbClr val="000000">
              <a:alpha val="0"/>
            </a:srgbClr>
          </a:solidFill>
        </p:spPr>
        <p:txBody>
          <a:bodyPr lIns="0" tIns="0" rIns="0" bIns="0" rtlCol="0" anchor="ctr"/>
          <a:lstStyle/>
          <a:p>
            <a:pPr indent="0" algn="l">
              <a:lnSpc>
                <a:spcPct val="119999"/>
              </a:lnSpc>
              <a:defRPr/>
            </a:pPr>
            <a:r>
              <a:rPr lang="en-US" sz="3900" b="1" dirty="0">
                <a:solidFill>
                  <a:srgbClr val="1A4378"/>
                </a:solidFill>
                <a:latin typeface="Poppins"/>
              </a:rPr>
              <a:t>Mathematical Modeling-MINLP</a:t>
            </a:r>
            <a:endParaRPr lang="en-US" sz="1100" dirty="0"/>
          </a:p>
        </p:txBody>
      </p:sp>
      <p:pic>
        <p:nvPicPr>
          <p:cNvPr id="18" name="Picture 18">
            <a:extLst>
              <a:ext uri="{FF2B5EF4-FFF2-40B4-BE49-F238E27FC236}">
                <a16:creationId xmlns:a16="http://schemas.microsoft.com/office/drawing/2014/main" id="{EA319890-36EC-266E-CCDE-7E87D71DE785}"/>
              </a:ext>
            </a:extLst>
          </p:cNvPr>
          <p:cNvPicPr>
            <a:picLocks noChangeAspect="1"/>
          </p:cNvPicPr>
          <p:nvPr/>
        </p:nvPicPr>
        <p:blipFill>
          <a:blip r:embed="rId4"/>
          <a:srcRect/>
          <a:stretch>
            <a:fillRect/>
          </a:stretch>
        </p:blipFill>
        <p:spPr>
          <a:xfrm>
            <a:off x="1384300" y="3136900"/>
            <a:ext cx="241300" cy="241300"/>
          </a:xfrm>
          <a:prstGeom prst="rect">
            <a:avLst/>
          </a:prstGeom>
        </p:spPr>
      </p:pic>
      <p:sp>
        <p:nvSpPr>
          <p:cNvPr id="22" name="TextBox 21">
            <a:extLst>
              <a:ext uri="{FF2B5EF4-FFF2-40B4-BE49-F238E27FC236}">
                <a16:creationId xmlns:a16="http://schemas.microsoft.com/office/drawing/2014/main" id="{7CDAB3DA-3649-3B02-7A51-5815981ADF5A}"/>
              </a:ext>
            </a:extLst>
          </p:cNvPr>
          <p:cNvSpPr txBox="1"/>
          <p:nvPr/>
        </p:nvSpPr>
        <p:spPr>
          <a:xfrm>
            <a:off x="3700072" y="1283852"/>
            <a:ext cx="2077720" cy="691856"/>
          </a:xfrm>
          <a:prstGeom prst="rect">
            <a:avLst/>
          </a:prstGeom>
          <a:noFill/>
        </p:spPr>
        <p:txBody>
          <a:bodyPr wrap="square">
            <a:spAutoFit/>
          </a:bodyPr>
          <a:lstStyle/>
          <a:p>
            <a:pPr>
              <a:lnSpc>
                <a:spcPts val="2400"/>
              </a:lnSpc>
              <a:spcBef>
                <a:spcPts val="2400"/>
              </a:spcBef>
              <a:spcAft>
                <a:spcPts val="1200"/>
              </a:spcAft>
            </a:pPr>
            <a:r>
              <a:rPr lang="en-US" sz="1900" b="1" dirty="0">
                <a:solidFill>
                  <a:srgbClr val="1A4378"/>
                </a:solidFill>
                <a:latin typeface="Poppins"/>
              </a:rPr>
              <a:t>Objective</a:t>
            </a:r>
            <a:r>
              <a:rPr lang="en-US" b="1" dirty="0"/>
              <a:t>:</a:t>
            </a:r>
            <a:r>
              <a:rPr lang="en-US" dirty="0"/>
              <a:t> </a:t>
            </a:r>
            <a:br>
              <a:rPr lang="en-US" dirty="0"/>
            </a:br>
            <a:endParaRPr lang="en-US" b="1" dirty="0">
              <a:solidFill>
                <a:srgbClr val="0F1115"/>
              </a:solidFill>
              <a:effectLst/>
              <a:latin typeface="quote-cjk-patch"/>
            </a:endParaRPr>
          </a:p>
        </p:txBody>
      </p:sp>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F86ED431-3B96-C542-2764-DB50BB7328AE}"/>
                  </a:ext>
                </a:extLst>
              </p:cNvPr>
              <p:cNvSpPr txBox="1"/>
              <p:nvPr/>
            </p:nvSpPr>
            <p:spPr>
              <a:xfrm>
                <a:off x="3816433" y="996356"/>
                <a:ext cx="8736768" cy="1179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i="1" dirty="0" smtClean="0">
                              <a:latin typeface="Cambria Math" panose="02040503050406030204" pitchFamily="18" charset="0"/>
                            </a:rPr>
                          </m:ctrlPr>
                        </m:funcPr>
                        <m:fName>
                          <m:r>
                            <m:rPr>
                              <m:sty m:val="p"/>
                            </m:rPr>
                            <a:rPr lang="en-US" i="0" dirty="0">
                              <a:latin typeface="Cambria Math" panose="02040503050406030204" pitchFamily="18" charset="0"/>
                            </a:rPr>
                            <m:t>max</m:t>
                          </m:r>
                        </m:fName>
                        <m:e>
                          <m:nary>
                            <m:naryPr>
                              <m:chr m:val="∑"/>
                              <m:ctrlPr>
                                <a:rPr lang="en-US" i="1" dirty="0">
                                  <a:latin typeface="Cambria Math" panose="02040503050406030204" pitchFamily="18" charset="0"/>
                                </a:rPr>
                              </m:ctrlPr>
                            </m:naryPr>
                            <m:sub>
                              <m:r>
                                <a:rPr lang="en-US" i="1" dirty="0">
                                  <a:latin typeface="Cambria Math" panose="02040503050406030204" pitchFamily="18" charset="0"/>
                                </a:rPr>
                                <m:t>𝑡</m:t>
                              </m:r>
                              <m:r>
                                <a:rPr lang="en-US" i="1" dirty="0">
                                  <a:latin typeface="Cambria Math" panose="02040503050406030204" pitchFamily="18" charset="0"/>
                                </a:rPr>
                                <m:t>=</m:t>
                              </m:r>
                              <m:r>
                                <a:rPr lang="en-US" i="1" dirty="0">
                                  <a:latin typeface="Cambria Math" panose="02040503050406030204" pitchFamily="18" charset="0"/>
                                </a:rPr>
                                <m:t>1</m:t>
                              </m:r>
                            </m:sub>
                            <m:sup>
                              <m:r>
                                <a:rPr lang="en-US" i="1" dirty="0">
                                  <a:latin typeface="Cambria Math" panose="02040503050406030204" pitchFamily="18" charset="0"/>
                                </a:rPr>
                                <m:t>𝑇</m:t>
                              </m:r>
                            </m:sup>
                            <m:e>
                              <m:nary>
                                <m:naryPr>
                                  <m:chr m:val="∑"/>
                                  <m:ctrlPr>
                                    <a:rPr lang="en-US" i="1" dirty="0">
                                      <a:latin typeface="Cambria Math" panose="02040503050406030204" pitchFamily="18" charset="0"/>
                                    </a:rPr>
                                  </m:ctrlPr>
                                </m:naryPr>
                                <m:sub>
                                  <m:r>
                                    <a:rPr lang="en-US" i="1" dirty="0">
                                      <a:latin typeface="Cambria Math" panose="02040503050406030204" pitchFamily="18" charset="0"/>
                                    </a:rPr>
                                    <m:t>𝑗</m:t>
                                  </m:r>
                                  <m:r>
                                    <a:rPr lang="en-US" i="1" dirty="0">
                                      <a:latin typeface="Cambria Math" panose="02040503050406030204" pitchFamily="18" charset="0"/>
                                    </a:rPr>
                                    <m:t>=</m:t>
                                  </m:r>
                                  <m:r>
                                    <a:rPr lang="en-US" i="1" dirty="0">
                                      <a:latin typeface="Cambria Math" panose="02040503050406030204" pitchFamily="18" charset="0"/>
                                    </a:rPr>
                                    <m:t>1</m:t>
                                  </m:r>
                                </m:sub>
                                <m:sup>
                                  <m:r>
                                    <a:rPr lang="en-US" i="1" dirty="0">
                                      <a:latin typeface="Cambria Math" panose="02040503050406030204" pitchFamily="18" charset="0"/>
                                    </a:rPr>
                                    <m:t>𝑛</m:t>
                                  </m:r>
                                </m:sup>
                                <m:e>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𝑝</m:t>
                                          </m:r>
                                        </m:e>
                                        <m:sub>
                                          <m:r>
                                            <a:rPr lang="en-US" i="1" dirty="0">
                                              <a:latin typeface="Cambria Math" panose="02040503050406030204" pitchFamily="18" charset="0"/>
                                            </a:rPr>
                                            <m:t>𝑗𝑡</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𝑗𝑡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𝐾</m:t>
                                          </m:r>
                                        </m:e>
                                        <m:sub>
                                          <m:r>
                                            <a:rPr lang="en-US" i="1" dirty="0">
                                              <a:latin typeface="Cambria Math" panose="02040503050406030204" pitchFamily="18" charset="0"/>
                                            </a:rPr>
                                            <m:t>𝑗𝑡</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i="1" dirty="0">
                                              <a:latin typeface="Cambria Math" panose="02040503050406030204" pitchFamily="18" charset="0"/>
                                            </a:rPr>
                                            <m:t>𝑗𝑡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𝑐</m:t>
                                          </m:r>
                                        </m:e>
                                        <m:sub>
                                          <m:r>
                                            <a:rPr lang="en-US" i="1" dirty="0">
                                              <a:latin typeface="Cambria Math" panose="02040503050406030204" pitchFamily="18" charset="0"/>
                                            </a:rPr>
                                            <m:t>𝑗𝑡</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𝑢</m:t>
                                          </m:r>
                                        </m:e>
                                        <m:sub>
                                          <m:r>
                                            <a:rPr lang="en-US" i="1" dirty="0">
                                              <a:latin typeface="Cambria Math" panose="02040503050406030204" pitchFamily="18" charset="0"/>
                                            </a:rPr>
                                            <m:t>𝑗𝑡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h</m:t>
                                          </m:r>
                                        </m:e>
                                        <m:sub>
                                          <m:r>
                                            <a:rPr lang="en-US" i="1" dirty="0">
                                              <a:latin typeface="Cambria Math" panose="02040503050406030204" pitchFamily="18" charset="0"/>
                                            </a:rPr>
                                            <m:t>𝑗𝑡</m:t>
                                          </m:r>
                                        </m:sub>
                                      </m:sSub>
                                      <m:sSub>
                                        <m:sSubPr>
                                          <m:ctrlPr>
                                            <a:rPr lang="en-US" i="1" dirty="0">
                                              <a:latin typeface="Cambria Math" panose="02040503050406030204" pitchFamily="18" charset="0"/>
                                            </a:rPr>
                                          </m:ctrlPr>
                                        </m:sSubPr>
                                        <m:e>
                                          <m:r>
                                            <a:rPr lang="en-US" i="1" dirty="0">
                                              <a:latin typeface="Cambria Math" panose="02040503050406030204" pitchFamily="18" charset="0"/>
                                            </a:rPr>
                                            <m:t>𝐼</m:t>
                                          </m:r>
                                        </m:e>
                                        <m:sub>
                                          <m:r>
                                            <a:rPr lang="en-US" i="1" dirty="0">
                                              <a:latin typeface="Cambria Math" panose="02040503050406030204" pitchFamily="18" charset="0"/>
                                            </a:rPr>
                                            <m:t>𝑗𝑡</m:t>
                                          </m:r>
                                        </m:sub>
                                      </m:sSub>
                                    </m:e>
                                  </m:d>
                                </m:e>
                              </m:nary>
                            </m:e>
                          </m:nary>
                        </m:e>
                      </m:func>
                      <m:r>
                        <a:rPr lang="en-US" i="1" dirty="0">
                          <a:latin typeface="Cambria Math" panose="02040503050406030204" pitchFamily="18" charset="0"/>
                        </a:rPr>
                        <m:t>−</m:t>
                      </m:r>
                      <m:nary>
                        <m:naryPr>
                          <m:chr m:val="∑"/>
                          <m:ctrlPr>
                            <a:rPr lang="en-US" i="1" dirty="0">
                              <a:latin typeface="Cambria Math" panose="02040503050406030204" pitchFamily="18" charset="0"/>
                            </a:rPr>
                          </m:ctrlPr>
                        </m:naryPr>
                        <m:sub>
                          <m:r>
                            <a:rPr lang="en-US" i="1" dirty="0">
                              <a:latin typeface="Cambria Math" panose="02040503050406030204" pitchFamily="18" charset="0"/>
                            </a:rPr>
                            <m:t>𝑗</m:t>
                          </m:r>
                          <m:r>
                            <a:rPr lang="en-US" i="1" dirty="0">
                              <a:latin typeface="Cambria Math" panose="02040503050406030204" pitchFamily="18" charset="0"/>
                            </a:rPr>
                            <m:t>=</m:t>
                          </m:r>
                          <m:r>
                            <a:rPr lang="en-US" i="1" dirty="0">
                              <a:latin typeface="Cambria Math" panose="02040503050406030204" pitchFamily="18" charset="0"/>
                            </a:rPr>
                            <m:t>1</m:t>
                          </m:r>
                        </m:sub>
                        <m:sup>
                          <m:r>
                            <a:rPr lang="en-US" i="1" dirty="0">
                              <a:latin typeface="Cambria Math" panose="02040503050406030204" pitchFamily="18" charset="0"/>
                            </a:rPr>
                            <m:t>𝑛</m:t>
                          </m:r>
                        </m:sup>
                        <m:e>
                          <m:sSub>
                            <m:sSubPr>
                              <m:ctrlPr>
                                <a:rPr lang="en-US" i="1" dirty="0">
                                  <a:latin typeface="Cambria Math" panose="02040503050406030204" pitchFamily="18" charset="0"/>
                                </a:rPr>
                              </m:ctrlPr>
                            </m:sSubPr>
                            <m:e>
                              <m:r>
                                <a:rPr lang="en-US" i="1" dirty="0">
                                  <a:latin typeface="Cambria Math" panose="02040503050406030204" pitchFamily="18" charset="0"/>
                                </a:rPr>
                                <m:t>𝑓</m:t>
                              </m:r>
                            </m:e>
                            <m:sub>
                              <m:r>
                                <a:rPr lang="en-US" i="1" dirty="0">
                                  <a:latin typeface="Cambria Math" panose="02040503050406030204" pitchFamily="18" charset="0"/>
                                </a:rPr>
                                <m:t>𝑗</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𝑧</m:t>
                              </m:r>
                            </m:e>
                            <m:sub>
                              <m:r>
                                <a:rPr lang="en-US" i="1" dirty="0">
                                  <a:latin typeface="Cambria Math" panose="02040503050406030204" pitchFamily="18" charset="0"/>
                                </a:rPr>
                                <m:t>𝑗</m:t>
                              </m:r>
                            </m:sub>
                          </m:sSub>
                        </m:e>
                      </m:nary>
                    </m:oMath>
                  </m:oMathPara>
                </a14:m>
                <a:endParaRPr dirty="0"/>
              </a:p>
              <a:p>
                <a:endParaRPr dirty="0"/>
              </a:p>
            </p:txBody>
          </p:sp>
        </mc:Choice>
        <mc:Fallback>
          <p:sp>
            <p:nvSpPr>
              <p:cNvPr id="26" name="TextBox 25">
                <a:extLst>
                  <a:ext uri="{FF2B5EF4-FFF2-40B4-BE49-F238E27FC236}">
                    <a16:creationId xmlns:a16="http://schemas.microsoft.com/office/drawing/2014/main" id="{F86ED431-3B96-C542-2764-DB50BB7328AE}"/>
                  </a:ext>
                </a:extLst>
              </p:cNvPr>
              <p:cNvSpPr txBox="1">
                <a:spLocks noRot="1" noChangeAspect="1" noMove="1" noResize="1" noEditPoints="1" noAdjustHandles="1" noChangeArrowheads="1" noChangeShapeType="1" noTextEdit="1"/>
              </p:cNvSpPr>
              <p:nvPr/>
            </p:nvSpPr>
            <p:spPr>
              <a:xfrm>
                <a:off x="3816433" y="996356"/>
                <a:ext cx="8736768" cy="117955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667665C-99D2-976B-8135-2AE8C2AC543A}"/>
                  </a:ext>
                </a:extLst>
              </p:cNvPr>
              <p:cNvSpPr txBox="1"/>
              <p:nvPr/>
            </p:nvSpPr>
            <p:spPr>
              <a:xfrm>
                <a:off x="4241800" y="1816307"/>
                <a:ext cx="8229600" cy="8485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lang="en-US" i="1" dirty="0" smtClean="0">
                              <a:latin typeface="Cambria Math" panose="02040503050406030204" pitchFamily="18" charset="0"/>
                            </a:rPr>
                          </m:ctrlPr>
                        </m:naryPr>
                        <m:sub>
                          <m:r>
                            <a:rPr lang="en-US" i="1" dirty="0" smtClean="0">
                              <a:latin typeface="Cambria Math" panose="02040503050406030204" pitchFamily="18" charset="0"/>
                            </a:rPr>
                            <m:t>𝑘</m:t>
                          </m:r>
                          <m:r>
                            <a:rPr lang="en-US" i="1" dirty="0" smtClean="0">
                              <a:latin typeface="Cambria Math" panose="02040503050406030204" pitchFamily="18" charset="0"/>
                            </a:rPr>
                            <m:t>=</m:t>
                          </m:r>
                          <m:r>
                            <a:rPr lang="en-US" i="1" dirty="0" smtClean="0">
                              <a:latin typeface="Cambria Math" panose="02040503050406030204" pitchFamily="18" charset="0"/>
                            </a:rPr>
                            <m:t>1</m:t>
                          </m:r>
                        </m:sub>
                        <m:sup>
                          <m:r>
                            <a:rPr lang="en-US" i="1" dirty="0" smtClean="0">
                              <a:latin typeface="Cambria Math" panose="02040503050406030204" pitchFamily="18" charset="0"/>
                            </a:rPr>
                            <m:t>𝑛</m:t>
                          </m:r>
                        </m:sup>
                        <m:e>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𝛼</m:t>
                                  </m:r>
                                </m:e>
                                <m:sub>
                                  <m:r>
                                    <a:rPr lang="en-US" i="1" dirty="0" err="1">
                                      <a:latin typeface="Cambria Math" panose="02040503050406030204" pitchFamily="18" charset="0"/>
                                    </a:rPr>
                                    <m:t>𝑖𝑘𝑡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𝑝</m:t>
                                  </m:r>
                                </m:e>
                                <m:sub>
                                  <m:r>
                                    <a:rPr lang="en-US" i="1" dirty="0">
                                      <a:latin typeface="Cambria Math" panose="02040503050406030204" pitchFamily="18" charset="0"/>
                                    </a:rPr>
                                    <m:t>𝑘𝑡</m:t>
                                  </m:r>
                                </m:sub>
                              </m:sSub>
                            </m:e>
                          </m:d>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err="1">
                                  <a:latin typeface="Cambria Math" panose="02040503050406030204" pitchFamily="18" charset="0"/>
                                </a:rPr>
                                <m:t>𝑖𝑘𝑡</m:t>
                              </m:r>
                            </m:sub>
                          </m:sSub>
                        </m:e>
                      </m:nary>
                      <m:r>
                        <a:rPr lang="en-US" i="1" dirty="0">
                          <a:latin typeface="Cambria Math" panose="02040503050406030204" pitchFamily="18" charset="0"/>
                        </a:rPr>
                        <m:t>≥</m:t>
                      </m:r>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𝛼</m:t>
                              </m:r>
                            </m:e>
                            <m:sub>
                              <m:r>
                                <a:rPr lang="en-US" i="1" dirty="0" err="1">
                                  <a:latin typeface="Cambria Math" panose="02040503050406030204" pitchFamily="18" charset="0"/>
                                </a:rPr>
                                <m:t>𝑖𝑗𝑡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𝑝</m:t>
                              </m:r>
                            </m:e>
                            <m:sub>
                              <m:r>
                                <a:rPr lang="en-US" i="1" dirty="0" err="1">
                                  <a:latin typeface="Cambria Math" panose="02040503050406030204" pitchFamily="18" charset="0"/>
                                </a:rPr>
                                <m:t>𝑗𝑡</m:t>
                              </m:r>
                            </m:sub>
                          </m:sSub>
                        </m:e>
                      </m:d>
                      <m:sSub>
                        <m:sSubPr>
                          <m:ctrlPr>
                            <a:rPr lang="en-US" i="1" dirty="0" err="1">
                              <a:latin typeface="Cambria Math" panose="02040503050406030204" pitchFamily="18" charset="0"/>
                            </a:rPr>
                          </m:ctrlPr>
                        </m:sSubPr>
                        <m:e>
                          <m:r>
                            <a:rPr lang="en-US" i="1" dirty="0" err="1">
                              <a:latin typeface="Cambria Math" panose="02040503050406030204" pitchFamily="18" charset="0"/>
                            </a:rPr>
                            <m:t>𝑧</m:t>
                          </m:r>
                        </m:e>
                        <m:sub>
                          <m:r>
                            <a:rPr lang="en-US" i="1" dirty="0" err="1">
                              <a:latin typeface="Cambria Math" panose="02040503050406030204" pitchFamily="18" charset="0"/>
                            </a:rPr>
                            <m:t>𝑗</m:t>
                          </m:r>
                        </m:sub>
                      </m:sSub>
                    </m:oMath>
                  </m:oMathPara>
                </a14:m>
                <a:endParaRPr/>
              </a:p>
            </p:txBody>
          </p:sp>
        </mc:Choice>
        <mc:Fallback xmlns="">
          <p:sp>
            <p:nvSpPr>
              <p:cNvPr id="28" name="TextBox 27">
                <a:extLst>
                  <a:ext uri="{FF2B5EF4-FFF2-40B4-BE49-F238E27FC236}">
                    <a16:creationId xmlns:a16="http://schemas.microsoft.com/office/drawing/2014/main" id="{5667665C-99D2-976B-8135-2AE8C2AC543A}"/>
                  </a:ext>
                </a:extLst>
              </p:cNvPr>
              <p:cNvSpPr txBox="1">
                <a:spLocks noRot="1" noChangeAspect="1" noMove="1" noResize="1" noEditPoints="1" noAdjustHandles="1" noChangeArrowheads="1" noChangeShapeType="1" noTextEdit="1"/>
              </p:cNvSpPr>
              <p:nvPr/>
            </p:nvSpPr>
            <p:spPr>
              <a:xfrm>
                <a:off x="4241800" y="1816307"/>
                <a:ext cx="8229600" cy="84850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52595C9-35A0-3FFE-DCB8-FDC10FA76009}"/>
                  </a:ext>
                </a:extLst>
              </p:cNvPr>
              <p:cNvSpPr txBox="1"/>
              <p:nvPr/>
            </p:nvSpPr>
            <p:spPr>
              <a:xfrm>
                <a:off x="4305258" y="2571610"/>
                <a:ext cx="8229600" cy="8485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lang="en-US" i="1" dirty="0" smtClean="0">
                              <a:latin typeface="Cambria Math" panose="02040503050406030204" pitchFamily="18" charset="0"/>
                            </a:rPr>
                          </m:ctrlPr>
                        </m:naryPr>
                        <m:sub>
                          <m:r>
                            <a:rPr lang="en-US" i="1" dirty="0" smtClean="0">
                              <a:latin typeface="Cambria Math" panose="02040503050406030204" pitchFamily="18" charset="0"/>
                            </a:rPr>
                            <m:t>𝑘</m:t>
                          </m:r>
                          <m:r>
                            <a:rPr lang="en-US" i="1" dirty="0" smtClean="0">
                              <a:latin typeface="Cambria Math" panose="02040503050406030204" pitchFamily="18" charset="0"/>
                            </a:rPr>
                            <m:t>=</m:t>
                          </m:r>
                          <m:r>
                            <a:rPr lang="en-US" i="1" dirty="0" smtClean="0">
                              <a:latin typeface="Cambria Math" panose="02040503050406030204" pitchFamily="18" charset="0"/>
                            </a:rPr>
                            <m:t>1</m:t>
                          </m:r>
                        </m:sub>
                        <m:sup>
                          <m:r>
                            <a:rPr lang="en-US" i="1" dirty="0" smtClean="0">
                              <a:latin typeface="Cambria Math" panose="02040503050406030204" pitchFamily="18" charset="0"/>
                            </a:rPr>
                            <m:t>𝑛</m:t>
                          </m:r>
                        </m:sup>
                        <m:e>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𝛼</m:t>
                                  </m:r>
                                </m:e>
                                <m:sub>
                                  <m:r>
                                    <a:rPr lang="en-US" i="1" dirty="0" err="1">
                                      <a:latin typeface="Cambria Math" panose="02040503050406030204" pitchFamily="18" charset="0"/>
                                    </a:rPr>
                                    <m:t>𝑖𝑘𝑡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𝑝</m:t>
                                  </m:r>
                                </m:e>
                                <m:sub>
                                  <m:r>
                                    <a:rPr lang="en-US" i="1" dirty="0">
                                      <a:latin typeface="Cambria Math" panose="02040503050406030204" pitchFamily="18" charset="0"/>
                                    </a:rPr>
                                    <m:t>𝑘𝑡</m:t>
                                  </m:r>
                                </m:sub>
                              </m:sSub>
                            </m:e>
                          </m:d>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err="1">
                                  <a:latin typeface="Cambria Math" panose="02040503050406030204" pitchFamily="18" charset="0"/>
                                </a:rPr>
                                <m:t>𝑖𝑘𝑡</m:t>
                              </m:r>
                            </m:sub>
                          </m:sSub>
                        </m:e>
                      </m:nary>
                      <m:r>
                        <a:rPr lang="en-US" i="1" dirty="0">
                          <a:latin typeface="Cambria Math" panose="02040503050406030204" pitchFamily="18" charset="0"/>
                        </a:rPr>
                        <m:t>≥</m:t>
                      </m:r>
                      <m:r>
                        <a:rPr lang="en-US" i="1" dirty="0">
                          <a:latin typeface="Cambria Math" panose="02040503050406030204" pitchFamily="18" charset="0"/>
                        </a:rPr>
                        <m:t>0</m:t>
                      </m:r>
                    </m:oMath>
                  </m:oMathPara>
                </a14:m>
                <a:endParaRPr/>
              </a:p>
            </p:txBody>
          </p:sp>
        </mc:Choice>
        <mc:Fallback xmlns="">
          <p:sp>
            <p:nvSpPr>
              <p:cNvPr id="30" name="TextBox 29">
                <a:extLst>
                  <a:ext uri="{FF2B5EF4-FFF2-40B4-BE49-F238E27FC236}">
                    <a16:creationId xmlns:a16="http://schemas.microsoft.com/office/drawing/2014/main" id="{552595C9-35A0-3FFE-DCB8-FDC10FA76009}"/>
                  </a:ext>
                </a:extLst>
              </p:cNvPr>
              <p:cNvSpPr txBox="1">
                <a:spLocks noRot="1" noChangeAspect="1" noMove="1" noResize="1" noEditPoints="1" noAdjustHandles="1" noChangeArrowheads="1" noChangeShapeType="1" noTextEdit="1"/>
              </p:cNvSpPr>
              <p:nvPr/>
            </p:nvSpPr>
            <p:spPr>
              <a:xfrm>
                <a:off x="4305258" y="2571610"/>
                <a:ext cx="8229600" cy="84850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3D1CD65-896D-5C33-B1EF-49232303248A}"/>
                  </a:ext>
                </a:extLst>
              </p:cNvPr>
              <p:cNvSpPr txBox="1"/>
              <p:nvPr/>
            </p:nvSpPr>
            <p:spPr>
              <a:xfrm>
                <a:off x="4305258" y="3377632"/>
                <a:ext cx="8229600" cy="87985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lang="en-US" i="1" dirty="0" smtClean="0">
                              <a:latin typeface="Cambria Math" panose="02040503050406030204" pitchFamily="18" charset="0"/>
                            </a:rPr>
                          </m:ctrlPr>
                        </m:naryPr>
                        <m:sub>
                          <m:r>
                            <a:rPr lang="en-US" i="1" dirty="0" smtClean="0">
                              <a:latin typeface="Cambria Math" panose="02040503050406030204" pitchFamily="18" charset="0"/>
                            </a:rPr>
                            <m:t>𝑗</m:t>
                          </m:r>
                          <m:r>
                            <a:rPr lang="en-US" i="1" dirty="0" smtClean="0">
                              <a:latin typeface="Cambria Math" panose="02040503050406030204" pitchFamily="18" charset="0"/>
                            </a:rPr>
                            <m:t>=</m:t>
                          </m:r>
                          <m:r>
                            <a:rPr lang="en-US" i="1" dirty="0" smtClean="0">
                              <a:latin typeface="Cambria Math" panose="02040503050406030204" pitchFamily="18" charset="0"/>
                            </a:rPr>
                            <m:t>0</m:t>
                          </m:r>
                        </m:sub>
                        <m:sup>
                          <m:r>
                            <a:rPr lang="en-US" i="1" dirty="0" smtClean="0">
                              <a:latin typeface="Cambria Math" panose="02040503050406030204" pitchFamily="18" charset="0"/>
                            </a:rPr>
                            <m:t>𝑛</m:t>
                          </m:r>
                        </m:sup>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err="1">
                                  <a:latin typeface="Cambria Math" panose="02040503050406030204" pitchFamily="18" charset="0"/>
                                </a:rPr>
                                <m:t>𝑖𝑗𝑡</m:t>
                              </m:r>
                            </m:sub>
                          </m:sSub>
                        </m:e>
                      </m:nary>
                      <m:r>
                        <a:rPr lang="en-US" i="1" dirty="0">
                          <a:latin typeface="Cambria Math" panose="02040503050406030204" pitchFamily="18" charset="0"/>
                        </a:rPr>
                        <m:t>=</m:t>
                      </m:r>
                      <m:r>
                        <a:rPr lang="en-US" i="1" dirty="0">
                          <a:latin typeface="Cambria Math" panose="02040503050406030204" pitchFamily="18" charset="0"/>
                        </a:rPr>
                        <m:t>1</m:t>
                      </m:r>
                    </m:oMath>
                  </m:oMathPara>
                </a14:m>
                <a:endParaRPr/>
              </a:p>
            </p:txBody>
          </p:sp>
        </mc:Choice>
        <mc:Fallback xmlns="">
          <p:sp>
            <p:nvSpPr>
              <p:cNvPr id="32" name="TextBox 31">
                <a:extLst>
                  <a:ext uri="{FF2B5EF4-FFF2-40B4-BE49-F238E27FC236}">
                    <a16:creationId xmlns:a16="http://schemas.microsoft.com/office/drawing/2014/main" id="{43D1CD65-896D-5C33-B1EF-49232303248A}"/>
                  </a:ext>
                </a:extLst>
              </p:cNvPr>
              <p:cNvSpPr txBox="1">
                <a:spLocks noRot="1" noChangeAspect="1" noMove="1" noResize="1" noEditPoints="1" noAdjustHandles="1" noChangeArrowheads="1" noChangeShapeType="1" noTextEdit="1"/>
              </p:cNvSpPr>
              <p:nvPr/>
            </p:nvSpPr>
            <p:spPr>
              <a:xfrm>
                <a:off x="4305258" y="3377632"/>
                <a:ext cx="8229600" cy="87985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11B504B-1194-B5C8-AD46-705B2D4C70FF}"/>
                  </a:ext>
                </a:extLst>
              </p:cNvPr>
              <p:cNvSpPr txBox="1"/>
              <p:nvPr/>
            </p:nvSpPr>
            <p:spPr>
              <a:xfrm>
                <a:off x="4305258" y="4206593"/>
                <a:ext cx="8229600" cy="8485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𝑑</m:t>
                          </m:r>
                        </m:e>
                        <m:sub>
                          <m:r>
                            <a:rPr lang="en-US" i="1" dirty="0" err="1">
                              <a:latin typeface="Cambria Math" panose="02040503050406030204" pitchFamily="18" charset="0"/>
                            </a:rPr>
                            <m:t>𝑗𝑡</m:t>
                          </m:r>
                        </m:sub>
                      </m:sSub>
                      <m:r>
                        <a:rPr lang="en-US" i="1" dirty="0">
                          <a:latin typeface="Cambria Math" panose="02040503050406030204" pitchFamily="18" charset="0"/>
                        </a:rPr>
                        <m:t>=</m:t>
                      </m:r>
                      <m:nary>
                        <m:naryPr>
                          <m:chr m:val="∑"/>
                          <m:ctrlPr>
                            <a:rPr lang="en-US" i="1" dirty="0">
                              <a:latin typeface="Cambria Math" panose="02040503050406030204" pitchFamily="18" charset="0"/>
                            </a:rPr>
                          </m:ctrlPr>
                        </m:naryPr>
                        <m:sub>
                          <m:r>
                            <a:rPr lang="en-US" i="1" dirty="0" err="1">
                              <a:latin typeface="Cambria Math" panose="02040503050406030204" pitchFamily="18" charset="0"/>
                            </a:rPr>
                            <m:t>𝑖</m:t>
                          </m:r>
                          <m:r>
                            <a:rPr lang="en-US" i="1" dirty="0">
                              <a:latin typeface="Cambria Math" panose="02040503050406030204" pitchFamily="18" charset="0"/>
                            </a:rPr>
                            <m:t>=</m:t>
                          </m:r>
                          <m:r>
                            <a:rPr lang="en-US" i="1" dirty="0">
                              <a:latin typeface="Cambria Math" panose="02040503050406030204" pitchFamily="18" charset="0"/>
                            </a:rPr>
                            <m:t>1</m:t>
                          </m:r>
                        </m:sub>
                        <m:sup>
                          <m:r>
                            <a:rPr lang="en-US" i="1" dirty="0">
                              <a:latin typeface="Cambria Math" panose="02040503050406030204" pitchFamily="18" charset="0"/>
                            </a:rPr>
                            <m:t>𝑚</m:t>
                          </m:r>
                        </m:sup>
                        <m:e>
                          <m:sSub>
                            <m:sSubPr>
                              <m:ctrlPr>
                                <a:rPr lang="en-US" i="1" dirty="0" err="1">
                                  <a:latin typeface="Cambria Math" panose="02040503050406030204" pitchFamily="18" charset="0"/>
                                </a:rPr>
                              </m:ctrlPr>
                            </m:sSubPr>
                            <m:e>
                              <m:r>
                                <a:rPr lang="en-US" i="1" dirty="0" err="1">
                                  <a:latin typeface="Cambria Math" panose="02040503050406030204" pitchFamily="18" charset="0"/>
                                </a:rPr>
                                <m:t>𝑠</m:t>
                              </m:r>
                            </m:e>
                            <m:sub>
                              <m:r>
                                <a:rPr lang="en-US" i="1" dirty="0" err="1">
                                  <a:latin typeface="Cambria Math" panose="02040503050406030204" pitchFamily="18" charset="0"/>
                                </a:rPr>
                                <m:t>𝑖</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err="1">
                                  <a:latin typeface="Cambria Math" panose="02040503050406030204" pitchFamily="18" charset="0"/>
                                </a:rPr>
                                <m:t>𝑖𝑗𝑡</m:t>
                              </m:r>
                            </m:sub>
                          </m:sSub>
                        </m:e>
                      </m:nary>
                    </m:oMath>
                  </m:oMathPara>
                </a14:m>
                <a:endParaRPr/>
              </a:p>
            </p:txBody>
          </p:sp>
        </mc:Choice>
        <mc:Fallback xmlns="">
          <p:sp>
            <p:nvSpPr>
              <p:cNvPr id="34" name="TextBox 33">
                <a:extLst>
                  <a:ext uri="{FF2B5EF4-FFF2-40B4-BE49-F238E27FC236}">
                    <a16:creationId xmlns:a16="http://schemas.microsoft.com/office/drawing/2014/main" id="{D11B504B-1194-B5C8-AD46-705B2D4C70FF}"/>
                  </a:ext>
                </a:extLst>
              </p:cNvPr>
              <p:cNvSpPr txBox="1">
                <a:spLocks noRot="1" noChangeAspect="1" noMove="1" noResize="1" noEditPoints="1" noAdjustHandles="1" noChangeArrowheads="1" noChangeShapeType="1" noTextEdit="1"/>
              </p:cNvSpPr>
              <p:nvPr/>
            </p:nvSpPr>
            <p:spPr>
              <a:xfrm>
                <a:off x="4305258" y="4206593"/>
                <a:ext cx="8229600" cy="84856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33AA347-2621-531C-2133-18C60581B665}"/>
                  </a:ext>
                </a:extLst>
              </p:cNvPr>
              <p:cNvSpPr txBox="1"/>
              <p:nvPr/>
            </p:nvSpPr>
            <p:spPr>
              <a:xfrm>
                <a:off x="4340818" y="5132042"/>
                <a:ext cx="8229600"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𝐼</m:t>
                          </m:r>
                        </m:e>
                        <m:sub>
                          <m:r>
                            <a:rPr lang="en-US" i="1" dirty="0" err="1">
                              <a:latin typeface="Cambria Math" panose="02040503050406030204" pitchFamily="18" charset="0"/>
                            </a:rPr>
                            <m:t>𝑗𝑡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𝐼</m:t>
                          </m:r>
                        </m:e>
                        <m:sub>
                          <m:r>
                            <a:rPr lang="en-US" i="1" dirty="0">
                              <a:latin typeface="Cambria Math" panose="02040503050406030204" pitchFamily="18" charset="0"/>
                            </a:rPr>
                            <m:t>𝑗</m:t>
                          </m:r>
                          <m:r>
                            <a:rPr lang="en-US" i="1" dirty="0">
                              <a:latin typeface="Cambria Math" panose="02040503050406030204" pitchFamily="18" charset="0"/>
                            </a:rPr>
                            <m:t>,</m:t>
                          </m:r>
                          <m:r>
                            <a:rPr lang="en-US" i="1" dirty="0">
                              <a:latin typeface="Cambria Math" panose="02040503050406030204" pitchFamily="18" charset="0"/>
                            </a:rPr>
                            <m:t>𝑡</m:t>
                          </m:r>
                          <m:r>
                            <a:rPr lang="en-US" i="1" dirty="0">
                              <a:latin typeface="Cambria Math" panose="02040503050406030204" pitchFamily="18" charset="0"/>
                            </a:rPr>
                            <m:t>−</m:t>
                          </m:r>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𝑢</m:t>
                          </m:r>
                        </m:e>
                        <m:sub>
                          <m:r>
                            <a:rPr lang="en-US" i="1" dirty="0" err="1">
                              <a:latin typeface="Cambria Math" panose="02040503050406030204" pitchFamily="18" charset="0"/>
                            </a:rPr>
                            <m:t>𝑗𝑡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err="1">
                              <a:latin typeface="Cambria Math" panose="02040503050406030204" pitchFamily="18" charset="0"/>
                            </a:rPr>
                            <m:t>𝑗𝑡</m:t>
                          </m:r>
                        </m:sub>
                      </m:sSub>
                    </m:oMath>
                  </m:oMathPara>
                </a14:m>
                <a:endParaRPr/>
              </a:p>
            </p:txBody>
          </p:sp>
        </mc:Choice>
        <mc:Fallback xmlns="">
          <p:sp>
            <p:nvSpPr>
              <p:cNvPr id="36" name="TextBox 35">
                <a:extLst>
                  <a:ext uri="{FF2B5EF4-FFF2-40B4-BE49-F238E27FC236}">
                    <a16:creationId xmlns:a16="http://schemas.microsoft.com/office/drawing/2014/main" id="{C33AA347-2621-531C-2133-18C60581B665}"/>
                  </a:ext>
                </a:extLst>
              </p:cNvPr>
              <p:cNvSpPr txBox="1">
                <a:spLocks noRot="1" noChangeAspect="1" noMove="1" noResize="1" noEditPoints="1" noAdjustHandles="1" noChangeArrowheads="1" noChangeShapeType="1" noTextEdit="1"/>
              </p:cNvSpPr>
              <p:nvPr/>
            </p:nvSpPr>
            <p:spPr>
              <a:xfrm>
                <a:off x="4340818" y="5132042"/>
                <a:ext cx="8229600" cy="391646"/>
              </a:xfrm>
              <a:prstGeom prst="rect">
                <a:avLst/>
              </a:prstGeom>
              <a:blipFill>
                <a:blip r:embed="rId10"/>
                <a:stretch>
                  <a:fillRect t="-10938" b="-171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B8CDDDA-BEB5-7E6C-AAAB-B17E45935054}"/>
                  </a:ext>
                </a:extLst>
              </p:cNvPr>
              <p:cNvSpPr txBox="1"/>
              <p:nvPr/>
            </p:nvSpPr>
            <p:spPr>
              <a:xfrm>
                <a:off x="4361138" y="5651825"/>
                <a:ext cx="8229600"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𝐼</m:t>
                          </m:r>
                        </m:e>
                        <m:sub>
                          <m:r>
                            <a:rPr lang="en-US" i="1" dirty="0" smtClean="0">
                              <a:latin typeface="Cambria Math" panose="02040503050406030204" pitchFamily="18" charset="0"/>
                            </a:rPr>
                            <m:t>𝑗</m:t>
                          </m:r>
                          <m:r>
                            <a:rPr lang="en-US" i="1" dirty="0" smtClean="0">
                              <a:latin typeface="Cambria Math" panose="02040503050406030204" pitchFamily="18" charset="0"/>
                            </a:rPr>
                            <m:t>0</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𝐼</m:t>
                          </m:r>
                        </m:e>
                        <m:sub>
                          <m:r>
                            <a:rPr lang="en-US" i="1" dirty="0" err="1">
                              <a:latin typeface="Cambria Math" panose="02040503050406030204" pitchFamily="18" charset="0"/>
                            </a:rPr>
                            <m:t>𝑗𝑇</m:t>
                          </m:r>
                        </m:sub>
                      </m:sSub>
                      <m:r>
                        <a:rPr lang="en-US" i="1" dirty="0">
                          <a:latin typeface="Cambria Math" panose="02040503050406030204" pitchFamily="18" charset="0"/>
                        </a:rPr>
                        <m:t>=</m:t>
                      </m:r>
                      <m:r>
                        <a:rPr lang="en-US" i="1" dirty="0">
                          <a:latin typeface="Cambria Math" panose="02040503050406030204" pitchFamily="18" charset="0"/>
                        </a:rPr>
                        <m:t>0</m:t>
                      </m:r>
                    </m:oMath>
                  </m:oMathPara>
                </a14:m>
                <a:endParaRPr/>
              </a:p>
            </p:txBody>
          </p:sp>
        </mc:Choice>
        <mc:Fallback xmlns="">
          <p:sp>
            <p:nvSpPr>
              <p:cNvPr id="38" name="TextBox 37">
                <a:extLst>
                  <a:ext uri="{FF2B5EF4-FFF2-40B4-BE49-F238E27FC236}">
                    <a16:creationId xmlns:a16="http://schemas.microsoft.com/office/drawing/2014/main" id="{3B8CDDDA-BEB5-7E6C-AAAB-B17E45935054}"/>
                  </a:ext>
                </a:extLst>
              </p:cNvPr>
              <p:cNvSpPr txBox="1">
                <a:spLocks noRot="1" noChangeAspect="1" noMove="1" noResize="1" noEditPoints="1" noAdjustHandles="1" noChangeArrowheads="1" noChangeShapeType="1" noTextEdit="1"/>
              </p:cNvSpPr>
              <p:nvPr/>
            </p:nvSpPr>
            <p:spPr>
              <a:xfrm>
                <a:off x="4361138" y="5651825"/>
                <a:ext cx="8229600" cy="391646"/>
              </a:xfrm>
              <a:prstGeom prst="rect">
                <a:avLst/>
              </a:prstGeom>
              <a:blipFill>
                <a:blip r:embed="rId11"/>
                <a:stretch>
                  <a:fillRect t="-9375" b="-171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79CF7848-11E1-48F4-7548-CAFB991BD733}"/>
                  </a:ext>
                </a:extLst>
              </p:cNvPr>
              <p:cNvSpPr txBox="1"/>
              <p:nvPr/>
            </p:nvSpPr>
            <p:spPr>
              <a:xfrm>
                <a:off x="4361138" y="6090504"/>
                <a:ext cx="8229600"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err="1">
                              <a:latin typeface="Cambria Math" panose="02040503050406030204" pitchFamily="18" charset="0"/>
                            </a:rPr>
                            <m:t>𝑖𝑗𝑡</m:t>
                          </m:r>
                        </m:sub>
                      </m:sSub>
                      <m:r>
                        <a:rPr lang="en-US" i="1" dirty="0">
                          <a:latin typeface="Cambria Math" panose="02040503050406030204" pitchFamily="18" charset="0"/>
                        </a:rPr>
                        <m:t>≤</m:t>
                      </m:r>
                      <m:sSub>
                        <m:sSubPr>
                          <m:ctrlPr>
                            <a:rPr lang="en-US" i="1" dirty="0" err="1">
                              <a:latin typeface="Cambria Math" panose="02040503050406030204" pitchFamily="18" charset="0"/>
                            </a:rPr>
                          </m:ctrlPr>
                        </m:sSubPr>
                        <m:e>
                          <m:r>
                            <a:rPr lang="en-US" i="1" dirty="0" err="1">
                              <a:latin typeface="Cambria Math" panose="02040503050406030204" pitchFamily="18" charset="0"/>
                            </a:rPr>
                            <m:t>𝑧</m:t>
                          </m:r>
                        </m:e>
                        <m:sub>
                          <m:r>
                            <a:rPr lang="en-US" i="1" dirty="0" err="1">
                              <a:latin typeface="Cambria Math" panose="02040503050406030204" pitchFamily="18" charset="0"/>
                            </a:rPr>
                            <m:t>𝑗</m:t>
                          </m:r>
                        </m:sub>
                      </m:sSub>
                    </m:oMath>
                  </m:oMathPara>
                </a14:m>
                <a:endParaRPr/>
              </a:p>
            </p:txBody>
          </p:sp>
        </mc:Choice>
        <mc:Fallback xmlns="">
          <p:sp>
            <p:nvSpPr>
              <p:cNvPr id="40" name="TextBox 39">
                <a:extLst>
                  <a:ext uri="{FF2B5EF4-FFF2-40B4-BE49-F238E27FC236}">
                    <a16:creationId xmlns:a16="http://schemas.microsoft.com/office/drawing/2014/main" id="{79CF7848-11E1-48F4-7548-CAFB991BD733}"/>
                  </a:ext>
                </a:extLst>
              </p:cNvPr>
              <p:cNvSpPr txBox="1">
                <a:spLocks noRot="1" noChangeAspect="1" noMove="1" noResize="1" noEditPoints="1" noAdjustHandles="1" noChangeArrowheads="1" noChangeShapeType="1" noTextEdit="1"/>
              </p:cNvSpPr>
              <p:nvPr/>
            </p:nvSpPr>
            <p:spPr>
              <a:xfrm>
                <a:off x="4361138" y="6090504"/>
                <a:ext cx="8229600" cy="391646"/>
              </a:xfrm>
              <a:prstGeom prst="rect">
                <a:avLst/>
              </a:prstGeom>
              <a:blipFill>
                <a:blip r:embed="rId12"/>
                <a:stretch>
                  <a:fillRect t="-9375" b="-171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A26F62E8-1B6E-2947-828E-C4B14B0A67F0}"/>
                  </a:ext>
                </a:extLst>
              </p:cNvPr>
              <p:cNvSpPr txBox="1"/>
              <p:nvPr/>
            </p:nvSpPr>
            <p:spPr>
              <a:xfrm>
                <a:off x="4310338" y="6544993"/>
                <a:ext cx="8229600"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𝑦</m:t>
                          </m:r>
                        </m:e>
                        <m:sub>
                          <m:r>
                            <a:rPr lang="en-US" i="1" dirty="0" err="1">
                              <a:latin typeface="Cambria Math" panose="02040503050406030204" pitchFamily="18" charset="0"/>
                            </a:rPr>
                            <m:t>𝑗𝑡</m:t>
                          </m:r>
                        </m:sub>
                      </m:sSub>
                      <m:r>
                        <a:rPr lang="en-US" i="1" dirty="0">
                          <a:latin typeface="Cambria Math" panose="02040503050406030204" pitchFamily="18" charset="0"/>
                        </a:rPr>
                        <m:t>≤</m:t>
                      </m:r>
                      <m:sSub>
                        <m:sSubPr>
                          <m:ctrlPr>
                            <a:rPr lang="en-US" i="1" dirty="0" err="1">
                              <a:latin typeface="Cambria Math" panose="02040503050406030204" pitchFamily="18" charset="0"/>
                            </a:rPr>
                          </m:ctrlPr>
                        </m:sSubPr>
                        <m:e>
                          <m:r>
                            <a:rPr lang="en-US" i="1" dirty="0" err="1">
                              <a:latin typeface="Cambria Math" panose="02040503050406030204" pitchFamily="18" charset="0"/>
                            </a:rPr>
                            <m:t>𝑧</m:t>
                          </m:r>
                        </m:e>
                        <m:sub>
                          <m:r>
                            <a:rPr lang="en-US" i="1" dirty="0" err="1">
                              <a:latin typeface="Cambria Math" panose="02040503050406030204" pitchFamily="18" charset="0"/>
                            </a:rPr>
                            <m:t>𝑗</m:t>
                          </m:r>
                        </m:sub>
                      </m:sSub>
                    </m:oMath>
                  </m:oMathPara>
                </a14:m>
                <a:endParaRPr/>
              </a:p>
            </p:txBody>
          </p:sp>
        </mc:Choice>
        <mc:Fallback xmlns="">
          <p:sp>
            <p:nvSpPr>
              <p:cNvPr id="42" name="TextBox 41">
                <a:extLst>
                  <a:ext uri="{FF2B5EF4-FFF2-40B4-BE49-F238E27FC236}">
                    <a16:creationId xmlns:a16="http://schemas.microsoft.com/office/drawing/2014/main" id="{A26F62E8-1B6E-2947-828E-C4B14B0A67F0}"/>
                  </a:ext>
                </a:extLst>
              </p:cNvPr>
              <p:cNvSpPr txBox="1">
                <a:spLocks noRot="1" noChangeAspect="1" noMove="1" noResize="1" noEditPoints="1" noAdjustHandles="1" noChangeArrowheads="1" noChangeShapeType="1" noTextEdit="1"/>
              </p:cNvSpPr>
              <p:nvPr/>
            </p:nvSpPr>
            <p:spPr>
              <a:xfrm>
                <a:off x="4310338" y="6544993"/>
                <a:ext cx="8229600" cy="391646"/>
              </a:xfrm>
              <a:prstGeom prst="rect">
                <a:avLst/>
              </a:prstGeom>
              <a:blipFill>
                <a:blip r:embed="rId13"/>
                <a:stretch>
                  <a:fillRect t="-10938" b="-171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30B204F-EE99-13FA-5792-ED7B5619BD9F}"/>
                  </a:ext>
                </a:extLst>
              </p:cNvPr>
              <p:cNvSpPr txBox="1"/>
              <p:nvPr/>
            </p:nvSpPr>
            <p:spPr>
              <a:xfrm>
                <a:off x="4340818" y="6947006"/>
                <a:ext cx="8229600" cy="47455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𝑝</m:t>
                          </m:r>
                        </m:e>
                        <m:sub>
                          <m:r>
                            <a:rPr lang="en-US" i="1" dirty="0" err="1">
                              <a:latin typeface="Cambria Math" panose="02040503050406030204" pitchFamily="18" charset="0"/>
                            </a:rPr>
                            <m:t>𝑗𝑡</m:t>
                          </m:r>
                        </m:sub>
                      </m:sSub>
                      <m:r>
                        <a:rPr lang="en-US" i="1" dirty="0">
                          <a:latin typeface="Cambria Math" panose="02040503050406030204" pitchFamily="18" charset="0"/>
                        </a:rPr>
                        <m:t>≤</m:t>
                      </m:r>
                      <m:sSub>
                        <m:sSubPr>
                          <m:ctrlPr>
                            <a:rPr lang="en-US" i="1" dirty="0" err="1">
                              <a:latin typeface="Cambria Math" panose="02040503050406030204" pitchFamily="18" charset="0"/>
                            </a:rPr>
                          </m:ctrlPr>
                        </m:sSubPr>
                        <m:e>
                          <m:r>
                            <a:rPr lang="en-US" i="1" dirty="0" err="1">
                              <a:latin typeface="Cambria Math" panose="02040503050406030204" pitchFamily="18" charset="0"/>
                            </a:rPr>
                            <m:t>𝑧</m:t>
                          </m:r>
                        </m:e>
                        <m:sub>
                          <m:r>
                            <a:rPr lang="en-US" i="1" dirty="0" err="1">
                              <a:latin typeface="Cambria Math" panose="02040503050406030204" pitchFamily="18" charset="0"/>
                            </a:rPr>
                            <m:t>𝑗</m:t>
                          </m:r>
                        </m:sub>
                      </m:sSub>
                      <m:func>
                        <m:funcPr>
                          <m:ctrlPr>
                            <a:rPr lang="en-US" i="1" dirty="0" err="1">
                              <a:latin typeface="Cambria Math" panose="02040503050406030204" pitchFamily="18" charset="0"/>
                            </a:rPr>
                          </m:ctrlPr>
                        </m:funcPr>
                        <m:fName>
                          <m:limLow>
                            <m:limLowPr>
                              <m:ctrlPr>
                                <a:rPr lang="en-US" i="1" dirty="0" err="1">
                                  <a:latin typeface="Cambria Math" panose="02040503050406030204" pitchFamily="18" charset="0"/>
                                </a:rPr>
                              </m:ctrlPr>
                            </m:limLowPr>
                            <m:e>
                              <m:r>
                                <m:rPr>
                                  <m:sty m:val="p"/>
                                </m:rPr>
                                <a:rPr lang="en-US" i="0" dirty="0" err="1">
                                  <a:latin typeface="Cambria Math" panose="02040503050406030204" pitchFamily="18" charset="0"/>
                                </a:rPr>
                                <m:t>max</m:t>
                              </m:r>
                            </m:e>
                            <m:lim>
                              <m:r>
                                <a:rPr lang="en-US" i="1" dirty="0" err="1">
                                  <a:latin typeface="Cambria Math" panose="02040503050406030204" pitchFamily="18" charset="0"/>
                                </a:rPr>
                                <m:t>𝑖</m:t>
                              </m:r>
                            </m:lim>
                          </m:limLow>
                        </m:fName>
                        <m:e>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𝛼</m:t>
                                  </m:r>
                                </m:e>
                                <m:sub>
                                  <m:r>
                                    <a:rPr lang="en-US" i="1" dirty="0" err="1">
                                      <a:latin typeface="Cambria Math" panose="02040503050406030204" pitchFamily="18" charset="0"/>
                                    </a:rPr>
                                    <m:t>𝑖𝑗𝑡</m:t>
                                  </m:r>
                                </m:sub>
                              </m:sSub>
                            </m:e>
                          </m:d>
                        </m:e>
                      </m:func>
                    </m:oMath>
                  </m:oMathPara>
                </a14:m>
                <a:endParaRPr/>
              </a:p>
            </p:txBody>
          </p:sp>
        </mc:Choice>
        <mc:Fallback xmlns="">
          <p:sp>
            <p:nvSpPr>
              <p:cNvPr id="44" name="TextBox 43">
                <a:extLst>
                  <a:ext uri="{FF2B5EF4-FFF2-40B4-BE49-F238E27FC236}">
                    <a16:creationId xmlns:a16="http://schemas.microsoft.com/office/drawing/2014/main" id="{730B204F-EE99-13FA-5792-ED7B5619BD9F}"/>
                  </a:ext>
                </a:extLst>
              </p:cNvPr>
              <p:cNvSpPr txBox="1">
                <a:spLocks noRot="1" noChangeAspect="1" noMove="1" noResize="1" noEditPoints="1" noAdjustHandles="1" noChangeArrowheads="1" noChangeShapeType="1" noTextEdit="1"/>
              </p:cNvSpPr>
              <p:nvPr/>
            </p:nvSpPr>
            <p:spPr>
              <a:xfrm>
                <a:off x="4340818" y="6947006"/>
                <a:ext cx="8229600" cy="474553"/>
              </a:xfrm>
              <a:prstGeom prst="rect">
                <a:avLst/>
              </a:prstGeom>
              <a:blipFill>
                <a:blip r:embed="rId14"/>
                <a:stretch>
                  <a:fillRect t="-5195" b="-25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B6A30F4-C6D8-189F-AC59-E3A7E8FB9EEE}"/>
                  </a:ext>
                </a:extLst>
              </p:cNvPr>
              <p:cNvSpPr txBox="1"/>
              <p:nvPr/>
            </p:nvSpPr>
            <p:spPr>
              <a:xfrm>
                <a:off x="4381458" y="7273550"/>
                <a:ext cx="8237220" cy="8485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1" dirty="0" err="1">
                              <a:latin typeface="Cambria Math" panose="02040503050406030204" pitchFamily="18" charset="0"/>
                            </a:rPr>
                            <m:t>𝑗𝑡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i="1" dirty="0" err="1">
                              <a:latin typeface="Cambria Math" panose="02040503050406030204" pitchFamily="18" charset="0"/>
                            </a:rPr>
                            <m:t>𝑗𝑡</m:t>
                          </m:r>
                        </m:sub>
                      </m:sSub>
                      <m:d>
                        <m:dPr>
                          <m:ctrlPr>
                            <a:rPr lang="en-US" i="1" dirty="0">
                              <a:latin typeface="Cambria Math" panose="02040503050406030204" pitchFamily="18" charset="0"/>
                            </a:rPr>
                          </m:ctrlPr>
                        </m:dPr>
                        <m:e>
                          <m:r>
                            <a:rPr lang="en-US" i="1" dirty="0">
                              <a:latin typeface="Cambria Math" panose="02040503050406030204" pitchFamily="18" charset="0"/>
                            </a:rPr>
                            <m:t>𝑇</m:t>
                          </m:r>
                          <m:r>
                            <a:rPr lang="en-US" i="1" dirty="0">
                              <a:latin typeface="Cambria Math" panose="02040503050406030204" pitchFamily="18" charset="0"/>
                            </a:rPr>
                            <m:t>−</m:t>
                          </m:r>
                          <m:r>
                            <a:rPr lang="en-US" i="1" dirty="0">
                              <a:latin typeface="Cambria Math" panose="02040503050406030204" pitchFamily="18" charset="0"/>
                            </a:rPr>
                            <m:t>𝑡</m:t>
                          </m:r>
                          <m:r>
                            <a:rPr lang="en-US" i="1" dirty="0">
                              <a:latin typeface="Cambria Math" panose="02040503050406030204" pitchFamily="18" charset="0"/>
                            </a:rPr>
                            <m:t>+</m:t>
                          </m:r>
                          <m:r>
                            <a:rPr lang="en-US" i="1" dirty="0">
                              <a:latin typeface="Cambria Math" panose="02040503050406030204" pitchFamily="18" charset="0"/>
                            </a:rPr>
                            <m:t>1</m:t>
                          </m:r>
                        </m:e>
                      </m:d>
                      <m:nary>
                        <m:naryPr>
                          <m:chr m:val="∑"/>
                          <m:ctrlPr>
                            <a:rPr lang="en-US" i="1" dirty="0">
                              <a:latin typeface="Cambria Math" panose="02040503050406030204" pitchFamily="18" charset="0"/>
                            </a:rPr>
                          </m:ctrlPr>
                        </m:naryPr>
                        <m:sub>
                          <m:r>
                            <a:rPr lang="en-US" i="1" dirty="0" err="1">
                              <a:latin typeface="Cambria Math" panose="02040503050406030204" pitchFamily="18" charset="0"/>
                            </a:rPr>
                            <m:t>𝑖</m:t>
                          </m:r>
                          <m:r>
                            <a:rPr lang="en-US" i="1" dirty="0">
                              <a:latin typeface="Cambria Math" panose="02040503050406030204" pitchFamily="18" charset="0"/>
                            </a:rPr>
                            <m:t>=</m:t>
                          </m:r>
                          <m:r>
                            <a:rPr lang="en-US" i="1" dirty="0">
                              <a:latin typeface="Cambria Math" panose="02040503050406030204" pitchFamily="18" charset="0"/>
                            </a:rPr>
                            <m:t>1</m:t>
                          </m:r>
                        </m:sub>
                        <m:sup>
                          <m:r>
                            <a:rPr lang="en-US" i="1" dirty="0">
                              <a:latin typeface="Cambria Math" panose="02040503050406030204" pitchFamily="18" charset="0"/>
                            </a:rPr>
                            <m:t>𝑚</m:t>
                          </m:r>
                        </m:sup>
                        <m:e>
                          <m:sSub>
                            <m:sSubPr>
                              <m:ctrlPr>
                                <a:rPr lang="en-US" i="1" dirty="0" err="1">
                                  <a:latin typeface="Cambria Math" panose="02040503050406030204" pitchFamily="18" charset="0"/>
                                </a:rPr>
                              </m:ctrlPr>
                            </m:sSubPr>
                            <m:e>
                              <m:r>
                                <a:rPr lang="en-US" i="1" dirty="0" err="1">
                                  <a:latin typeface="Cambria Math" panose="02040503050406030204" pitchFamily="18" charset="0"/>
                                </a:rPr>
                                <m:t>𝑠</m:t>
                              </m:r>
                            </m:e>
                            <m:sub>
                              <m:r>
                                <a:rPr lang="en-US" i="1" dirty="0" err="1">
                                  <a:latin typeface="Cambria Math" panose="02040503050406030204" pitchFamily="18" charset="0"/>
                                </a:rPr>
                                <m:t>𝑖</m:t>
                              </m:r>
                            </m:sub>
                          </m:sSub>
                        </m:e>
                      </m:nary>
                    </m:oMath>
                  </m:oMathPara>
                </a14:m>
                <a:endParaRPr/>
              </a:p>
            </p:txBody>
          </p:sp>
        </mc:Choice>
        <mc:Fallback xmlns="">
          <p:sp>
            <p:nvSpPr>
              <p:cNvPr id="46" name="TextBox 45">
                <a:extLst>
                  <a:ext uri="{FF2B5EF4-FFF2-40B4-BE49-F238E27FC236}">
                    <a16:creationId xmlns:a16="http://schemas.microsoft.com/office/drawing/2014/main" id="{9B6A30F4-C6D8-189F-AC59-E3A7E8FB9EEE}"/>
                  </a:ext>
                </a:extLst>
              </p:cNvPr>
              <p:cNvSpPr txBox="1">
                <a:spLocks noRot="1" noChangeAspect="1" noMove="1" noResize="1" noEditPoints="1" noAdjustHandles="1" noChangeArrowheads="1" noChangeShapeType="1" noTextEdit="1"/>
              </p:cNvSpPr>
              <p:nvPr/>
            </p:nvSpPr>
            <p:spPr>
              <a:xfrm>
                <a:off x="4381458" y="7273550"/>
                <a:ext cx="8237220" cy="84856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0A73547D-D8C4-63E3-B173-9F5F3586E7C7}"/>
                  </a:ext>
                </a:extLst>
              </p:cNvPr>
              <p:cNvSpPr txBox="1"/>
              <p:nvPr/>
            </p:nvSpPr>
            <p:spPr>
              <a:xfrm>
                <a:off x="4508500" y="8028372"/>
                <a:ext cx="8237220" cy="4031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𝑦</m:t>
                      </m:r>
                      <m:r>
                        <a:rPr lang="en-US" i="1" dirty="0" smtClean="0">
                          <a:latin typeface="Cambria Math" panose="02040503050406030204" pitchFamily="18" charset="0"/>
                        </a:rPr>
                        <m:t>,</m:t>
                      </m:r>
                      <m:r>
                        <a:rPr lang="en-US" i="1" dirty="0" smtClean="0">
                          <a:latin typeface="Cambria Math" panose="02040503050406030204" pitchFamily="18" charset="0"/>
                        </a:rPr>
                        <m:t>𝑧</m:t>
                      </m:r>
                      <m:r>
                        <a:rPr lang="en-US" i="1" dirty="0">
                          <a:latin typeface="Cambria Math" panose="02040503050406030204" pitchFamily="18" charset="0"/>
                        </a:rPr>
                        <m:t> ∈</m:t>
                      </m:r>
                      <m:r>
                        <m:rPr>
                          <m:lit/>
                        </m:rPr>
                        <a:rPr lang="en-US" i="1" dirty="0">
                          <a:latin typeface="Cambria Math" panose="02040503050406030204" pitchFamily="18" charset="0"/>
                        </a:rPr>
                        <m:t>{</m:t>
                      </m:r>
                      <m:r>
                        <a:rPr lang="en-US" i="1" dirty="0">
                          <a:latin typeface="Cambria Math" panose="02040503050406030204" pitchFamily="18" charset="0"/>
                        </a:rPr>
                        <m:t>0</m:t>
                      </m:r>
                      <m:r>
                        <a:rPr lang="en-US" i="1" dirty="0">
                          <a:latin typeface="Cambria Math" panose="02040503050406030204" pitchFamily="18" charset="0"/>
                        </a:rPr>
                        <m:t>,</m:t>
                      </m:r>
                      <m:r>
                        <a:rPr lang="en-US" i="1" dirty="0">
                          <a:latin typeface="Cambria Math" panose="02040503050406030204" pitchFamily="18" charset="0"/>
                        </a:rPr>
                        <m:t>1</m:t>
                      </m:r>
                      <m:r>
                        <m:rPr>
                          <m:lit/>
                        </m:rPr>
                        <a:rPr lang="en-US" i="1" dirty="0">
                          <a:latin typeface="Cambria Math" panose="02040503050406030204" pitchFamily="18" charset="0"/>
                        </a:rPr>
                        <m:t>}</m:t>
                      </m:r>
                      <m:r>
                        <a:rPr lang="en-US" i="1" dirty="0">
                          <a:latin typeface="Cambria Math" panose="02040503050406030204" pitchFamily="18" charset="0"/>
                        </a:rPr>
                        <m:t>,  </m:t>
                      </m:r>
                      <m:r>
                        <a:rPr lang="en-US" i="1" dirty="0" err="1">
                          <a:latin typeface="Cambria Math" panose="02040503050406030204" pitchFamily="18" charset="0"/>
                        </a:rPr>
                        <m:t>𝐼</m:t>
                      </m:r>
                      <m:r>
                        <a:rPr lang="en-US" i="1" dirty="0" err="1">
                          <a:latin typeface="Cambria Math" panose="02040503050406030204" pitchFamily="18" charset="0"/>
                        </a:rPr>
                        <m:t>,</m:t>
                      </m:r>
                      <m:r>
                        <a:rPr lang="en-US" i="1" dirty="0" err="1">
                          <a:latin typeface="Cambria Math" panose="02040503050406030204" pitchFamily="18" charset="0"/>
                        </a:rPr>
                        <m:t>𝑝</m:t>
                      </m:r>
                      <m:r>
                        <a:rPr lang="en-US" i="1" dirty="0" err="1">
                          <a:latin typeface="Cambria Math" panose="02040503050406030204" pitchFamily="18" charset="0"/>
                        </a:rPr>
                        <m:t>,</m:t>
                      </m:r>
                      <m:r>
                        <a:rPr lang="en-US" i="1" dirty="0" err="1">
                          <a:latin typeface="Cambria Math" panose="02040503050406030204" pitchFamily="18" charset="0"/>
                        </a:rPr>
                        <m:t>𝑢</m:t>
                      </m:r>
                      <m:r>
                        <a:rPr lang="en-US" i="1" dirty="0">
                          <a:latin typeface="Cambria Math" panose="02040503050406030204" pitchFamily="18" charset="0"/>
                        </a:rPr>
                        <m:t> ≥</m:t>
                      </m:r>
                      <m:r>
                        <a:rPr lang="en-US" i="1" dirty="0">
                          <a:latin typeface="Cambria Math" panose="02040503050406030204" pitchFamily="18" charset="0"/>
                        </a:rPr>
                        <m:t>0</m:t>
                      </m:r>
                    </m:oMath>
                  </m:oMathPara>
                </a14:m>
                <a:endParaRPr/>
              </a:p>
            </p:txBody>
          </p:sp>
        </mc:Choice>
        <mc:Fallback xmlns="">
          <p:sp>
            <p:nvSpPr>
              <p:cNvPr id="48" name="TextBox 47">
                <a:extLst>
                  <a:ext uri="{FF2B5EF4-FFF2-40B4-BE49-F238E27FC236}">
                    <a16:creationId xmlns:a16="http://schemas.microsoft.com/office/drawing/2014/main" id="{0A73547D-D8C4-63E3-B173-9F5F3586E7C7}"/>
                  </a:ext>
                </a:extLst>
              </p:cNvPr>
              <p:cNvSpPr txBox="1">
                <a:spLocks noRot="1" noChangeAspect="1" noMove="1" noResize="1" noEditPoints="1" noAdjustHandles="1" noChangeArrowheads="1" noChangeShapeType="1" noTextEdit="1"/>
              </p:cNvSpPr>
              <p:nvPr/>
            </p:nvSpPr>
            <p:spPr>
              <a:xfrm>
                <a:off x="4508500" y="8028372"/>
                <a:ext cx="8237220" cy="403124"/>
              </a:xfrm>
              <a:prstGeom prst="rect">
                <a:avLst/>
              </a:prstGeom>
              <a:blipFill>
                <a:blip r:embed="rId16"/>
                <a:stretch>
                  <a:fillRect t="-1515" b="-22727"/>
                </a:stretch>
              </a:blipFill>
            </p:spPr>
            <p:txBody>
              <a:bodyPr/>
              <a:lstStyle/>
              <a:p>
                <a:r>
                  <a:rPr lang="en-US">
                    <a:noFill/>
                  </a:rPr>
                  <a:t> </a:t>
                </a:r>
              </a:p>
            </p:txBody>
          </p:sp>
        </mc:Fallback>
      </mc:AlternateContent>
      <p:sp>
        <p:nvSpPr>
          <p:cNvPr id="50" name="TextBox 49">
            <a:extLst>
              <a:ext uri="{FF2B5EF4-FFF2-40B4-BE49-F238E27FC236}">
                <a16:creationId xmlns:a16="http://schemas.microsoft.com/office/drawing/2014/main" id="{8F60577F-8A76-6CC3-D572-9C64F7DE124F}"/>
              </a:ext>
            </a:extLst>
          </p:cNvPr>
          <p:cNvSpPr txBox="1"/>
          <p:nvPr/>
        </p:nvSpPr>
        <p:spPr>
          <a:xfrm>
            <a:off x="3336914" y="2060127"/>
            <a:ext cx="2363492" cy="417935"/>
          </a:xfrm>
          <a:prstGeom prst="rect">
            <a:avLst/>
          </a:prstGeom>
          <a:noFill/>
        </p:spPr>
        <p:txBody>
          <a:bodyPr wrap="square">
            <a:spAutoFit/>
          </a:bodyPr>
          <a:lstStyle/>
          <a:p>
            <a:pPr>
              <a:lnSpc>
                <a:spcPts val="2400"/>
              </a:lnSpc>
              <a:spcBef>
                <a:spcPts val="2400"/>
              </a:spcBef>
              <a:spcAft>
                <a:spcPts val="1200"/>
              </a:spcAft>
            </a:pPr>
            <a:r>
              <a:rPr lang="en-US" sz="1900" b="1" dirty="0">
                <a:solidFill>
                  <a:srgbClr val="1A4378"/>
                </a:solidFill>
                <a:latin typeface="Poppins"/>
              </a:rPr>
              <a:t>Utility</a:t>
            </a:r>
            <a:r>
              <a:rPr lang="zh-CN" altLang="en-US" sz="2400" b="1" dirty="0"/>
              <a:t> </a:t>
            </a:r>
            <a:r>
              <a:rPr lang="en-US" altLang="zh-CN" sz="1900" b="1" dirty="0">
                <a:solidFill>
                  <a:srgbClr val="1A4378"/>
                </a:solidFill>
                <a:latin typeface="Poppins"/>
              </a:rPr>
              <a:t>Choice</a:t>
            </a:r>
            <a:r>
              <a:rPr lang="en-US" sz="2400" b="1" dirty="0"/>
              <a:t>:</a:t>
            </a:r>
            <a:r>
              <a:rPr lang="en-US" sz="2400" dirty="0"/>
              <a:t> </a:t>
            </a:r>
            <a:endParaRPr lang="en-US" sz="2400" b="1" dirty="0">
              <a:solidFill>
                <a:srgbClr val="0F1115"/>
              </a:solidFill>
              <a:effectLst/>
              <a:latin typeface="quote-cjk-patch"/>
            </a:endParaRPr>
          </a:p>
        </p:txBody>
      </p:sp>
      <p:sp>
        <p:nvSpPr>
          <p:cNvPr id="51" name="TextBox 50">
            <a:extLst>
              <a:ext uri="{FF2B5EF4-FFF2-40B4-BE49-F238E27FC236}">
                <a16:creationId xmlns:a16="http://schemas.microsoft.com/office/drawing/2014/main" id="{CC0EE104-2A28-3B44-3FD1-9B37AC190617}"/>
              </a:ext>
            </a:extLst>
          </p:cNvPr>
          <p:cNvSpPr txBox="1"/>
          <p:nvPr/>
        </p:nvSpPr>
        <p:spPr>
          <a:xfrm>
            <a:off x="3045460" y="2851945"/>
            <a:ext cx="3038486" cy="404406"/>
          </a:xfrm>
          <a:prstGeom prst="rect">
            <a:avLst/>
          </a:prstGeom>
          <a:noFill/>
        </p:spPr>
        <p:txBody>
          <a:bodyPr wrap="square">
            <a:spAutoFit/>
          </a:bodyPr>
          <a:lstStyle/>
          <a:p>
            <a:pPr>
              <a:lnSpc>
                <a:spcPts val="2400"/>
              </a:lnSpc>
              <a:spcBef>
                <a:spcPts val="2400"/>
              </a:spcBef>
              <a:spcAft>
                <a:spcPts val="1200"/>
              </a:spcAft>
            </a:pPr>
            <a:r>
              <a:rPr lang="en-US" sz="1900" b="1" dirty="0">
                <a:solidFill>
                  <a:srgbClr val="1A4378"/>
                </a:solidFill>
                <a:latin typeface="Poppins"/>
              </a:rPr>
              <a:t>Non-Negative Utility: </a:t>
            </a:r>
          </a:p>
        </p:txBody>
      </p:sp>
      <p:sp>
        <p:nvSpPr>
          <p:cNvPr id="52" name="TextBox 51">
            <a:extLst>
              <a:ext uri="{FF2B5EF4-FFF2-40B4-BE49-F238E27FC236}">
                <a16:creationId xmlns:a16="http://schemas.microsoft.com/office/drawing/2014/main" id="{609BA2C8-C787-01DF-E07E-7D86F0155137}"/>
              </a:ext>
            </a:extLst>
          </p:cNvPr>
          <p:cNvSpPr txBox="1"/>
          <p:nvPr/>
        </p:nvSpPr>
        <p:spPr>
          <a:xfrm>
            <a:off x="2641600" y="3599043"/>
            <a:ext cx="4015740" cy="404406"/>
          </a:xfrm>
          <a:prstGeom prst="rect">
            <a:avLst/>
          </a:prstGeom>
          <a:noFill/>
        </p:spPr>
        <p:txBody>
          <a:bodyPr wrap="square">
            <a:spAutoFit/>
          </a:bodyPr>
          <a:lstStyle/>
          <a:p>
            <a:pPr>
              <a:lnSpc>
                <a:spcPts val="2400"/>
              </a:lnSpc>
              <a:spcBef>
                <a:spcPts val="2400"/>
              </a:spcBef>
              <a:spcAft>
                <a:spcPts val="1200"/>
              </a:spcAft>
            </a:pPr>
            <a:r>
              <a:rPr lang="en-US" sz="1900" b="1" dirty="0">
                <a:solidFill>
                  <a:srgbClr val="1A4378"/>
                </a:solidFill>
                <a:latin typeface="Poppins"/>
              </a:rPr>
              <a:t>Single Choice per Customer: </a:t>
            </a:r>
          </a:p>
        </p:txBody>
      </p:sp>
      <p:sp>
        <p:nvSpPr>
          <p:cNvPr id="53" name="TextBox 52">
            <a:extLst>
              <a:ext uri="{FF2B5EF4-FFF2-40B4-BE49-F238E27FC236}">
                <a16:creationId xmlns:a16="http://schemas.microsoft.com/office/drawing/2014/main" id="{71DA987F-9958-BA99-CBA1-6E743A8FB8B3}"/>
              </a:ext>
            </a:extLst>
          </p:cNvPr>
          <p:cNvSpPr txBox="1"/>
          <p:nvPr/>
        </p:nvSpPr>
        <p:spPr>
          <a:xfrm>
            <a:off x="3065780" y="4359852"/>
            <a:ext cx="4015740" cy="404406"/>
          </a:xfrm>
          <a:prstGeom prst="rect">
            <a:avLst/>
          </a:prstGeom>
          <a:noFill/>
        </p:spPr>
        <p:txBody>
          <a:bodyPr wrap="square">
            <a:spAutoFit/>
          </a:bodyPr>
          <a:lstStyle/>
          <a:p>
            <a:pPr>
              <a:lnSpc>
                <a:spcPts val="2400"/>
              </a:lnSpc>
              <a:spcBef>
                <a:spcPts val="2400"/>
              </a:spcBef>
              <a:spcAft>
                <a:spcPts val="1200"/>
              </a:spcAft>
            </a:pPr>
            <a:r>
              <a:rPr lang="en-US" sz="1900" b="1" dirty="0">
                <a:solidFill>
                  <a:srgbClr val="1A4378"/>
                </a:solidFill>
                <a:latin typeface="Poppins"/>
              </a:rPr>
              <a:t>Demand Definition: </a:t>
            </a:r>
          </a:p>
        </p:txBody>
      </p:sp>
      <p:sp>
        <p:nvSpPr>
          <p:cNvPr id="54" name="TextBox 53">
            <a:extLst>
              <a:ext uri="{FF2B5EF4-FFF2-40B4-BE49-F238E27FC236}">
                <a16:creationId xmlns:a16="http://schemas.microsoft.com/office/drawing/2014/main" id="{0860E922-49D5-750F-0566-6DD555D68ED7}"/>
              </a:ext>
            </a:extLst>
          </p:cNvPr>
          <p:cNvSpPr txBox="1"/>
          <p:nvPr/>
        </p:nvSpPr>
        <p:spPr>
          <a:xfrm>
            <a:off x="3175000" y="5125662"/>
            <a:ext cx="4015740" cy="404406"/>
          </a:xfrm>
          <a:prstGeom prst="rect">
            <a:avLst/>
          </a:prstGeom>
          <a:noFill/>
        </p:spPr>
        <p:txBody>
          <a:bodyPr wrap="square">
            <a:spAutoFit/>
          </a:bodyPr>
          <a:lstStyle/>
          <a:p>
            <a:pPr>
              <a:lnSpc>
                <a:spcPts val="2400"/>
              </a:lnSpc>
              <a:spcBef>
                <a:spcPts val="2400"/>
              </a:spcBef>
              <a:spcAft>
                <a:spcPts val="1200"/>
              </a:spcAft>
            </a:pPr>
            <a:r>
              <a:rPr lang="en-US" sz="1900" b="1" dirty="0">
                <a:solidFill>
                  <a:srgbClr val="1A4378"/>
                </a:solidFill>
                <a:latin typeface="Poppins"/>
              </a:rPr>
              <a:t>Inventory Balance: </a:t>
            </a:r>
          </a:p>
        </p:txBody>
      </p:sp>
      <p:sp>
        <p:nvSpPr>
          <p:cNvPr id="55" name="TextBox 54">
            <a:extLst>
              <a:ext uri="{FF2B5EF4-FFF2-40B4-BE49-F238E27FC236}">
                <a16:creationId xmlns:a16="http://schemas.microsoft.com/office/drawing/2014/main" id="{FFFF89EB-EA81-E638-FDEA-3705ABFBAA36}"/>
              </a:ext>
            </a:extLst>
          </p:cNvPr>
          <p:cNvSpPr txBox="1"/>
          <p:nvPr/>
        </p:nvSpPr>
        <p:spPr>
          <a:xfrm>
            <a:off x="2677160" y="5658205"/>
            <a:ext cx="4015740" cy="404406"/>
          </a:xfrm>
          <a:prstGeom prst="rect">
            <a:avLst/>
          </a:prstGeom>
          <a:noFill/>
        </p:spPr>
        <p:txBody>
          <a:bodyPr wrap="square">
            <a:spAutoFit/>
          </a:bodyPr>
          <a:lstStyle/>
          <a:p>
            <a:pPr>
              <a:lnSpc>
                <a:spcPts val="2400"/>
              </a:lnSpc>
              <a:spcBef>
                <a:spcPts val="2400"/>
              </a:spcBef>
              <a:spcAft>
                <a:spcPts val="1200"/>
              </a:spcAft>
            </a:pPr>
            <a:r>
              <a:rPr lang="en-US" sz="1900" b="1" dirty="0">
                <a:solidFill>
                  <a:srgbClr val="1A4378"/>
                </a:solidFill>
                <a:latin typeface="Poppins"/>
              </a:rPr>
              <a:t>No Initial/Final Inventory: </a:t>
            </a:r>
          </a:p>
        </p:txBody>
      </p:sp>
      <p:sp>
        <p:nvSpPr>
          <p:cNvPr id="56" name="TextBox 55">
            <a:extLst>
              <a:ext uri="{FF2B5EF4-FFF2-40B4-BE49-F238E27FC236}">
                <a16:creationId xmlns:a16="http://schemas.microsoft.com/office/drawing/2014/main" id="{7FD9FBE0-61DB-5B5C-D6CD-61C05A5933FF}"/>
              </a:ext>
            </a:extLst>
          </p:cNvPr>
          <p:cNvSpPr txBox="1"/>
          <p:nvPr/>
        </p:nvSpPr>
        <p:spPr>
          <a:xfrm>
            <a:off x="2677160" y="6100538"/>
            <a:ext cx="4015740" cy="404406"/>
          </a:xfrm>
          <a:prstGeom prst="rect">
            <a:avLst/>
          </a:prstGeom>
          <a:noFill/>
        </p:spPr>
        <p:txBody>
          <a:bodyPr wrap="square">
            <a:spAutoFit/>
          </a:bodyPr>
          <a:lstStyle/>
          <a:p>
            <a:pPr>
              <a:lnSpc>
                <a:spcPts val="2400"/>
              </a:lnSpc>
              <a:spcBef>
                <a:spcPts val="2400"/>
              </a:spcBef>
              <a:spcAft>
                <a:spcPts val="1200"/>
              </a:spcAft>
            </a:pPr>
            <a:r>
              <a:rPr lang="en-US" sz="1900" b="1" dirty="0">
                <a:solidFill>
                  <a:srgbClr val="1A4378"/>
                </a:solidFill>
                <a:latin typeface="Poppins"/>
              </a:rPr>
              <a:t>Choice Requires Offering: </a:t>
            </a:r>
          </a:p>
        </p:txBody>
      </p:sp>
      <p:sp>
        <p:nvSpPr>
          <p:cNvPr id="57" name="TextBox 56">
            <a:extLst>
              <a:ext uri="{FF2B5EF4-FFF2-40B4-BE49-F238E27FC236}">
                <a16:creationId xmlns:a16="http://schemas.microsoft.com/office/drawing/2014/main" id="{9B452EA0-D346-2553-0A68-02C0858FB60E}"/>
              </a:ext>
            </a:extLst>
          </p:cNvPr>
          <p:cNvSpPr txBox="1"/>
          <p:nvPr/>
        </p:nvSpPr>
        <p:spPr>
          <a:xfrm>
            <a:off x="2741306" y="6512375"/>
            <a:ext cx="4015740" cy="404406"/>
          </a:xfrm>
          <a:prstGeom prst="rect">
            <a:avLst/>
          </a:prstGeom>
          <a:noFill/>
        </p:spPr>
        <p:txBody>
          <a:bodyPr wrap="square">
            <a:spAutoFit/>
          </a:bodyPr>
          <a:lstStyle/>
          <a:p>
            <a:pPr>
              <a:lnSpc>
                <a:spcPts val="2400"/>
              </a:lnSpc>
              <a:spcBef>
                <a:spcPts val="2400"/>
              </a:spcBef>
              <a:spcAft>
                <a:spcPts val="1200"/>
              </a:spcAft>
            </a:pPr>
            <a:r>
              <a:rPr lang="en-US" sz="1900" b="1" dirty="0">
                <a:solidFill>
                  <a:srgbClr val="1A4378"/>
                </a:solidFill>
                <a:latin typeface="Poppins"/>
              </a:rPr>
              <a:t>Setup Requires Offering: </a:t>
            </a:r>
          </a:p>
        </p:txBody>
      </p:sp>
      <p:sp>
        <p:nvSpPr>
          <p:cNvPr id="58" name="TextBox 57">
            <a:extLst>
              <a:ext uri="{FF2B5EF4-FFF2-40B4-BE49-F238E27FC236}">
                <a16:creationId xmlns:a16="http://schemas.microsoft.com/office/drawing/2014/main" id="{C9ADA150-A31C-44FC-CA0E-CBE8A37B1147}"/>
              </a:ext>
            </a:extLst>
          </p:cNvPr>
          <p:cNvSpPr txBox="1"/>
          <p:nvPr/>
        </p:nvSpPr>
        <p:spPr>
          <a:xfrm>
            <a:off x="3045460" y="6971500"/>
            <a:ext cx="4015740" cy="404406"/>
          </a:xfrm>
          <a:prstGeom prst="rect">
            <a:avLst/>
          </a:prstGeom>
          <a:noFill/>
        </p:spPr>
        <p:txBody>
          <a:bodyPr wrap="square">
            <a:spAutoFit/>
          </a:bodyPr>
          <a:lstStyle/>
          <a:p>
            <a:pPr>
              <a:lnSpc>
                <a:spcPts val="2400"/>
              </a:lnSpc>
              <a:spcBef>
                <a:spcPts val="2400"/>
              </a:spcBef>
              <a:spcAft>
                <a:spcPts val="1200"/>
              </a:spcAft>
            </a:pPr>
            <a:r>
              <a:rPr lang="en-US" sz="1900" b="1" dirty="0">
                <a:solidFill>
                  <a:srgbClr val="1A4378"/>
                </a:solidFill>
                <a:latin typeface="Poppins"/>
              </a:rPr>
              <a:t>Price Upper Bound: </a:t>
            </a:r>
          </a:p>
        </p:txBody>
      </p:sp>
      <p:sp>
        <p:nvSpPr>
          <p:cNvPr id="59" name="TextBox 58">
            <a:extLst>
              <a:ext uri="{FF2B5EF4-FFF2-40B4-BE49-F238E27FC236}">
                <a16:creationId xmlns:a16="http://schemas.microsoft.com/office/drawing/2014/main" id="{3D1BD85C-1230-E491-CA80-0D20DC094CF3}"/>
              </a:ext>
            </a:extLst>
          </p:cNvPr>
          <p:cNvSpPr txBox="1"/>
          <p:nvPr/>
        </p:nvSpPr>
        <p:spPr>
          <a:xfrm>
            <a:off x="3018166" y="7505978"/>
            <a:ext cx="4015740" cy="404406"/>
          </a:xfrm>
          <a:prstGeom prst="rect">
            <a:avLst/>
          </a:prstGeom>
          <a:noFill/>
        </p:spPr>
        <p:txBody>
          <a:bodyPr wrap="square">
            <a:spAutoFit/>
          </a:bodyPr>
          <a:lstStyle/>
          <a:p>
            <a:pPr>
              <a:lnSpc>
                <a:spcPts val="2400"/>
              </a:lnSpc>
              <a:spcBef>
                <a:spcPts val="2400"/>
              </a:spcBef>
              <a:spcAft>
                <a:spcPts val="1200"/>
              </a:spcAft>
            </a:pPr>
            <a:r>
              <a:rPr lang="en-US" sz="1900" b="1" dirty="0">
                <a:solidFill>
                  <a:srgbClr val="1A4378"/>
                </a:solidFill>
                <a:latin typeface="Poppins"/>
              </a:rPr>
              <a:t>Production Capacity: </a:t>
            </a:r>
          </a:p>
        </p:txBody>
      </p:sp>
      <p:sp>
        <p:nvSpPr>
          <p:cNvPr id="60" name="TextBox 59">
            <a:extLst>
              <a:ext uri="{FF2B5EF4-FFF2-40B4-BE49-F238E27FC236}">
                <a16:creationId xmlns:a16="http://schemas.microsoft.com/office/drawing/2014/main" id="{155DB430-8E1A-37BD-20C1-64585A901486}"/>
              </a:ext>
            </a:extLst>
          </p:cNvPr>
          <p:cNvSpPr txBox="1"/>
          <p:nvPr/>
        </p:nvSpPr>
        <p:spPr>
          <a:xfrm>
            <a:off x="3175000" y="7994803"/>
            <a:ext cx="4015740" cy="404406"/>
          </a:xfrm>
          <a:prstGeom prst="rect">
            <a:avLst/>
          </a:prstGeom>
          <a:noFill/>
        </p:spPr>
        <p:txBody>
          <a:bodyPr wrap="square">
            <a:spAutoFit/>
          </a:bodyPr>
          <a:lstStyle/>
          <a:p>
            <a:pPr>
              <a:lnSpc>
                <a:spcPts val="2400"/>
              </a:lnSpc>
              <a:spcBef>
                <a:spcPts val="2400"/>
              </a:spcBef>
              <a:spcAft>
                <a:spcPts val="1200"/>
              </a:spcAft>
            </a:pPr>
            <a:r>
              <a:rPr lang="en-US" sz="1900" b="1" dirty="0">
                <a:solidFill>
                  <a:srgbClr val="1A4378"/>
                </a:solidFill>
                <a:latin typeface="Poppins"/>
              </a:rPr>
              <a:t>Variable Domains: </a:t>
            </a:r>
          </a:p>
        </p:txBody>
      </p:sp>
    </p:spTree>
    <p:extLst>
      <p:ext uri="{BB962C8B-B14F-4D97-AF65-F5344CB8AC3E}">
        <p14:creationId xmlns:p14="http://schemas.microsoft.com/office/powerpoint/2010/main" val="2118161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B955E-3FF7-F6E1-0738-C84C04EF0D4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D75C347-F6B7-16AD-FF53-47036635CB16}"/>
              </a:ext>
            </a:extLst>
          </p:cNvPr>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a:extLst>
              <a:ext uri="{FF2B5EF4-FFF2-40B4-BE49-F238E27FC236}">
                <a16:creationId xmlns:a16="http://schemas.microsoft.com/office/drawing/2014/main" id="{0378F2F0-9628-2930-D919-D3B1B526F90F}"/>
              </a:ext>
            </a:extLst>
          </p:cNvPr>
          <p:cNvPicPr>
            <a:picLocks noChangeAspect="1"/>
          </p:cNvPicPr>
          <p:nvPr/>
        </p:nvPicPr>
        <p:blipFill>
          <a:blip r:embed="rId3"/>
          <a:srcRect/>
          <a:stretch>
            <a:fillRect/>
          </a:stretch>
        </p:blipFill>
        <p:spPr>
          <a:xfrm>
            <a:off x="-27898" y="0"/>
            <a:ext cx="16256000" cy="9144000"/>
          </a:xfrm>
          <a:prstGeom prst="rect">
            <a:avLst/>
          </a:prstGeom>
        </p:spPr>
      </p:pic>
      <p:sp>
        <p:nvSpPr>
          <p:cNvPr id="11" name="TextBox 11">
            <a:extLst>
              <a:ext uri="{FF2B5EF4-FFF2-40B4-BE49-F238E27FC236}">
                <a16:creationId xmlns:a16="http://schemas.microsoft.com/office/drawing/2014/main" id="{F8E964F7-C266-B9E5-6F19-268D6BDC9B34}"/>
              </a:ext>
            </a:extLst>
          </p:cNvPr>
          <p:cNvSpPr txBox="1"/>
          <p:nvPr/>
        </p:nvSpPr>
        <p:spPr>
          <a:xfrm>
            <a:off x="203200" y="304800"/>
            <a:ext cx="14490700" cy="584200"/>
          </a:xfrm>
          <a:prstGeom prst="rect">
            <a:avLst/>
          </a:prstGeom>
          <a:solidFill>
            <a:srgbClr val="000000">
              <a:alpha val="0"/>
            </a:srgbClr>
          </a:solidFill>
        </p:spPr>
        <p:txBody>
          <a:bodyPr lIns="0" tIns="0" rIns="0" bIns="0" rtlCol="0" anchor="ctr"/>
          <a:lstStyle/>
          <a:p>
            <a:pPr indent="0" algn="l">
              <a:lnSpc>
                <a:spcPct val="119999"/>
              </a:lnSpc>
              <a:defRPr/>
            </a:pPr>
            <a:r>
              <a:rPr lang="en-US" sz="3900" b="1" dirty="0">
                <a:solidFill>
                  <a:srgbClr val="1A4378"/>
                </a:solidFill>
                <a:latin typeface="Poppins"/>
              </a:rPr>
              <a:t>Mathematical Modeling-MIP</a:t>
            </a:r>
            <a:endParaRPr lang="en-US" sz="1100" dirty="0"/>
          </a:p>
        </p:txBody>
      </p:sp>
      <p:pic>
        <p:nvPicPr>
          <p:cNvPr id="18" name="Picture 18">
            <a:extLst>
              <a:ext uri="{FF2B5EF4-FFF2-40B4-BE49-F238E27FC236}">
                <a16:creationId xmlns:a16="http://schemas.microsoft.com/office/drawing/2014/main" id="{C6776586-C31F-F4D1-4120-BC3EB505D070}"/>
              </a:ext>
            </a:extLst>
          </p:cNvPr>
          <p:cNvPicPr>
            <a:picLocks noChangeAspect="1"/>
          </p:cNvPicPr>
          <p:nvPr/>
        </p:nvPicPr>
        <p:blipFill>
          <a:blip r:embed="rId4"/>
          <a:srcRect/>
          <a:stretch>
            <a:fillRect/>
          </a:stretch>
        </p:blipFill>
        <p:spPr>
          <a:xfrm>
            <a:off x="1384300" y="3136900"/>
            <a:ext cx="241300" cy="241300"/>
          </a:xfrm>
          <a:prstGeom prst="rect">
            <a:avLst/>
          </a:prstGeom>
        </p:spPr>
      </p:pic>
      <p:sp>
        <p:nvSpPr>
          <p:cNvPr id="22" name="TextBox 21">
            <a:extLst>
              <a:ext uri="{FF2B5EF4-FFF2-40B4-BE49-F238E27FC236}">
                <a16:creationId xmlns:a16="http://schemas.microsoft.com/office/drawing/2014/main" id="{A5A85339-A04C-394F-D7D5-05F6C83D7C3C}"/>
              </a:ext>
            </a:extLst>
          </p:cNvPr>
          <p:cNvSpPr txBox="1"/>
          <p:nvPr/>
        </p:nvSpPr>
        <p:spPr>
          <a:xfrm>
            <a:off x="3018166" y="1269229"/>
            <a:ext cx="3177540" cy="391389"/>
          </a:xfrm>
          <a:prstGeom prst="rect">
            <a:avLst/>
          </a:prstGeom>
          <a:noFill/>
        </p:spPr>
        <p:txBody>
          <a:bodyPr wrap="square">
            <a:spAutoFit/>
          </a:bodyPr>
          <a:lstStyle/>
          <a:p>
            <a:pPr>
              <a:lnSpc>
                <a:spcPts val="2400"/>
              </a:lnSpc>
              <a:spcBef>
                <a:spcPts val="2400"/>
              </a:spcBef>
              <a:spcAft>
                <a:spcPts val="1200"/>
              </a:spcAft>
            </a:pPr>
            <a:r>
              <a:rPr lang="en-US" sz="1900" b="1" dirty="0">
                <a:solidFill>
                  <a:srgbClr val="1A4378"/>
                </a:solidFill>
                <a:latin typeface="Poppins"/>
              </a:rPr>
              <a:t>Auxiliary Variables</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4ED2E70-B4CA-8D07-DD3C-0E9E9633DE46}"/>
                  </a:ext>
                </a:extLst>
              </p:cNvPr>
              <p:cNvSpPr txBox="1"/>
              <p:nvPr/>
            </p:nvSpPr>
            <p:spPr>
              <a:xfrm>
                <a:off x="3731718" y="837418"/>
                <a:ext cx="8736768" cy="1244956"/>
              </a:xfrm>
              <a:prstGeom prst="rect">
                <a:avLst/>
              </a:prstGeom>
              <a:noFill/>
            </p:spPr>
            <p:txBody>
              <a:bodyPr wrap="square">
                <a:spAutoFit/>
              </a:bodyPr>
              <a:lstStyle/>
              <a:p>
                <a:endParaRPr/>
              </a:p>
              <a:p>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pl-PL" i="1" dirty="0" smtClean="0">
                              <a:latin typeface="Cambria Math" panose="02040503050406030204" pitchFamily="18" charset="0"/>
                            </a:rPr>
                          </m:ctrlPr>
                        </m:sSubPr>
                        <m:e>
                          <m:r>
                            <a:rPr lang="pl-PL" i="1" dirty="0">
                              <a:latin typeface="Cambria Math" panose="02040503050406030204" pitchFamily="18" charset="0"/>
                            </a:rPr>
                            <m:t>𝑤</m:t>
                          </m:r>
                        </m:e>
                        <m:sub>
                          <m:r>
                            <a:rPr lang="pl-PL" i="1" dirty="0">
                              <a:latin typeface="Cambria Math" panose="02040503050406030204" pitchFamily="18" charset="0"/>
                            </a:rPr>
                            <m:t>𝑗𝑡</m:t>
                          </m:r>
                        </m:sub>
                      </m:sSub>
                      <m:r>
                        <a:rPr lang="pl-PL" i="1" dirty="0">
                          <a:latin typeface="Cambria Math" panose="02040503050406030204" pitchFamily="18" charset="0"/>
                        </a:rPr>
                        <m:t>=</m:t>
                      </m:r>
                      <m:sSub>
                        <m:sSubPr>
                          <m:ctrlPr>
                            <a:rPr lang="pl-PL" i="1" dirty="0">
                              <a:latin typeface="Cambria Math" panose="02040503050406030204" pitchFamily="18" charset="0"/>
                            </a:rPr>
                          </m:ctrlPr>
                        </m:sSubPr>
                        <m:e>
                          <m:r>
                            <a:rPr lang="pl-PL" i="1" dirty="0">
                              <a:latin typeface="Cambria Math" panose="02040503050406030204" pitchFamily="18" charset="0"/>
                            </a:rPr>
                            <m:t>𝑝</m:t>
                          </m:r>
                        </m:e>
                        <m:sub>
                          <m:r>
                            <a:rPr lang="pl-PL" i="1" dirty="0">
                              <a:latin typeface="Cambria Math" panose="02040503050406030204" pitchFamily="18" charset="0"/>
                            </a:rPr>
                            <m:t>𝑗𝑡</m:t>
                          </m:r>
                        </m:sub>
                      </m:sSub>
                      <m:sSub>
                        <m:sSubPr>
                          <m:ctrlPr>
                            <a:rPr lang="pl-PL" i="1" dirty="0">
                              <a:latin typeface="Cambria Math" panose="02040503050406030204" pitchFamily="18" charset="0"/>
                            </a:rPr>
                          </m:ctrlPr>
                        </m:sSubPr>
                        <m:e>
                          <m:r>
                            <a:rPr lang="pl-PL" i="1" dirty="0">
                              <a:latin typeface="Cambria Math" panose="02040503050406030204" pitchFamily="18" charset="0"/>
                            </a:rPr>
                            <m:t>𝑧</m:t>
                          </m:r>
                        </m:e>
                        <m:sub>
                          <m:r>
                            <a:rPr lang="pl-PL" i="1" dirty="0">
                              <a:latin typeface="Cambria Math" panose="02040503050406030204" pitchFamily="18" charset="0"/>
                            </a:rPr>
                            <m:t>𝑗</m:t>
                          </m:r>
                        </m:sub>
                      </m:sSub>
                      <m:r>
                        <a:rPr lang="pl-PL" i="1" dirty="0">
                          <a:latin typeface="Cambria Math" panose="02040503050406030204" pitchFamily="18" charset="0"/>
                        </a:rPr>
                        <m:t>,∀</m:t>
                      </m:r>
                      <m:r>
                        <a:rPr lang="pl-PL" i="1" dirty="0">
                          <a:latin typeface="Cambria Math" panose="02040503050406030204" pitchFamily="18" charset="0"/>
                        </a:rPr>
                        <m:t>𝑗</m:t>
                      </m:r>
                      <m:r>
                        <a:rPr lang="pl-PL" i="1" dirty="0">
                          <a:latin typeface="Cambria Math" panose="02040503050406030204" pitchFamily="18" charset="0"/>
                        </a:rPr>
                        <m:t>,</m:t>
                      </m:r>
                      <m:r>
                        <a:rPr lang="pl-PL" i="1" dirty="0">
                          <a:latin typeface="Cambria Math" panose="02040503050406030204" pitchFamily="18" charset="0"/>
                        </a:rPr>
                        <m:t>𝑡</m:t>
                      </m:r>
                    </m:oMath>
                  </m:oMathPara>
                </a14:m>
                <a:endParaRPr lang="en-US" i="1" dirty="0">
                  <a:latin typeface="Cambria Math" panose="02040503050406030204" pitchFamily="18" charset="0"/>
                </a:endParaRPr>
              </a:p>
              <a:p>
                <a:endParaRPr lang="en-US" i="1" dirty="0">
                  <a:latin typeface="Cambria Math" panose="02040503050406030204" pitchFamily="18" charset="0"/>
                </a:endParaRPr>
              </a:p>
            </p:txBody>
          </p:sp>
        </mc:Choice>
        <mc:Fallback xmlns="">
          <p:sp>
            <p:nvSpPr>
              <p:cNvPr id="26" name="TextBox 25">
                <a:extLst>
                  <a:ext uri="{FF2B5EF4-FFF2-40B4-BE49-F238E27FC236}">
                    <a16:creationId xmlns:a16="http://schemas.microsoft.com/office/drawing/2014/main" id="{C4ED2E70-B4CA-8D07-DD3C-0E9E9633DE46}"/>
                  </a:ext>
                </a:extLst>
              </p:cNvPr>
              <p:cNvSpPr txBox="1">
                <a:spLocks noRot="1" noChangeAspect="1" noMove="1" noResize="1" noEditPoints="1" noAdjustHandles="1" noChangeArrowheads="1" noChangeShapeType="1" noTextEdit="1"/>
              </p:cNvSpPr>
              <p:nvPr/>
            </p:nvSpPr>
            <p:spPr>
              <a:xfrm>
                <a:off x="3731718" y="837418"/>
                <a:ext cx="8736768" cy="1244956"/>
              </a:xfrm>
              <a:prstGeom prst="rect">
                <a:avLst/>
              </a:prstGeom>
              <a:blipFill>
                <a:blip r:embed="rId5"/>
                <a:stretch>
                  <a:fillRect l="-558" t="-2927" b="-63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50BD660-6116-EA99-BCA6-DAE0C1400DED}"/>
                  </a:ext>
                </a:extLst>
              </p:cNvPr>
              <p:cNvSpPr txBox="1"/>
              <p:nvPr/>
            </p:nvSpPr>
            <p:spPr>
              <a:xfrm>
                <a:off x="4252835" y="1816796"/>
                <a:ext cx="8229600" cy="4240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l-GR" i="1" dirty="0" smtClean="0">
                              <a:latin typeface="Cambria Math" panose="02040503050406030204" pitchFamily="18" charset="0"/>
                            </a:rPr>
                          </m:ctrlPr>
                        </m:sSubSupPr>
                        <m:e>
                          <m:r>
                            <m:rPr>
                              <m:sty m:val="p"/>
                            </m:rPr>
                            <a:rPr lang="el-GR" i="0" dirty="0" smtClean="0">
                              <a:latin typeface="Cambria Math" panose="02040503050406030204" pitchFamily="18" charset="0"/>
                            </a:rPr>
                            <m:t>Σ</m:t>
                          </m:r>
                        </m:e>
                        <m:sub>
                          <m:r>
                            <a:rPr lang="en-US" i="1" dirty="0">
                              <a:latin typeface="Cambria Math" panose="02040503050406030204" pitchFamily="18" charset="0"/>
                            </a:rPr>
                            <m:t>𝑡</m:t>
                          </m:r>
                          <m:r>
                            <a:rPr lang="en-US" i="1" dirty="0">
                              <a:latin typeface="Cambria Math" panose="02040503050406030204" pitchFamily="18" charset="0"/>
                            </a:rPr>
                            <m:t>=1</m:t>
                          </m:r>
                        </m:sub>
                        <m:sup>
                          <m:r>
                            <a:rPr lang="en-US" i="1" dirty="0">
                              <a:latin typeface="Cambria Math" panose="02040503050406030204" pitchFamily="18" charset="0"/>
                            </a:rPr>
                            <m:t>𝑇</m:t>
                          </m:r>
                        </m:sup>
                      </m:sSubSup>
                      <m:sSubSup>
                        <m:sSubSupPr>
                          <m:ctrlPr>
                            <a:rPr lang="el-GR" i="1" dirty="0">
                              <a:latin typeface="Cambria Math" panose="02040503050406030204" pitchFamily="18" charset="0"/>
                            </a:rPr>
                          </m:ctrlPr>
                        </m:sSubSupPr>
                        <m:e>
                          <m:r>
                            <m:rPr>
                              <m:sty m:val="p"/>
                            </m:rPr>
                            <a:rPr lang="el-GR" i="0" dirty="0">
                              <a:latin typeface="Cambria Math" panose="02040503050406030204" pitchFamily="18" charset="0"/>
                            </a:rPr>
                            <m:t>Σ</m:t>
                          </m:r>
                        </m:e>
                        <m:sub>
                          <m:r>
                            <a:rPr lang="en-US" i="1" dirty="0">
                              <a:latin typeface="Cambria Math" panose="02040503050406030204" pitchFamily="18" charset="0"/>
                            </a:rPr>
                            <m:t>𝑗</m:t>
                          </m:r>
                          <m:r>
                            <a:rPr lang="en-US" i="1" dirty="0">
                              <a:latin typeface="Cambria Math" panose="02040503050406030204" pitchFamily="18" charset="0"/>
                            </a:rPr>
                            <m:t>=1</m:t>
                          </m:r>
                        </m:sub>
                        <m:sup>
                          <m:r>
                            <a:rPr lang="en-US" i="1" dirty="0">
                              <a:latin typeface="Cambria Math" panose="02040503050406030204" pitchFamily="18" charset="0"/>
                            </a:rPr>
                            <m:t>𝑛</m:t>
                          </m:r>
                        </m:sup>
                      </m:sSubSup>
                      <m:d>
                        <m:dPr>
                          <m:begChr m:val="["/>
                          <m:endChr m:val="]"/>
                          <m:ctrlPr>
                            <a:rPr lang="en-US" i="1" dirty="0">
                              <a:latin typeface="Cambria Math" panose="02040503050406030204" pitchFamily="18" charset="0"/>
                            </a:rPr>
                          </m:ctrlPr>
                        </m:dPr>
                        <m:e>
                          <m:sSubSup>
                            <m:sSubSupPr>
                              <m:ctrlPr>
                                <a:rPr lang="el-GR" i="1" dirty="0">
                                  <a:latin typeface="Cambria Math" panose="02040503050406030204" pitchFamily="18" charset="0"/>
                                </a:rPr>
                              </m:ctrlPr>
                            </m:sSubSupPr>
                            <m:e>
                              <m:r>
                                <m:rPr>
                                  <m:sty m:val="p"/>
                                </m:rPr>
                                <a:rPr lang="el-GR" i="0" dirty="0">
                                  <a:latin typeface="Cambria Math" panose="02040503050406030204" pitchFamily="18" charset="0"/>
                                </a:rPr>
                                <m:t>Σ</m:t>
                              </m:r>
                            </m:e>
                            <m:sub>
                              <m:r>
                                <a:rPr lang="en-US" i="1" dirty="0" err="1">
                                  <a:latin typeface="Cambria Math" panose="02040503050406030204" pitchFamily="18" charset="0"/>
                                </a:rPr>
                                <m:t>𝑖</m:t>
                              </m:r>
                              <m:r>
                                <a:rPr lang="en-US" i="1" dirty="0">
                                  <a:latin typeface="Cambria Math" panose="02040503050406030204" pitchFamily="18" charset="0"/>
                                </a:rPr>
                                <m:t>=1</m:t>
                              </m:r>
                            </m:sub>
                            <m:sup>
                              <m:r>
                                <a:rPr lang="en-US" i="1" dirty="0">
                                  <a:latin typeface="Cambria Math" panose="02040503050406030204" pitchFamily="18" charset="0"/>
                                </a:rPr>
                                <m:t>𝑚</m:t>
                              </m:r>
                            </m:sup>
                          </m:sSubSup>
                          <m:sSub>
                            <m:sSubPr>
                              <m:ctrlPr>
                                <a:rPr lang="en-US" i="1" dirty="0" err="1">
                                  <a:latin typeface="Cambria Math" panose="02040503050406030204" pitchFamily="18" charset="0"/>
                                </a:rPr>
                              </m:ctrlPr>
                            </m:sSubPr>
                            <m:e>
                              <m:r>
                                <a:rPr lang="en-US" i="1" dirty="0" err="1">
                                  <a:latin typeface="Cambria Math" panose="02040503050406030204" pitchFamily="18" charset="0"/>
                                </a:rPr>
                                <m:t>𝑠</m:t>
                              </m:r>
                            </m:e>
                            <m:sub>
                              <m:r>
                                <a:rPr lang="en-US" i="1" dirty="0" err="1">
                                  <a:latin typeface="Cambria Math" panose="02040503050406030204" pitchFamily="18" charset="0"/>
                                </a:rPr>
                                <m:t>𝑖</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𝑔</m:t>
                              </m:r>
                            </m:e>
                            <m:sub>
                              <m:r>
                                <a:rPr lang="en-US" i="1" dirty="0" err="1">
                                  <a:latin typeface="Cambria Math" panose="02040503050406030204" pitchFamily="18" charset="0"/>
                                </a:rPr>
                                <m:t>𝑖𝑗𝑡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𝐾</m:t>
                              </m:r>
                            </m:e>
                            <m:sub>
                              <m:r>
                                <a:rPr lang="en-US" i="1" dirty="0" err="1">
                                  <a:latin typeface="Cambria Math" panose="02040503050406030204" pitchFamily="18" charset="0"/>
                                </a:rPr>
                                <m:t>𝑗𝑡</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i="1" dirty="0" err="1">
                                  <a:latin typeface="Cambria Math" panose="02040503050406030204" pitchFamily="18" charset="0"/>
                                </a:rPr>
                                <m:t>𝑗𝑡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𝑐</m:t>
                              </m:r>
                            </m:e>
                            <m:sub>
                              <m:r>
                                <a:rPr lang="en-US" i="1" dirty="0" err="1">
                                  <a:latin typeface="Cambria Math" panose="02040503050406030204" pitchFamily="18" charset="0"/>
                                </a:rPr>
                                <m:t>𝑗𝑡</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𝑢</m:t>
                              </m:r>
                            </m:e>
                            <m:sub>
                              <m:r>
                                <a:rPr lang="en-US" i="1" dirty="0" err="1">
                                  <a:latin typeface="Cambria Math" panose="02040503050406030204" pitchFamily="18" charset="0"/>
                                </a:rPr>
                                <m:t>𝑗𝑡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h</m:t>
                              </m:r>
                            </m:e>
                            <m:sub>
                              <m:r>
                                <a:rPr lang="en-US" i="1" dirty="0" err="1">
                                  <a:latin typeface="Cambria Math" panose="02040503050406030204" pitchFamily="18" charset="0"/>
                                </a:rPr>
                                <m:t>𝑗𝑡</m:t>
                              </m:r>
                            </m:sub>
                          </m:sSub>
                          <m:sSub>
                            <m:sSubPr>
                              <m:ctrlPr>
                                <a:rPr lang="en-US" i="1" dirty="0">
                                  <a:latin typeface="Cambria Math" panose="02040503050406030204" pitchFamily="18" charset="0"/>
                                </a:rPr>
                              </m:ctrlPr>
                            </m:sSubPr>
                            <m:e>
                              <m:r>
                                <a:rPr lang="en-US" i="1" dirty="0">
                                  <a:latin typeface="Cambria Math" panose="02040503050406030204" pitchFamily="18" charset="0"/>
                                </a:rPr>
                                <m:t>𝐼</m:t>
                              </m:r>
                            </m:e>
                            <m:sub>
                              <m:r>
                                <a:rPr lang="en-US" i="1" dirty="0" err="1">
                                  <a:latin typeface="Cambria Math" panose="02040503050406030204" pitchFamily="18" charset="0"/>
                                </a:rPr>
                                <m:t>𝑗𝑡</m:t>
                              </m:r>
                            </m:sub>
                          </m:sSub>
                        </m:e>
                      </m:d>
                      <m:r>
                        <a:rPr lang="en-US" b="0" i="1" dirty="0" smtClean="0">
                          <a:latin typeface="Cambria Math" panose="02040503050406030204" pitchFamily="18" charset="0"/>
                        </a:rPr>
                        <m:t>−</m:t>
                      </m:r>
                      <m:sSubSup>
                        <m:sSubSupPr>
                          <m:ctrlPr>
                            <a:rPr lang="el-GR" i="1" dirty="0">
                              <a:latin typeface="Cambria Math" panose="02040503050406030204" pitchFamily="18" charset="0"/>
                            </a:rPr>
                          </m:ctrlPr>
                        </m:sSubSupPr>
                        <m:e>
                          <m:r>
                            <m:rPr>
                              <m:sty m:val="p"/>
                            </m:rPr>
                            <a:rPr lang="el-GR" dirty="0">
                              <a:latin typeface="Cambria Math" panose="02040503050406030204" pitchFamily="18" charset="0"/>
                            </a:rPr>
                            <m:t>Σ</m:t>
                          </m:r>
                        </m:e>
                        <m:sub>
                          <m:r>
                            <m:rPr>
                              <m:sty m:val="p"/>
                            </m:rPr>
                            <a:rPr lang="en-US" b="0" i="1" dirty="0" smtClean="0">
                              <a:latin typeface="Cambria Math" panose="02040503050406030204" pitchFamily="18" charset="0"/>
                            </a:rPr>
                            <m:t>j</m:t>
                          </m:r>
                          <m:r>
                            <a:rPr lang="en-US" i="1" dirty="0">
                              <a:latin typeface="Cambria Math" panose="02040503050406030204" pitchFamily="18" charset="0"/>
                            </a:rPr>
                            <m:t>=1</m:t>
                          </m:r>
                        </m:sub>
                        <m:sup>
                          <m:r>
                            <m:rPr>
                              <m:sty m:val="p"/>
                            </m:rPr>
                            <a:rPr lang="en-US" b="0" i="1" dirty="0" smtClean="0">
                              <a:latin typeface="Cambria Math" panose="02040503050406030204" pitchFamily="18" charset="0"/>
                            </a:rPr>
                            <m:t>n</m:t>
                          </m:r>
                        </m:sup>
                      </m:sSubSup>
                      <m:sSub>
                        <m:sSubPr>
                          <m:ctrlPr>
                            <a:rPr lang="en-US" i="1" dirty="0" err="1">
                              <a:latin typeface="Cambria Math" panose="02040503050406030204" pitchFamily="18" charset="0"/>
                            </a:rPr>
                          </m:ctrlPr>
                        </m:sSubPr>
                        <m:e>
                          <m:r>
                            <m:rPr>
                              <m:sty m:val="p"/>
                            </m:rPr>
                            <a:rPr lang="en-US" b="0" i="1" dirty="0" smtClean="0">
                              <a:latin typeface="Cambria Math" panose="02040503050406030204" pitchFamily="18" charset="0"/>
                            </a:rPr>
                            <m:t>f</m:t>
                          </m:r>
                        </m:e>
                        <m:sub>
                          <m:r>
                            <m:rPr>
                              <m:sty m:val="p"/>
                            </m:rPr>
                            <a:rPr lang="en-US" b="0" i="1" dirty="0" smtClean="0">
                              <a:latin typeface="Cambria Math" panose="02040503050406030204" pitchFamily="18" charset="0"/>
                            </a:rPr>
                            <m:t>j</m:t>
                          </m:r>
                        </m:sub>
                      </m:sSub>
                      <m:sSub>
                        <m:sSubPr>
                          <m:ctrlPr>
                            <a:rPr lang="en-US" i="1" dirty="0">
                              <a:latin typeface="Cambria Math" panose="02040503050406030204" pitchFamily="18" charset="0"/>
                            </a:rPr>
                          </m:ctrlPr>
                        </m:sSubPr>
                        <m:e>
                          <m:r>
                            <m:rPr>
                              <m:sty m:val="p"/>
                            </m:rPr>
                            <a:rPr lang="en-US" b="0" i="1" dirty="0" smtClean="0">
                              <a:latin typeface="Cambria Math" panose="02040503050406030204" pitchFamily="18" charset="0"/>
                            </a:rPr>
                            <m:t>z</m:t>
                          </m:r>
                        </m:e>
                        <m:sub>
                          <m:r>
                            <m:rPr>
                              <m:sty m:val="p"/>
                            </m:rPr>
                            <a:rPr lang="en-US" b="0" i="1" dirty="0" smtClean="0">
                              <a:latin typeface="Cambria Math" panose="02040503050406030204" pitchFamily="18" charset="0"/>
                            </a:rPr>
                            <m:t>j</m:t>
                          </m:r>
                        </m:sub>
                      </m:sSub>
                    </m:oMath>
                  </m:oMathPara>
                </a14:m>
                <a:endParaRPr/>
              </a:p>
            </p:txBody>
          </p:sp>
        </mc:Choice>
        <mc:Fallback xmlns="">
          <p:sp>
            <p:nvSpPr>
              <p:cNvPr id="28" name="TextBox 27">
                <a:extLst>
                  <a:ext uri="{FF2B5EF4-FFF2-40B4-BE49-F238E27FC236}">
                    <a16:creationId xmlns:a16="http://schemas.microsoft.com/office/drawing/2014/main" id="{F50BD660-6116-EA99-BCA6-DAE0C1400DED}"/>
                  </a:ext>
                </a:extLst>
              </p:cNvPr>
              <p:cNvSpPr txBox="1">
                <a:spLocks noRot="1" noChangeAspect="1" noMove="1" noResize="1" noEditPoints="1" noAdjustHandles="1" noChangeArrowheads="1" noChangeShapeType="1" noTextEdit="1"/>
              </p:cNvSpPr>
              <p:nvPr/>
            </p:nvSpPr>
            <p:spPr>
              <a:xfrm>
                <a:off x="4252835" y="1816796"/>
                <a:ext cx="8229600" cy="424027"/>
              </a:xfrm>
              <a:prstGeom prst="rect">
                <a:avLst/>
              </a:prstGeom>
              <a:blipFill>
                <a:blip r:embed="rId6"/>
                <a:stretch>
                  <a:fillRect t="-4286" b="-11429"/>
                </a:stretch>
              </a:blipFill>
            </p:spPr>
            <p:txBody>
              <a:bodyPr/>
              <a:lstStyle/>
              <a:p>
                <a:r>
                  <a:rPr lang="en-US">
                    <a:noFill/>
                  </a:rPr>
                  <a:t> </a:t>
                </a:r>
              </a:p>
            </p:txBody>
          </p:sp>
        </mc:Fallback>
      </mc:AlternateContent>
      <p:sp>
        <p:nvSpPr>
          <p:cNvPr id="50" name="TextBox 49">
            <a:extLst>
              <a:ext uri="{FF2B5EF4-FFF2-40B4-BE49-F238E27FC236}">
                <a16:creationId xmlns:a16="http://schemas.microsoft.com/office/drawing/2014/main" id="{65125AB6-7C09-ADDC-4E8E-63A6ADA08F0F}"/>
              </a:ext>
            </a:extLst>
          </p:cNvPr>
          <p:cNvSpPr txBox="1"/>
          <p:nvPr/>
        </p:nvSpPr>
        <p:spPr>
          <a:xfrm>
            <a:off x="3071089" y="1850501"/>
            <a:ext cx="2363492" cy="391389"/>
          </a:xfrm>
          <a:prstGeom prst="rect">
            <a:avLst/>
          </a:prstGeom>
          <a:noFill/>
        </p:spPr>
        <p:txBody>
          <a:bodyPr wrap="square">
            <a:spAutoFit/>
          </a:bodyPr>
          <a:lstStyle/>
          <a:p>
            <a:pPr>
              <a:lnSpc>
                <a:spcPts val="2400"/>
              </a:lnSpc>
              <a:spcBef>
                <a:spcPts val="2400"/>
              </a:spcBef>
              <a:spcAft>
                <a:spcPts val="1200"/>
              </a:spcAft>
            </a:pPr>
            <a:r>
              <a:rPr lang="en-US" sz="1900" b="1" dirty="0">
                <a:solidFill>
                  <a:srgbClr val="1A4378"/>
                </a:solidFill>
                <a:latin typeface="Poppins"/>
              </a:rPr>
              <a:t>Objective</a:t>
            </a:r>
          </a:p>
        </p:txBody>
      </p:sp>
      <p:sp>
        <p:nvSpPr>
          <p:cNvPr id="51" name="TextBox 50">
            <a:extLst>
              <a:ext uri="{FF2B5EF4-FFF2-40B4-BE49-F238E27FC236}">
                <a16:creationId xmlns:a16="http://schemas.microsoft.com/office/drawing/2014/main" id="{FA6D56D8-09C8-5267-6787-424FABB38C7C}"/>
              </a:ext>
            </a:extLst>
          </p:cNvPr>
          <p:cNvSpPr txBox="1"/>
          <p:nvPr/>
        </p:nvSpPr>
        <p:spPr>
          <a:xfrm>
            <a:off x="2862341" y="2373472"/>
            <a:ext cx="3038486" cy="404406"/>
          </a:xfrm>
          <a:prstGeom prst="rect">
            <a:avLst/>
          </a:prstGeom>
          <a:noFill/>
        </p:spPr>
        <p:txBody>
          <a:bodyPr wrap="square">
            <a:spAutoFit/>
          </a:bodyPr>
          <a:lstStyle/>
          <a:p>
            <a:pPr>
              <a:lnSpc>
                <a:spcPts val="2400"/>
              </a:lnSpc>
              <a:spcBef>
                <a:spcPts val="2400"/>
              </a:spcBef>
              <a:spcAft>
                <a:spcPts val="1200"/>
              </a:spcAft>
            </a:pPr>
            <a:r>
              <a:rPr lang="en-US" sz="1900" b="1" dirty="0">
                <a:solidFill>
                  <a:srgbClr val="1A4378"/>
                </a:solidFill>
                <a:latin typeface="Poppins"/>
              </a:rPr>
              <a:t>Constraints</a:t>
            </a:r>
            <a:r>
              <a:rPr lang="en-US" sz="2400" b="1" dirty="0"/>
              <a:t>: </a:t>
            </a:r>
            <a:endParaRPr lang="en-US" sz="2400" b="1" dirty="0">
              <a:solidFill>
                <a:srgbClr val="0F1115"/>
              </a:solidFill>
              <a:effectLst/>
              <a:latin typeface="quote-cjk-patch"/>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D9158C8-F480-4D25-5BF9-16AE991D9E8B}"/>
                  </a:ext>
                </a:extLst>
              </p:cNvPr>
              <p:cNvSpPr txBox="1"/>
              <p:nvPr/>
            </p:nvSpPr>
            <p:spPr>
              <a:xfrm>
                <a:off x="4225979" y="2325356"/>
                <a:ext cx="8237094"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l-GR" i="1" dirty="0" smtClean="0">
                              <a:latin typeface="Cambria Math" panose="02040503050406030204" pitchFamily="18" charset="0"/>
                            </a:rPr>
                          </m:ctrlPr>
                        </m:sSubSupPr>
                        <m:e>
                          <m:r>
                            <m:rPr>
                              <m:sty m:val="p"/>
                            </m:rPr>
                            <a:rPr lang="el-GR" i="0" dirty="0" smtClean="0">
                              <a:latin typeface="Cambria Math" panose="02040503050406030204" pitchFamily="18" charset="0"/>
                            </a:rPr>
                            <m:t>Σ</m:t>
                          </m:r>
                        </m:e>
                        <m:sub>
                          <m:r>
                            <a:rPr lang="en-US" i="1" dirty="0">
                              <a:latin typeface="Cambria Math" panose="02040503050406030204" pitchFamily="18" charset="0"/>
                            </a:rPr>
                            <m:t>𝑘</m:t>
                          </m:r>
                          <m:r>
                            <a:rPr lang="en-US" i="1" dirty="0">
                              <a:latin typeface="Cambria Math" panose="02040503050406030204" pitchFamily="18" charset="0"/>
                            </a:rPr>
                            <m:t>=1</m:t>
                          </m:r>
                        </m:sub>
                        <m:sup>
                          <m:r>
                            <a:rPr lang="en-US" i="1" dirty="0">
                              <a:latin typeface="Cambria Math" panose="02040503050406030204" pitchFamily="18" charset="0"/>
                            </a:rPr>
                            <m:t>𝑛</m:t>
                          </m:r>
                        </m:sup>
                      </m:sSubSup>
                      <m:d>
                        <m:dPr>
                          <m:ctrlPr>
                            <a:rPr lang="en-US" i="1" dirty="0">
                              <a:latin typeface="Cambria Math" panose="02040503050406030204" pitchFamily="18" charset="0"/>
                            </a:rPr>
                          </m:ctrlPr>
                        </m:dPr>
                        <m:e>
                          <m:sSub>
                            <m:sSubPr>
                              <m:ctrlPr>
                                <a:rPr lang="el-GR" i="1" dirty="0">
                                  <a:latin typeface="Cambria Math" panose="02040503050406030204" pitchFamily="18" charset="0"/>
                                </a:rPr>
                              </m:ctrlPr>
                            </m:sSubPr>
                            <m:e>
                              <m:r>
                                <a:rPr lang="el-GR" i="1" dirty="0">
                                  <a:latin typeface="Cambria Math" panose="02040503050406030204" pitchFamily="18" charset="0"/>
                                </a:rPr>
                                <m:t>𝛼</m:t>
                              </m:r>
                            </m:e>
                            <m:sub>
                              <m:r>
                                <a:rPr lang="en-US" i="1" dirty="0" err="1">
                                  <a:latin typeface="Cambria Math" panose="02040503050406030204" pitchFamily="18" charset="0"/>
                                </a:rPr>
                                <m:t>𝑖𝑘𝑡</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err="1">
                                  <a:latin typeface="Cambria Math" panose="02040503050406030204" pitchFamily="18" charset="0"/>
                                </a:rPr>
                                <m:t>𝑖𝑘𝑡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𝑔</m:t>
                              </m:r>
                            </m:e>
                            <m:sub>
                              <m:r>
                                <a:rPr lang="en-US" i="1" dirty="0" err="1">
                                  <a:latin typeface="Cambria Math" panose="02040503050406030204" pitchFamily="18" charset="0"/>
                                </a:rPr>
                                <m:t>𝑖𝑘𝑡</m:t>
                              </m:r>
                            </m:sub>
                          </m:sSub>
                        </m:e>
                      </m:d>
                      <m:r>
                        <a:rPr lang="en-US" i="1" dirty="0">
                          <a:latin typeface="Cambria Math" panose="02040503050406030204" pitchFamily="18" charset="0"/>
                        </a:rPr>
                        <m:t>≥</m:t>
                      </m:r>
                      <m:sSub>
                        <m:sSubPr>
                          <m:ctrlPr>
                            <a:rPr lang="el-GR" i="1" dirty="0">
                              <a:latin typeface="Cambria Math" panose="02040503050406030204" pitchFamily="18" charset="0"/>
                            </a:rPr>
                          </m:ctrlPr>
                        </m:sSubPr>
                        <m:e>
                          <m:r>
                            <a:rPr lang="el-GR" i="1" dirty="0">
                              <a:latin typeface="Cambria Math" panose="02040503050406030204" pitchFamily="18" charset="0"/>
                            </a:rPr>
                            <m:t>𝛼</m:t>
                          </m:r>
                        </m:e>
                        <m:sub>
                          <m:r>
                            <a:rPr lang="en-US" i="1" dirty="0" err="1">
                              <a:latin typeface="Cambria Math" panose="02040503050406030204" pitchFamily="18" charset="0"/>
                            </a:rPr>
                            <m:t>𝑖𝑗𝑡</m:t>
                          </m:r>
                        </m:sub>
                      </m:sSub>
                      <m:sSub>
                        <m:sSubPr>
                          <m:ctrlPr>
                            <a:rPr lang="en-US" i="1" dirty="0" err="1">
                              <a:latin typeface="Cambria Math" panose="02040503050406030204" pitchFamily="18" charset="0"/>
                            </a:rPr>
                          </m:ctrlPr>
                        </m:sSubPr>
                        <m:e>
                          <m:r>
                            <a:rPr lang="en-US" i="1" dirty="0" err="1">
                              <a:latin typeface="Cambria Math" panose="02040503050406030204" pitchFamily="18" charset="0"/>
                            </a:rPr>
                            <m:t>𝑧</m:t>
                          </m:r>
                        </m:e>
                        <m:sub>
                          <m:r>
                            <a:rPr lang="en-US" i="1" dirty="0" err="1">
                              <a:latin typeface="Cambria Math" panose="02040503050406030204" pitchFamily="18" charset="0"/>
                            </a:rPr>
                            <m:t>𝑗</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𝑤</m:t>
                          </m:r>
                        </m:e>
                        <m:sub>
                          <m:r>
                            <a:rPr lang="en-US" i="1" dirty="0" err="1">
                              <a:latin typeface="Cambria Math" panose="02040503050406030204" pitchFamily="18" charset="0"/>
                            </a:rPr>
                            <m:t>𝑗𝑡</m:t>
                          </m:r>
                        </m:sub>
                      </m:sSub>
                      <m:r>
                        <a:rPr lang="en-US" i="1" dirty="0">
                          <a:latin typeface="Cambria Math" panose="02040503050406030204" pitchFamily="18" charset="0"/>
                        </a:rPr>
                        <m:t>,∀</m:t>
                      </m:r>
                      <m:r>
                        <a:rPr lang="en-US" i="1" dirty="0" err="1">
                          <a:latin typeface="Cambria Math" panose="02040503050406030204" pitchFamily="18" charset="0"/>
                        </a:rPr>
                        <m:t>𝑖</m:t>
                      </m:r>
                      <m:r>
                        <a:rPr lang="en-US" i="1" dirty="0" err="1">
                          <a:latin typeface="Cambria Math" panose="02040503050406030204" pitchFamily="18" charset="0"/>
                        </a:rPr>
                        <m:t>,</m:t>
                      </m:r>
                      <m:r>
                        <a:rPr lang="en-US" i="1" dirty="0" err="1">
                          <a:latin typeface="Cambria Math" panose="02040503050406030204" pitchFamily="18" charset="0"/>
                        </a:rPr>
                        <m:t>𝑗</m:t>
                      </m:r>
                      <m:r>
                        <a:rPr lang="en-US" i="1" dirty="0" err="1">
                          <a:latin typeface="Cambria Math" panose="02040503050406030204" pitchFamily="18" charset="0"/>
                        </a:rPr>
                        <m:t>,</m:t>
                      </m:r>
                      <m:r>
                        <a:rPr lang="en-US" i="1" dirty="0" err="1">
                          <a:latin typeface="Cambria Math" panose="02040503050406030204" pitchFamily="18" charset="0"/>
                        </a:rPr>
                        <m:t>𝑡</m:t>
                      </m:r>
                    </m:oMath>
                  </m:oMathPara>
                </a14:m>
                <a:endParaRPr/>
              </a:p>
            </p:txBody>
          </p:sp>
        </mc:Choice>
        <mc:Fallback xmlns="">
          <p:sp>
            <p:nvSpPr>
              <p:cNvPr id="5" name="TextBox 4">
                <a:extLst>
                  <a:ext uri="{FF2B5EF4-FFF2-40B4-BE49-F238E27FC236}">
                    <a16:creationId xmlns:a16="http://schemas.microsoft.com/office/drawing/2014/main" id="{7D9158C8-F480-4D25-5BF9-16AE991D9E8B}"/>
                  </a:ext>
                </a:extLst>
              </p:cNvPr>
              <p:cNvSpPr txBox="1">
                <a:spLocks noRot="1" noChangeAspect="1" noMove="1" noResize="1" noEditPoints="1" noAdjustHandles="1" noChangeArrowheads="1" noChangeShapeType="1" noTextEdit="1"/>
              </p:cNvSpPr>
              <p:nvPr/>
            </p:nvSpPr>
            <p:spPr>
              <a:xfrm>
                <a:off x="4225979" y="2325356"/>
                <a:ext cx="8237094" cy="391646"/>
              </a:xfrm>
              <a:prstGeom prst="rect">
                <a:avLst/>
              </a:prstGeom>
              <a:blipFill>
                <a:blip r:embed="rId7"/>
                <a:stretch>
                  <a:fillRect t="-9231"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5D19A89-1712-1F13-303C-86E1E3D2900D}"/>
                  </a:ext>
                </a:extLst>
              </p:cNvPr>
              <p:cNvSpPr txBox="1"/>
              <p:nvPr/>
            </p:nvSpPr>
            <p:spPr>
              <a:xfrm>
                <a:off x="4245341" y="2796794"/>
                <a:ext cx="82370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i="1" dirty="0" smtClean="0">
                              <a:latin typeface="Cambria Math" panose="02040503050406030204" pitchFamily="18" charset="0"/>
                            </a:rPr>
                          </m:ctrlPr>
                        </m:sSubSupPr>
                        <m:e>
                          <m:r>
                            <m:rPr>
                              <m:sty m:val="p"/>
                            </m:rPr>
                            <a:rPr lang="en-US" i="0" dirty="0" smtClean="0">
                              <a:latin typeface="Cambria Math" panose="02040503050406030204" pitchFamily="18" charset="0"/>
                            </a:rPr>
                            <m:t>Σ</m:t>
                          </m:r>
                        </m:e>
                        <m:sub>
                          <m:r>
                            <a:rPr lang="en-US" i="1" dirty="0">
                              <a:latin typeface="Cambria Math" panose="02040503050406030204" pitchFamily="18" charset="0"/>
                            </a:rPr>
                            <m:t>𝑘</m:t>
                          </m:r>
                          <m:r>
                            <a:rPr lang="en-US" i="1" dirty="0">
                              <a:latin typeface="Cambria Math" panose="02040503050406030204" pitchFamily="18" charset="0"/>
                            </a:rPr>
                            <m:t>=1</m:t>
                          </m:r>
                        </m:sub>
                        <m:sup>
                          <m:r>
                            <a:rPr lang="en-US" i="1" dirty="0">
                              <a:latin typeface="Cambria Math" panose="02040503050406030204" pitchFamily="18" charset="0"/>
                            </a:rPr>
                            <m:t>𝑛</m:t>
                          </m:r>
                        </m:sup>
                      </m:sSubSup>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𝛼</m:t>
                              </m:r>
                            </m:e>
                            <m:sub>
                              <m:r>
                                <a:rPr lang="en-US" i="1" dirty="0" err="1">
                                  <a:latin typeface="Cambria Math" panose="02040503050406030204" pitchFamily="18" charset="0"/>
                                </a:rPr>
                                <m:t>𝑖𝑘𝑡</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err="1">
                                  <a:latin typeface="Cambria Math" panose="02040503050406030204" pitchFamily="18" charset="0"/>
                                </a:rPr>
                                <m:t>𝑖𝑘𝑡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𝑔</m:t>
                              </m:r>
                            </m:e>
                            <m:sub>
                              <m:r>
                                <a:rPr lang="en-US" i="1" dirty="0" err="1">
                                  <a:latin typeface="Cambria Math" panose="02040503050406030204" pitchFamily="18" charset="0"/>
                                </a:rPr>
                                <m:t>𝑖𝑘𝑡</m:t>
                              </m:r>
                            </m:sub>
                          </m:sSub>
                        </m:e>
                      </m:d>
                      <m:r>
                        <a:rPr lang="en-US" i="1" dirty="0">
                          <a:latin typeface="Cambria Math" panose="02040503050406030204" pitchFamily="18" charset="0"/>
                        </a:rPr>
                        <m:t>≥0,∀</m:t>
                      </m:r>
                      <m:r>
                        <a:rPr lang="en-US" i="1" dirty="0" err="1">
                          <a:latin typeface="Cambria Math" panose="02040503050406030204" pitchFamily="18" charset="0"/>
                        </a:rPr>
                        <m:t>𝑖</m:t>
                      </m:r>
                      <m:r>
                        <a:rPr lang="en-US" i="1" dirty="0" err="1">
                          <a:latin typeface="Cambria Math" panose="02040503050406030204" pitchFamily="18" charset="0"/>
                        </a:rPr>
                        <m:t>,</m:t>
                      </m:r>
                      <m:r>
                        <a:rPr lang="en-US" i="1" dirty="0" err="1">
                          <a:latin typeface="Cambria Math" panose="02040503050406030204" pitchFamily="18" charset="0"/>
                        </a:rPr>
                        <m:t>𝑡</m:t>
                      </m:r>
                    </m:oMath>
                  </m:oMathPara>
                </a14:m>
                <a:endParaRPr/>
              </a:p>
            </p:txBody>
          </p:sp>
        </mc:Choice>
        <mc:Fallback xmlns="">
          <p:sp>
            <p:nvSpPr>
              <p:cNvPr id="7" name="TextBox 6">
                <a:extLst>
                  <a:ext uri="{FF2B5EF4-FFF2-40B4-BE49-F238E27FC236}">
                    <a16:creationId xmlns:a16="http://schemas.microsoft.com/office/drawing/2014/main" id="{B5D19A89-1712-1F13-303C-86E1E3D2900D}"/>
                  </a:ext>
                </a:extLst>
              </p:cNvPr>
              <p:cNvSpPr txBox="1">
                <a:spLocks noRot="1" noChangeAspect="1" noMove="1" noResize="1" noEditPoints="1" noAdjustHandles="1" noChangeArrowheads="1" noChangeShapeType="1" noTextEdit="1"/>
              </p:cNvSpPr>
              <p:nvPr/>
            </p:nvSpPr>
            <p:spPr>
              <a:xfrm>
                <a:off x="4245341" y="2796794"/>
                <a:ext cx="8237094" cy="369332"/>
              </a:xfrm>
              <a:prstGeom prst="rect">
                <a:avLst/>
              </a:prstGeom>
              <a:blipFill>
                <a:blip r:embed="rId8"/>
                <a:stretch>
                  <a:fillRect t="-11667"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CAD4CD2-44EB-AC13-DC1B-37EFD703A268}"/>
                  </a:ext>
                </a:extLst>
              </p:cNvPr>
              <p:cNvSpPr txBox="1"/>
              <p:nvPr/>
            </p:nvSpPr>
            <p:spPr>
              <a:xfrm>
                <a:off x="4158108" y="3286047"/>
                <a:ext cx="8237094" cy="4016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i="1" dirty="0" smtClean="0">
                              <a:latin typeface="Cambria Math" panose="02040503050406030204" pitchFamily="18" charset="0"/>
                            </a:rPr>
                          </m:ctrlPr>
                        </m:sSubSupPr>
                        <m:e>
                          <m:r>
                            <m:rPr>
                              <m:sty m:val="p"/>
                            </m:rPr>
                            <a:rPr lang="en-US" i="0" dirty="0" smtClean="0">
                              <a:latin typeface="Cambria Math" panose="02040503050406030204" pitchFamily="18" charset="0"/>
                            </a:rPr>
                            <m:t>Σ</m:t>
                          </m:r>
                        </m:e>
                        <m:sub>
                          <m:r>
                            <a:rPr lang="en-US" i="1" dirty="0">
                              <a:latin typeface="Cambria Math" panose="02040503050406030204" pitchFamily="18" charset="0"/>
                            </a:rPr>
                            <m:t>𝑗</m:t>
                          </m:r>
                          <m:r>
                            <a:rPr lang="en-US" i="1" dirty="0">
                              <a:latin typeface="Cambria Math" panose="02040503050406030204" pitchFamily="18" charset="0"/>
                            </a:rPr>
                            <m:t>=0</m:t>
                          </m:r>
                        </m:sub>
                        <m:sup>
                          <m:r>
                            <a:rPr lang="en-US" i="1" dirty="0">
                              <a:latin typeface="Cambria Math" panose="02040503050406030204" pitchFamily="18" charset="0"/>
                            </a:rPr>
                            <m:t>𝑛</m:t>
                          </m:r>
                        </m:sup>
                      </m:sSubSup>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err="1">
                              <a:latin typeface="Cambria Math" panose="02040503050406030204" pitchFamily="18" charset="0"/>
                            </a:rPr>
                            <m:t>𝑖𝑗𝑡</m:t>
                          </m:r>
                        </m:sub>
                      </m:sSub>
                      <m:r>
                        <a:rPr lang="en-US" i="1" dirty="0">
                          <a:latin typeface="Cambria Math" panose="02040503050406030204" pitchFamily="18" charset="0"/>
                        </a:rPr>
                        <m:t>=1,∀</m:t>
                      </m:r>
                      <m:r>
                        <a:rPr lang="en-US" i="1" dirty="0" err="1">
                          <a:latin typeface="Cambria Math" panose="02040503050406030204" pitchFamily="18" charset="0"/>
                        </a:rPr>
                        <m:t>𝑖</m:t>
                      </m:r>
                      <m:r>
                        <a:rPr lang="en-US" i="1" dirty="0" err="1">
                          <a:latin typeface="Cambria Math" panose="02040503050406030204" pitchFamily="18" charset="0"/>
                        </a:rPr>
                        <m:t>,</m:t>
                      </m:r>
                      <m:r>
                        <a:rPr lang="en-US" i="1" dirty="0" err="1">
                          <a:latin typeface="Cambria Math" panose="02040503050406030204" pitchFamily="18" charset="0"/>
                        </a:rPr>
                        <m:t>𝑡</m:t>
                      </m:r>
                    </m:oMath>
                  </m:oMathPara>
                </a14:m>
                <a:endParaRPr/>
              </a:p>
            </p:txBody>
          </p:sp>
        </mc:Choice>
        <mc:Fallback xmlns="">
          <p:sp>
            <p:nvSpPr>
              <p:cNvPr id="9" name="TextBox 8">
                <a:extLst>
                  <a:ext uri="{FF2B5EF4-FFF2-40B4-BE49-F238E27FC236}">
                    <a16:creationId xmlns:a16="http://schemas.microsoft.com/office/drawing/2014/main" id="{ACAD4CD2-44EB-AC13-DC1B-37EFD703A268}"/>
                  </a:ext>
                </a:extLst>
              </p:cNvPr>
              <p:cNvSpPr txBox="1">
                <a:spLocks noRot="1" noChangeAspect="1" noMove="1" noResize="1" noEditPoints="1" noAdjustHandles="1" noChangeArrowheads="1" noChangeShapeType="1" noTextEdit="1"/>
              </p:cNvSpPr>
              <p:nvPr/>
            </p:nvSpPr>
            <p:spPr>
              <a:xfrm>
                <a:off x="4158108" y="3286047"/>
                <a:ext cx="8237094" cy="401648"/>
              </a:xfrm>
              <a:prstGeom prst="rect">
                <a:avLst/>
              </a:prstGeom>
              <a:blipFill>
                <a:blip r:embed="rId9"/>
                <a:stretch>
                  <a:fillRect t="-9091"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7A1B3AF-7D87-DB69-510B-D5109A249EF7}"/>
                  </a:ext>
                </a:extLst>
              </p:cNvPr>
              <p:cNvSpPr txBox="1"/>
              <p:nvPr/>
            </p:nvSpPr>
            <p:spPr>
              <a:xfrm>
                <a:off x="4211822" y="3654481"/>
                <a:ext cx="8237094"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𝑔</m:t>
                          </m:r>
                        </m:e>
                        <m:sub>
                          <m:r>
                            <a:rPr lang="en-US" i="1" dirty="0" err="1">
                              <a:latin typeface="Cambria Math" panose="02040503050406030204" pitchFamily="18" charset="0"/>
                            </a:rPr>
                            <m:t>𝑖𝑗𝑡</m:t>
                          </m:r>
                        </m:sub>
                      </m:sSub>
                      <m:r>
                        <a:rPr lang="en-US" i="1" dirty="0">
                          <a:latin typeface="Cambria Math" panose="02040503050406030204" pitchFamily="18" charset="0"/>
                        </a:rPr>
                        <m:t>≤</m:t>
                      </m:r>
                      <m:func>
                        <m:funcPr>
                          <m:ctrlPr>
                            <a:rPr lang="en-US" i="1" dirty="0" err="1">
                              <a:latin typeface="Cambria Math" panose="02040503050406030204" pitchFamily="18" charset="0"/>
                            </a:rPr>
                          </m:ctrlPr>
                        </m:funcPr>
                        <m:fName>
                          <m:sSub>
                            <m:sSubPr>
                              <m:ctrlPr>
                                <a:rPr lang="en-US" i="1" dirty="0" err="1">
                                  <a:latin typeface="Cambria Math" panose="02040503050406030204" pitchFamily="18" charset="0"/>
                                </a:rPr>
                              </m:ctrlPr>
                            </m:sSubPr>
                            <m:e>
                              <m:r>
                                <a:rPr lang="en-US" i="1" dirty="0" err="1">
                                  <a:latin typeface="Cambria Math" panose="02040503050406030204" pitchFamily="18" charset="0"/>
                                </a:rPr>
                                <m:t>𝑚𝑎𝑥</m:t>
                              </m:r>
                            </m:e>
                            <m:sub>
                              <m:r>
                                <a:rPr lang="en-US" i="1" dirty="0" err="1">
                                  <a:latin typeface="Cambria Math" panose="02040503050406030204" pitchFamily="18" charset="0"/>
                                </a:rPr>
                                <m:t>𝑘</m:t>
                              </m:r>
                            </m:sub>
                          </m:sSub>
                        </m:fName>
                        <m:e>
                          <m:sSub>
                            <m:sSubPr>
                              <m:ctrlPr>
                                <a:rPr lang="en-US" i="1" dirty="0">
                                  <a:latin typeface="Cambria Math" panose="02040503050406030204" pitchFamily="18" charset="0"/>
                                </a:rPr>
                              </m:ctrlPr>
                            </m:sSubPr>
                            <m:e>
                              <m:r>
                                <a:rPr lang="en-US" i="1" dirty="0">
                                  <a:latin typeface="Cambria Math" panose="02040503050406030204" pitchFamily="18" charset="0"/>
                                </a:rPr>
                                <m:t>𝛼</m:t>
                              </m:r>
                            </m:e>
                            <m:sub>
                              <m:r>
                                <a:rPr lang="en-US" i="1" dirty="0" err="1">
                                  <a:latin typeface="Cambria Math" panose="02040503050406030204" pitchFamily="18" charset="0"/>
                                </a:rPr>
                                <m:t>𝑘𝑗𝑡</m:t>
                              </m:r>
                            </m:sub>
                          </m:sSub>
                        </m:e>
                      </m:func>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err="1">
                              <a:latin typeface="Cambria Math" panose="02040503050406030204" pitchFamily="18" charset="0"/>
                            </a:rPr>
                            <m:t>𝑖𝑗𝑡</m:t>
                          </m:r>
                        </m:sub>
                      </m:sSub>
                      <m:r>
                        <a:rPr lang="en-US" i="1" dirty="0">
                          <a:latin typeface="Cambria Math" panose="02040503050406030204" pitchFamily="18" charset="0"/>
                        </a:rPr>
                        <m:t>,∀</m:t>
                      </m:r>
                      <m:r>
                        <a:rPr lang="en-US" i="1" dirty="0" err="1">
                          <a:latin typeface="Cambria Math" panose="02040503050406030204" pitchFamily="18" charset="0"/>
                        </a:rPr>
                        <m:t>𝑖</m:t>
                      </m:r>
                      <m:r>
                        <a:rPr lang="en-US" i="1" dirty="0" err="1">
                          <a:latin typeface="Cambria Math" panose="02040503050406030204" pitchFamily="18" charset="0"/>
                        </a:rPr>
                        <m:t>,</m:t>
                      </m:r>
                      <m:r>
                        <a:rPr lang="en-US" i="1" dirty="0" err="1">
                          <a:latin typeface="Cambria Math" panose="02040503050406030204" pitchFamily="18" charset="0"/>
                        </a:rPr>
                        <m:t>𝑗</m:t>
                      </m:r>
                      <m:r>
                        <a:rPr lang="en-US" i="1" dirty="0" err="1">
                          <a:latin typeface="Cambria Math" panose="02040503050406030204" pitchFamily="18" charset="0"/>
                        </a:rPr>
                        <m:t>,</m:t>
                      </m:r>
                      <m:r>
                        <a:rPr lang="en-US" i="1" dirty="0" err="1">
                          <a:latin typeface="Cambria Math" panose="02040503050406030204" pitchFamily="18" charset="0"/>
                        </a:rPr>
                        <m:t>𝑡</m:t>
                      </m:r>
                    </m:oMath>
                  </m:oMathPara>
                </a14:m>
                <a:endParaRPr/>
              </a:p>
            </p:txBody>
          </p:sp>
        </mc:Choice>
        <mc:Fallback xmlns="">
          <p:sp>
            <p:nvSpPr>
              <p:cNvPr id="12" name="TextBox 11">
                <a:extLst>
                  <a:ext uri="{FF2B5EF4-FFF2-40B4-BE49-F238E27FC236}">
                    <a16:creationId xmlns:a16="http://schemas.microsoft.com/office/drawing/2014/main" id="{27A1B3AF-7D87-DB69-510B-D5109A249EF7}"/>
                  </a:ext>
                </a:extLst>
              </p:cNvPr>
              <p:cNvSpPr txBox="1">
                <a:spLocks noRot="1" noChangeAspect="1" noMove="1" noResize="1" noEditPoints="1" noAdjustHandles="1" noChangeArrowheads="1" noChangeShapeType="1" noTextEdit="1"/>
              </p:cNvSpPr>
              <p:nvPr/>
            </p:nvSpPr>
            <p:spPr>
              <a:xfrm>
                <a:off x="4211822" y="3654481"/>
                <a:ext cx="8237094" cy="391646"/>
              </a:xfrm>
              <a:prstGeom prst="rect">
                <a:avLst/>
              </a:prstGeom>
              <a:blipFill>
                <a:blip r:embed="rId10"/>
                <a:stretch>
                  <a:fillRect t="-9231"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58081D1-848B-C7CE-7B13-FDDED470FBB7}"/>
                  </a:ext>
                </a:extLst>
              </p:cNvPr>
              <p:cNvSpPr txBox="1"/>
              <p:nvPr/>
            </p:nvSpPr>
            <p:spPr>
              <a:xfrm>
                <a:off x="4276362" y="4025327"/>
                <a:ext cx="8237094" cy="4113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𝑔</m:t>
                          </m:r>
                        </m:e>
                        <m:sub>
                          <m:r>
                            <a:rPr lang="en-US" i="1" dirty="0" err="1">
                              <a:latin typeface="Cambria Math" panose="02040503050406030204" pitchFamily="18" charset="0"/>
                            </a:rPr>
                            <m:t>𝑖𝑗𝑡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𝑝</m:t>
                          </m:r>
                        </m:e>
                        <m:sub>
                          <m:r>
                            <a:rPr lang="en-US" i="1" dirty="0" err="1">
                              <a:latin typeface="Cambria Math" panose="02040503050406030204" pitchFamily="18" charset="0"/>
                            </a:rPr>
                            <m:t>𝑗𝑡</m:t>
                          </m:r>
                        </m:sub>
                      </m:sSub>
                      <m:r>
                        <a:rPr lang="en-US" i="1" dirty="0">
                          <a:latin typeface="Cambria Math" panose="02040503050406030204" pitchFamily="18" charset="0"/>
                        </a:rPr>
                        <m:t>−</m:t>
                      </m:r>
                      <m:func>
                        <m:funcPr>
                          <m:ctrlPr>
                            <a:rPr lang="en-US" i="1" dirty="0" err="1">
                              <a:latin typeface="Cambria Math" panose="02040503050406030204" pitchFamily="18" charset="0"/>
                            </a:rPr>
                          </m:ctrlPr>
                        </m:funcPr>
                        <m:fName>
                          <m:sSub>
                            <m:sSubPr>
                              <m:ctrlPr>
                                <a:rPr lang="en-US" i="1" dirty="0" err="1">
                                  <a:latin typeface="Cambria Math" panose="02040503050406030204" pitchFamily="18" charset="0"/>
                                </a:rPr>
                              </m:ctrlPr>
                            </m:sSubPr>
                            <m:e>
                              <m:r>
                                <a:rPr lang="en-US" i="1" dirty="0" err="1">
                                  <a:latin typeface="Cambria Math" panose="02040503050406030204" pitchFamily="18" charset="0"/>
                                </a:rPr>
                                <m:t>𝑚𝑎𝑥</m:t>
                              </m:r>
                            </m:e>
                            <m:sub>
                              <m:r>
                                <a:rPr lang="en-US" i="1" dirty="0" err="1">
                                  <a:latin typeface="Cambria Math" panose="02040503050406030204" pitchFamily="18" charset="0"/>
                                </a:rPr>
                                <m:t>𝑘</m:t>
                              </m:r>
                            </m:sub>
                          </m:sSub>
                        </m:fName>
                        <m:e>
                          <m:sSub>
                            <m:sSubPr>
                              <m:ctrlPr>
                                <a:rPr lang="en-US" i="1" dirty="0">
                                  <a:latin typeface="Cambria Math" panose="02040503050406030204" pitchFamily="18" charset="0"/>
                                </a:rPr>
                              </m:ctrlPr>
                            </m:sSubPr>
                            <m:e>
                              <m:r>
                                <a:rPr lang="en-US" i="1" dirty="0">
                                  <a:latin typeface="Cambria Math" panose="02040503050406030204" pitchFamily="18" charset="0"/>
                                </a:rPr>
                                <m:t>𝛼</m:t>
                              </m:r>
                            </m:e>
                            <m:sub>
                              <m:r>
                                <a:rPr lang="en-US" i="1" dirty="0" err="1">
                                  <a:latin typeface="Cambria Math" panose="02040503050406030204" pitchFamily="18" charset="0"/>
                                </a:rPr>
                                <m:t>𝑘𝑗𝑡</m:t>
                              </m:r>
                            </m:sub>
                          </m:sSub>
                        </m:e>
                      </m:func>
                      <m:d>
                        <m:dPr>
                          <m:ctrlPr>
                            <a:rPr lang="en-US" i="1" dirty="0">
                              <a:latin typeface="Cambria Math" panose="02040503050406030204" pitchFamily="18" charset="0"/>
                            </a:rPr>
                          </m:ctrlPr>
                        </m:dPr>
                        <m:e>
                          <m:r>
                            <a:rPr lang="en-US" i="1" dirty="0">
                              <a:latin typeface="Cambria Math" panose="02040503050406030204" pitchFamily="18" charset="0"/>
                            </a:rPr>
                            <m:t>1−</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err="1">
                                  <a:latin typeface="Cambria Math" panose="02040503050406030204" pitchFamily="18" charset="0"/>
                                </a:rPr>
                                <m:t>𝑖𝑗𝑡</m:t>
                              </m:r>
                            </m:sub>
                          </m:sSub>
                        </m:e>
                      </m:d>
                      <m:r>
                        <a:rPr lang="en-US" i="1" dirty="0">
                          <a:latin typeface="Cambria Math" panose="02040503050406030204" pitchFamily="18" charset="0"/>
                        </a:rPr>
                        <m:t>,∀</m:t>
                      </m:r>
                      <m:r>
                        <a:rPr lang="en-US" i="1" dirty="0" err="1">
                          <a:latin typeface="Cambria Math" panose="02040503050406030204" pitchFamily="18" charset="0"/>
                        </a:rPr>
                        <m:t>𝑖</m:t>
                      </m:r>
                      <m:r>
                        <a:rPr lang="en-US" i="1" dirty="0" err="1">
                          <a:latin typeface="Cambria Math" panose="02040503050406030204" pitchFamily="18" charset="0"/>
                        </a:rPr>
                        <m:t>,</m:t>
                      </m:r>
                      <m:r>
                        <a:rPr lang="en-US" i="1" dirty="0" err="1">
                          <a:latin typeface="Cambria Math" panose="02040503050406030204" pitchFamily="18" charset="0"/>
                        </a:rPr>
                        <m:t>𝑗</m:t>
                      </m:r>
                      <m:r>
                        <a:rPr lang="en-US" i="1" dirty="0" err="1">
                          <a:latin typeface="Cambria Math" panose="02040503050406030204" pitchFamily="18" charset="0"/>
                        </a:rPr>
                        <m:t>,</m:t>
                      </m:r>
                      <m:r>
                        <a:rPr lang="en-US" i="1" dirty="0" err="1">
                          <a:latin typeface="Cambria Math" panose="02040503050406030204" pitchFamily="18" charset="0"/>
                        </a:rPr>
                        <m:t>𝑡</m:t>
                      </m:r>
                    </m:oMath>
                  </m:oMathPara>
                </a14:m>
                <a:endParaRPr/>
              </a:p>
            </p:txBody>
          </p:sp>
        </mc:Choice>
        <mc:Fallback xmlns="">
          <p:sp>
            <p:nvSpPr>
              <p:cNvPr id="14" name="TextBox 13">
                <a:extLst>
                  <a:ext uri="{FF2B5EF4-FFF2-40B4-BE49-F238E27FC236}">
                    <a16:creationId xmlns:a16="http://schemas.microsoft.com/office/drawing/2014/main" id="{958081D1-848B-C7CE-7B13-FDDED470FBB7}"/>
                  </a:ext>
                </a:extLst>
              </p:cNvPr>
              <p:cNvSpPr txBox="1">
                <a:spLocks noRot="1" noChangeAspect="1" noMove="1" noResize="1" noEditPoints="1" noAdjustHandles="1" noChangeArrowheads="1" noChangeShapeType="1" noTextEdit="1"/>
              </p:cNvSpPr>
              <p:nvPr/>
            </p:nvSpPr>
            <p:spPr>
              <a:xfrm>
                <a:off x="4276362" y="4025327"/>
                <a:ext cx="8237094" cy="411395"/>
              </a:xfrm>
              <a:prstGeom prst="rect">
                <a:avLst/>
              </a:prstGeom>
              <a:blipFill>
                <a:blip r:embed="rId11"/>
                <a:stretch>
                  <a:fillRect t="-4412" b="-147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414F165-7D9D-0FCC-7F2F-C66244740AB9}"/>
                  </a:ext>
                </a:extLst>
              </p:cNvPr>
              <p:cNvSpPr txBox="1"/>
              <p:nvPr/>
            </p:nvSpPr>
            <p:spPr>
              <a:xfrm>
                <a:off x="4211822" y="4431607"/>
                <a:ext cx="8237094"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𝑔</m:t>
                          </m:r>
                        </m:e>
                        <m:sub>
                          <m:r>
                            <a:rPr lang="en-US" i="1" dirty="0" err="1">
                              <a:latin typeface="Cambria Math" panose="02040503050406030204" pitchFamily="18" charset="0"/>
                            </a:rPr>
                            <m:t>𝑖𝑗𝑡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𝑝</m:t>
                          </m:r>
                        </m:e>
                        <m:sub>
                          <m:r>
                            <a:rPr lang="en-US" i="1" dirty="0" err="1">
                              <a:latin typeface="Cambria Math" panose="02040503050406030204" pitchFamily="18" charset="0"/>
                            </a:rPr>
                            <m:t>𝑗𝑡</m:t>
                          </m:r>
                        </m:sub>
                      </m:sSub>
                      <m:r>
                        <a:rPr lang="en-US" i="1" dirty="0">
                          <a:latin typeface="Cambria Math" panose="02040503050406030204" pitchFamily="18" charset="0"/>
                        </a:rPr>
                        <m:t>,∀</m:t>
                      </m:r>
                      <m:r>
                        <a:rPr lang="en-US" i="1" dirty="0" err="1">
                          <a:latin typeface="Cambria Math" panose="02040503050406030204" pitchFamily="18" charset="0"/>
                        </a:rPr>
                        <m:t>𝑖</m:t>
                      </m:r>
                      <m:r>
                        <a:rPr lang="en-US" i="1" dirty="0" err="1">
                          <a:latin typeface="Cambria Math" panose="02040503050406030204" pitchFamily="18" charset="0"/>
                        </a:rPr>
                        <m:t>,</m:t>
                      </m:r>
                      <m:r>
                        <a:rPr lang="en-US" i="1" dirty="0" err="1">
                          <a:latin typeface="Cambria Math" panose="02040503050406030204" pitchFamily="18" charset="0"/>
                        </a:rPr>
                        <m:t>𝑗</m:t>
                      </m:r>
                      <m:r>
                        <a:rPr lang="en-US" i="1" dirty="0" err="1">
                          <a:latin typeface="Cambria Math" panose="02040503050406030204" pitchFamily="18" charset="0"/>
                        </a:rPr>
                        <m:t>,</m:t>
                      </m:r>
                      <m:r>
                        <a:rPr lang="en-US" i="1" dirty="0" err="1">
                          <a:latin typeface="Cambria Math" panose="02040503050406030204" pitchFamily="18" charset="0"/>
                        </a:rPr>
                        <m:t>𝑡</m:t>
                      </m:r>
                    </m:oMath>
                  </m:oMathPara>
                </a14:m>
                <a:endParaRPr/>
              </a:p>
            </p:txBody>
          </p:sp>
        </mc:Choice>
        <mc:Fallback xmlns="">
          <p:sp>
            <p:nvSpPr>
              <p:cNvPr id="16" name="TextBox 15">
                <a:extLst>
                  <a:ext uri="{FF2B5EF4-FFF2-40B4-BE49-F238E27FC236}">
                    <a16:creationId xmlns:a16="http://schemas.microsoft.com/office/drawing/2014/main" id="{9414F165-7D9D-0FCC-7F2F-C66244740AB9}"/>
                  </a:ext>
                </a:extLst>
              </p:cNvPr>
              <p:cNvSpPr txBox="1">
                <a:spLocks noRot="1" noChangeAspect="1" noMove="1" noResize="1" noEditPoints="1" noAdjustHandles="1" noChangeArrowheads="1" noChangeShapeType="1" noTextEdit="1"/>
              </p:cNvSpPr>
              <p:nvPr/>
            </p:nvSpPr>
            <p:spPr>
              <a:xfrm>
                <a:off x="4211822" y="4431607"/>
                <a:ext cx="8237094" cy="391646"/>
              </a:xfrm>
              <a:prstGeom prst="rect">
                <a:avLst/>
              </a:prstGeom>
              <a:blipFill>
                <a:blip r:embed="rId12"/>
                <a:stretch>
                  <a:fillRect t="-10938" b="-171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9E69170-BDB2-1DF3-7CED-4667FF627093}"/>
                  </a:ext>
                </a:extLst>
              </p:cNvPr>
              <p:cNvSpPr txBox="1"/>
              <p:nvPr/>
            </p:nvSpPr>
            <p:spPr>
              <a:xfrm>
                <a:off x="4225979" y="4759446"/>
                <a:ext cx="8237094"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𝑤</m:t>
                          </m:r>
                        </m:e>
                        <m:sub>
                          <m:r>
                            <a:rPr lang="en-US" i="1" dirty="0" err="1">
                              <a:latin typeface="Cambria Math" panose="02040503050406030204" pitchFamily="18" charset="0"/>
                            </a:rPr>
                            <m:t>𝑗𝑡</m:t>
                          </m:r>
                        </m:sub>
                      </m:sSub>
                      <m:r>
                        <a:rPr lang="en-US" i="1" dirty="0">
                          <a:latin typeface="Cambria Math" panose="02040503050406030204" pitchFamily="18" charset="0"/>
                        </a:rPr>
                        <m:t>≤</m:t>
                      </m:r>
                      <m:func>
                        <m:funcPr>
                          <m:ctrlPr>
                            <a:rPr lang="en-US" i="1" dirty="0" err="1">
                              <a:latin typeface="Cambria Math" panose="02040503050406030204" pitchFamily="18" charset="0"/>
                            </a:rPr>
                          </m:ctrlPr>
                        </m:funcPr>
                        <m:fName>
                          <m:sSub>
                            <m:sSubPr>
                              <m:ctrlPr>
                                <a:rPr lang="en-US" i="1" dirty="0" err="1">
                                  <a:latin typeface="Cambria Math" panose="02040503050406030204" pitchFamily="18" charset="0"/>
                                </a:rPr>
                              </m:ctrlPr>
                            </m:sSubPr>
                            <m:e>
                              <m:sSub>
                                <m:sSubPr>
                                  <m:ctrlPr>
                                    <a:rPr lang="en-US" i="1" dirty="0" err="1">
                                      <a:latin typeface="Cambria Math" panose="02040503050406030204" pitchFamily="18" charset="0"/>
                                    </a:rPr>
                                  </m:ctrlPr>
                                </m:sSubPr>
                                <m:e>
                                  <m:r>
                                    <a:rPr lang="en-US" i="1" dirty="0" err="1">
                                      <a:latin typeface="Cambria Math" panose="02040503050406030204" pitchFamily="18" charset="0"/>
                                    </a:rPr>
                                    <m:t>𝑧</m:t>
                                  </m:r>
                                </m:e>
                                <m:sub>
                                  <m:r>
                                    <a:rPr lang="en-US" i="1" dirty="0" err="1">
                                      <a:latin typeface="Cambria Math" panose="02040503050406030204" pitchFamily="18" charset="0"/>
                                    </a:rPr>
                                    <m:t>𝑗</m:t>
                                  </m:r>
                                </m:sub>
                              </m:sSub>
                              <m:r>
                                <a:rPr lang="en-US" i="1" dirty="0" err="1">
                                  <a:latin typeface="Cambria Math" panose="02040503050406030204" pitchFamily="18" charset="0"/>
                                </a:rPr>
                                <m:t>𝑚𝑎𝑥</m:t>
                              </m:r>
                            </m:e>
                            <m:sub>
                              <m:r>
                                <a:rPr lang="en-US" i="1" dirty="0" err="1">
                                  <a:latin typeface="Cambria Math" panose="02040503050406030204" pitchFamily="18" charset="0"/>
                                </a:rPr>
                                <m:t>𝑖</m:t>
                              </m:r>
                            </m:sub>
                          </m:sSub>
                        </m:fName>
                        <m:e>
                          <m:sSub>
                            <m:sSubPr>
                              <m:ctrlPr>
                                <a:rPr lang="en-US" i="1" dirty="0">
                                  <a:latin typeface="Cambria Math" panose="02040503050406030204" pitchFamily="18" charset="0"/>
                                </a:rPr>
                              </m:ctrlPr>
                            </m:sSubPr>
                            <m:e>
                              <m:r>
                                <a:rPr lang="en-US" i="1" dirty="0">
                                  <a:latin typeface="Cambria Math" panose="02040503050406030204" pitchFamily="18" charset="0"/>
                                </a:rPr>
                                <m:t>𝛼</m:t>
                              </m:r>
                            </m:e>
                            <m:sub>
                              <m:r>
                                <a:rPr lang="en-US" i="1" dirty="0" err="1">
                                  <a:latin typeface="Cambria Math" panose="02040503050406030204" pitchFamily="18" charset="0"/>
                                </a:rPr>
                                <m:t>𝑖𝑗𝑡</m:t>
                              </m:r>
                            </m:sub>
                          </m:sSub>
                        </m:e>
                      </m:func>
                      <m:r>
                        <a:rPr lang="en-US" i="1" dirty="0">
                          <a:latin typeface="Cambria Math" panose="02040503050406030204" pitchFamily="18" charset="0"/>
                        </a:rPr>
                        <m:t>,∀</m:t>
                      </m:r>
                      <m:r>
                        <a:rPr lang="en-US" i="1" dirty="0" err="1">
                          <a:latin typeface="Cambria Math" panose="02040503050406030204" pitchFamily="18" charset="0"/>
                        </a:rPr>
                        <m:t>𝑗</m:t>
                      </m:r>
                      <m:r>
                        <a:rPr lang="en-US" i="1" dirty="0" err="1">
                          <a:latin typeface="Cambria Math" panose="02040503050406030204" pitchFamily="18" charset="0"/>
                        </a:rPr>
                        <m:t>,</m:t>
                      </m:r>
                      <m:r>
                        <a:rPr lang="en-US" i="1" dirty="0" err="1">
                          <a:latin typeface="Cambria Math" panose="02040503050406030204" pitchFamily="18" charset="0"/>
                        </a:rPr>
                        <m:t>𝑡</m:t>
                      </m:r>
                    </m:oMath>
                  </m:oMathPara>
                </a14:m>
                <a:endParaRPr/>
              </a:p>
            </p:txBody>
          </p:sp>
        </mc:Choice>
        <mc:Fallback xmlns="">
          <p:sp>
            <p:nvSpPr>
              <p:cNvPr id="19" name="TextBox 18">
                <a:extLst>
                  <a:ext uri="{FF2B5EF4-FFF2-40B4-BE49-F238E27FC236}">
                    <a16:creationId xmlns:a16="http://schemas.microsoft.com/office/drawing/2014/main" id="{09E69170-BDB2-1DF3-7CED-4667FF627093}"/>
                  </a:ext>
                </a:extLst>
              </p:cNvPr>
              <p:cNvSpPr txBox="1">
                <a:spLocks noRot="1" noChangeAspect="1" noMove="1" noResize="1" noEditPoints="1" noAdjustHandles="1" noChangeArrowheads="1" noChangeShapeType="1" noTextEdit="1"/>
              </p:cNvSpPr>
              <p:nvPr/>
            </p:nvSpPr>
            <p:spPr>
              <a:xfrm>
                <a:off x="4225979" y="4759446"/>
                <a:ext cx="8237094" cy="391646"/>
              </a:xfrm>
              <a:prstGeom prst="rect">
                <a:avLst/>
              </a:prstGeom>
              <a:blipFill>
                <a:blip r:embed="rId13"/>
                <a:stretch>
                  <a:fillRect t="-10938" b="-171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81916E1-31D0-301A-BA33-AB08E8795F2A}"/>
                  </a:ext>
                </a:extLst>
              </p:cNvPr>
              <p:cNvSpPr txBox="1"/>
              <p:nvPr/>
            </p:nvSpPr>
            <p:spPr>
              <a:xfrm>
                <a:off x="4259290" y="5090225"/>
                <a:ext cx="8237094" cy="4113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𝑤</m:t>
                          </m:r>
                        </m:e>
                        <m:sub>
                          <m:r>
                            <a:rPr lang="en-US" i="1" dirty="0" err="1">
                              <a:latin typeface="Cambria Math" panose="02040503050406030204" pitchFamily="18" charset="0"/>
                            </a:rPr>
                            <m:t>𝑗𝑡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𝑝</m:t>
                          </m:r>
                        </m:e>
                        <m:sub>
                          <m:r>
                            <a:rPr lang="en-US" i="1" dirty="0" err="1">
                              <a:latin typeface="Cambria Math" panose="02040503050406030204" pitchFamily="18" charset="0"/>
                            </a:rPr>
                            <m:t>𝑗𝑡</m:t>
                          </m:r>
                        </m:sub>
                      </m:sSub>
                      <m:r>
                        <a:rPr lang="en-US" i="1" dirty="0">
                          <a:latin typeface="Cambria Math" panose="02040503050406030204" pitchFamily="18" charset="0"/>
                        </a:rPr>
                        <m:t>−</m:t>
                      </m:r>
                      <m:func>
                        <m:funcPr>
                          <m:ctrlPr>
                            <a:rPr lang="en-US" i="1" dirty="0" err="1">
                              <a:latin typeface="Cambria Math" panose="02040503050406030204" pitchFamily="18" charset="0"/>
                            </a:rPr>
                          </m:ctrlPr>
                        </m:funcPr>
                        <m:fName>
                          <m:sSub>
                            <m:sSubPr>
                              <m:ctrlPr>
                                <a:rPr lang="en-US" i="1" dirty="0" err="1">
                                  <a:latin typeface="Cambria Math" panose="02040503050406030204" pitchFamily="18" charset="0"/>
                                </a:rPr>
                              </m:ctrlPr>
                            </m:sSubPr>
                            <m:e>
                              <m:r>
                                <a:rPr lang="en-US" i="1" dirty="0" err="1">
                                  <a:latin typeface="Cambria Math" panose="02040503050406030204" pitchFamily="18" charset="0"/>
                                </a:rPr>
                                <m:t>𝑚𝑎𝑥</m:t>
                              </m:r>
                            </m:e>
                            <m:sub>
                              <m:r>
                                <a:rPr lang="en-US" i="1" dirty="0" err="1">
                                  <a:latin typeface="Cambria Math" panose="02040503050406030204" pitchFamily="18" charset="0"/>
                                </a:rPr>
                                <m:t>𝑖</m:t>
                              </m:r>
                            </m:sub>
                          </m:sSub>
                        </m:fName>
                        <m:e>
                          <m:sSub>
                            <m:sSubPr>
                              <m:ctrlPr>
                                <a:rPr lang="en-US" i="1" dirty="0">
                                  <a:latin typeface="Cambria Math" panose="02040503050406030204" pitchFamily="18" charset="0"/>
                                </a:rPr>
                              </m:ctrlPr>
                            </m:sSubPr>
                            <m:e>
                              <m:r>
                                <a:rPr lang="en-US" i="1" dirty="0">
                                  <a:latin typeface="Cambria Math" panose="02040503050406030204" pitchFamily="18" charset="0"/>
                                </a:rPr>
                                <m:t>𝛼</m:t>
                              </m:r>
                            </m:e>
                            <m:sub>
                              <m:r>
                                <a:rPr lang="en-US" i="1" dirty="0" err="1">
                                  <a:latin typeface="Cambria Math" panose="02040503050406030204" pitchFamily="18" charset="0"/>
                                </a:rPr>
                                <m:t>𝑖𝑗𝑡</m:t>
                              </m:r>
                            </m:sub>
                          </m:sSub>
                        </m:e>
                      </m:func>
                      <m:d>
                        <m:dPr>
                          <m:ctrlPr>
                            <a:rPr lang="en-US" i="1" dirty="0">
                              <a:latin typeface="Cambria Math" panose="02040503050406030204" pitchFamily="18" charset="0"/>
                            </a:rPr>
                          </m:ctrlPr>
                        </m:dPr>
                        <m:e>
                          <m:r>
                            <a:rPr lang="en-US" i="1" dirty="0">
                              <a:latin typeface="Cambria Math" panose="02040503050406030204" pitchFamily="18" charset="0"/>
                            </a:rPr>
                            <m:t>1−</m:t>
                          </m:r>
                          <m:sSub>
                            <m:sSubPr>
                              <m:ctrlPr>
                                <a:rPr lang="en-US" i="1" dirty="0" err="1">
                                  <a:latin typeface="Cambria Math" panose="02040503050406030204" pitchFamily="18" charset="0"/>
                                </a:rPr>
                              </m:ctrlPr>
                            </m:sSubPr>
                            <m:e>
                              <m:r>
                                <a:rPr lang="en-US" i="1" dirty="0" err="1">
                                  <a:latin typeface="Cambria Math" panose="02040503050406030204" pitchFamily="18" charset="0"/>
                                </a:rPr>
                                <m:t>𝑧</m:t>
                              </m:r>
                            </m:e>
                            <m:sub>
                              <m:r>
                                <a:rPr lang="en-US" i="1" dirty="0" err="1">
                                  <a:latin typeface="Cambria Math" panose="02040503050406030204" pitchFamily="18" charset="0"/>
                                </a:rPr>
                                <m:t>𝑗</m:t>
                              </m:r>
                            </m:sub>
                          </m:sSub>
                        </m:e>
                      </m:d>
                      <m:r>
                        <a:rPr lang="en-US" i="1" dirty="0">
                          <a:latin typeface="Cambria Math" panose="02040503050406030204" pitchFamily="18" charset="0"/>
                        </a:rPr>
                        <m:t>,∀</m:t>
                      </m:r>
                      <m:r>
                        <a:rPr lang="en-US" i="1" dirty="0" err="1">
                          <a:latin typeface="Cambria Math" panose="02040503050406030204" pitchFamily="18" charset="0"/>
                        </a:rPr>
                        <m:t>𝑗</m:t>
                      </m:r>
                      <m:r>
                        <a:rPr lang="en-US" i="1" dirty="0" err="1">
                          <a:latin typeface="Cambria Math" panose="02040503050406030204" pitchFamily="18" charset="0"/>
                        </a:rPr>
                        <m:t>,</m:t>
                      </m:r>
                      <m:r>
                        <a:rPr lang="en-US" i="1" dirty="0" err="1">
                          <a:latin typeface="Cambria Math" panose="02040503050406030204" pitchFamily="18" charset="0"/>
                        </a:rPr>
                        <m:t>𝑡</m:t>
                      </m:r>
                    </m:oMath>
                  </m:oMathPara>
                </a14:m>
                <a:endParaRPr/>
              </a:p>
            </p:txBody>
          </p:sp>
        </mc:Choice>
        <mc:Fallback xmlns="">
          <p:sp>
            <p:nvSpPr>
              <p:cNvPr id="21" name="TextBox 20">
                <a:extLst>
                  <a:ext uri="{FF2B5EF4-FFF2-40B4-BE49-F238E27FC236}">
                    <a16:creationId xmlns:a16="http://schemas.microsoft.com/office/drawing/2014/main" id="{981916E1-31D0-301A-BA33-AB08E8795F2A}"/>
                  </a:ext>
                </a:extLst>
              </p:cNvPr>
              <p:cNvSpPr txBox="1">
                <a:spLocks noRot="1" noChangeAspect="1" noMove="1" noResize="1" noEditPoints="1" noAdjustHandles="1" noChangeArrowheads="1" noChangeShapeType="1" noTextEdit="1"/>
              </p:cNvSpPr>
              <p:nvPr/>
            </p:nvSpPr>
            <p:spPr>
              <a:xfrm>
                <a:off x="4259290" y="5090225"/>
                <a:ext cx="8237094" cy="411395"/>
              </a:xfrm>
              <a:prstGeom prst="rect">
                <a:avLst/>
              </a:prstGeom>
              <a:blipFill>
                <a:blip r:embed="rId14"/>
                <a:stretch>
                  <a:fillRect t="-4478" b="-164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23EDC51-19DE-0D11-D424-2AC605BA19E9}"/>
                  </a:ext>
                </a:extLst>
              </p:cNvPr>
              <p:cNvSpPr txBox="1"/>
              <p:nvPr/>
            </p:nvSpPr>
            <p:spPr>
              <a:xfrm>
                <a:off x="4225979" y="5458705"/>
                <a:ext cx="8237094"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𝑤</m:t>
                          </m:r>
                        </m:e>
                        <m:sub>
                          <m:r>
                            <a:rPr lang="en-US" i="1" dirty="0" err="1">
                              <a:latin typeface="Cambria Math" panose="02040503050406030204" pitchFamily="18" charset="0"/>
                            </a:rPr>
                            <m:t>𝑗𝑡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𝑝</m:t>
                          </m:r>
                        </m:e>
                        <m:sub>
                          <m:r>
                            <a:rPr lang="en-US" i="1" dirty="0" err="1">
                              <a:latin typeface="Cambria Math" panose="02040503050406030204" pitchFamily="18" charset="0"/>
                            </a:rPr>
                            <m:t>𝑗𝑡</m:t>
                          </m:r>
                        </m:sub>
                      </m:sSub>
                      <m:r>
                        <a:rPr lang="en-US" i="1" dirty="0">
                          <a:latin typeface="Cambria Math" panose="02040503050406030204" pitchFamily="18" charset="0"/>
                        </a:rPr>
                        <m:t>,∀</m:t>
                      </m:r>
                      <m:r>
                        <a:rPr lang="en-US" i="1" dirty="0" err="1">
                          <a:latin typeface="Cambria Math" panose="02040503050406030204" pitchFamily="18" charset="0"/>
                        </a:rPr>
                        <m:t>𝑗</m:t>
                      </m:r>
                      <m:r>
                        <a:rPr lang="en-US" i="1" dirty="0" err="1">
                          <a:latin typeface="Cambria Math" panose="02040503050406030204" pitchFamily="18" charset="0"/>
                        </a:rPr>
                        <m:t>,</m:t>
                      </m:r>
                      <m:r>
                        <a:rPr lang="en-US" i="1" dirty="0" err="1">
                          <a:latin typeface="Cambria Math" panose="02040503050406030204" pitchFamily="18" charset="0"/>
                        </a:rPr>
                        <m:t>𝑡</m:t>
                      </m:r>
                    </m:oMath>
                  </m:oMathPara>
                </a14:m>
                <a:endParaRPr/>
              </a:p>
            </p:txBody>
          </p:sp>
        </mc:Choice>
        <mc:Fallback xmlns="">
          <p:sp>
            <p:nvSpPr>
              <p:cNvPr id="24" name="TextBox 23">
                <a:extLst>
                  <a:ext uri="{FF2B5EF4-FFF2-40B4-BE49-F238E27FC236}">
                    <a16:creationId xmlns:a16="http://schemas.microsoft.com/office/drawing/2014/main" id="{923EDC51-19DE-0D11-D424-2AC605BA19E9}"/>
                  </a:ext>
                </a:extLst>
              </p:cNvPr>
              <p:cNvSpPr txBox="1">
                <a:spLocks noRot="1" noChangeAspect="1" noMove="1" noResize="1" noEditPoints="1" noAdjustHandles="1" noChangeArrowheads="1" noChangeShapeType="1" noTextEdit="1"/>
              </p:cNvSpPr>
              <p:nvPr/>
            </p:nvSpPr>
            <p:spPr>
              <a:xfrm>
                <a:off x="4225979" y="5458705"/>
                <a:ext cx="8237094" cy="391646"/>
              </a:xfrm>
              <a:prstGeom prst="rect">
                <a:avLst/>
              </a:prstGeom>
              <a:blipFill>
                <a:blip r:embed="rId15"/>
                <a:stretch>
                  <a:fillRect t="-9231"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65954B1-204D-DE54-B27E-47CDC7DFA9D3}"/>
                  </a:ext>
                </a:extLst>
              </p:cNvPr>
              <p:cNvSpPr txBox="1"/>
              <p:nvPr/>
            </p:nvSpPr>
            <p:spPr>
              <a:xfrm>
                <a:off x="4211822" y="5923711"/>
                <a:ext cx="8237094"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𝐼</m:t>
                          </m:r>
                        </m:e>
                        <m:sub>
                          <m:r>
                            <a:rPr lang="en-US" i="1" dirty="0" err="1">
                              <a:latin typeface="Cambria Math" panose="02040503050406030204" pitchFamily="18" charset="0"/>
                            </a:rPr>
                            <m:t>𝑗𝑡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𝐼</m:t>
                          </m:r>
                        </m:e>
                        <m:sub>
                          <m:r>
                            <a:rPr lang="en-US" i="1" dirty="0">
                              <a:latin typeface="Cambria Math" panose="02040503050406030204" pitchFamily="18" charset="0"/>
                            </a:rPr>
                            <m:t>𝑗</m:t>
                          </m:r>
                          <m:r>
                            <a:rPr lang="en-US" i="1" dirty="0">
                              <a:latin typeface="Cambria Math" panose="02040503050406030204" pitchFamily="18" charset="0"/>
                            </a:rPr>
                            <m:t>,</m:t>
                          </m:r>
                          <m:r>
                            <a:rPr lang="en-US" i="1" dirty="0">
                              <a:latin typeface="Cambria Math" panose="02040503050406030204" pitchFamily="18" charset="0"/>
                            </a:rPr>
                            <m:t>𝑡</m:t>
                          </m:r>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𝑢</m:t>
                          </m:r>
                        </m:e>
                        <m:sub>
                          <m:r>
                            <a:rPr lang="en-US" i="1" dirty="0" err="1">
                              <a:latin typeface="Cambria Math" panose="02040503050406030204" pitchFamily="18" charset="0"/>
                            </a:rPr>
                            <m:t>𝑗𝑡</m:t>
                          </m:r>
                        </m:sub>
                      </m:sSub>
                      <m:r>
                        <a:rPr lang="en-US" i="1" dirty="0">
                          <a:latin typeface="Cambria Math" panose="02040503050406030204" pitchFamily="18" charset="0"/>
                        </a:rPr>
                        <m:t>−</m:t>
                      </m:r>
                      <m:sSubSup>
                        <m:sSubSupPr>
                          <m:ctrlPr>
                            <a:rPr lang="en-US" i="1" dirty="0">
                              <a:latin typeface="Cambria Math" panose="02040503050406030204" pitchFamily="18" charset="0"/>
                            </a:rPr>
                          </m:ctrlPr>
                        </m:sSubSupPr>
                        <m:e>
                          <m:r>
                            <m:rPr>
                              <m:sty m:val="p"/>
                            </m:rPr>
                            <a:rPr lang="en-US" i="0" dirty="0">
                              <a:latin typeface="Cambria Math" panose="02040503050406030204" pitchFamily="18" charset="0"/>
                            </a:rPr>
                            <m:t>Σ</m:t>
                          </m:r>
                        </m:e>
                        <m:sub>
                          <m:r>
                            <a:rPr lang="en-US" i="1" dirty="0" err="1">
                              <a:latin typeface="Cambria Math" panose="02040503050406030204" pitchFamily="18" charset="0"/>
                            </a:rPr>
                            <m:t>𝑖</m:t>
                          </m:r>
                          <m:r>
                            <a:rPr lang="en-US" i="1" dirty="0">
                              <a:latin typeface="Cambria Math" panose="02040503050406030204" pitchFamily="18" charset="0"/>
                            </a:rPr>
                            <m:t>=1</m:t>
                          </m:r>
                        </m:sub>
                        <m:sup>
                          <m:r>
                            <a:rPr lang="en-US" i="1" dirty="0">
                              <a:latin typeface="Cambria Math" panose="02040503050406030204" pitchFamily="18" charset="0"/>
                            </a:rPr>
                            <m:t>𝑚</m:t>
                          </m:r>
                        </m:sup>
                      </m:sSubSup>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err="1">
                              <a:latin typeface="Cambria Math" panose="02040503050406030204" pitchFamily="18" charset="0"/>
                            </a:rPr>
                            <m:t>𝑖𝑗𝑡</m:t>
                          </m:r>
                        </m:sub>
                      </m:sSub>
                      <m:sSub>
                        <m:sSubPr>
                          <m:ctrlPr>
                            <a:rPr lang="en-US" i="1" dirty="0" err="1">
                              <a:latin typeface="Cambria Math" panose="02040503050406030204" pitchFamily="18" charset="0"/>
                            </a:rPr>
                          </m:ctrlPr>
                        </m:sSubPr>
                        <m:e>
                          <m:r>
                            <a:rPr lang="en-US" i="1" dirty="0" err="1">
                              <a:latin typeface="Cambria Math" panose="02040503050406030204" pitchFamily="18" charset="0"/>
                            </a:rPr>
                            <m:t>𝑠</m:t>
                          </m:r>
                        </m:e>
                        <m:sub>
                          <m:r>
                            <a:rPr lang="en-US" i="1" dirty="0" err="1">
                              <a:latin typeface="Cambria Math" panose="02040503050406030204" pitchFamily="18" charset="0"/>
                            </a:rPr>
                            <m:t>𝑖</m:t>
                          </m:r>
                        </m:sub>
                      </m:sSub>
                      <m:r>
                        <a:rPr lang="en-US" i="1" dirty="0">
                          <a:latin typeface="Cambria Math" panose="02040503050406030204" pitchFamily="18" charset="0"/>
                        </a:rPr>
                        <m:t>,∀</m:t>
                      </m:r>
                      <m:r>
                        <a:rPr lang="en-US" i="1" dirty="0" err="1">
                          <a:latin typeface="Cambria Math" panose="02040503050406030204" pitchFamily="18" charset="0"/>
                        </a:rPr>
                        <m:t>𝑗</m:t>
                      </m:r>
                      <m:r>
                        <a:rPr lang="en-US" i="1" dirty="0" err="1">
                          <a:latin typeface="Cambria Math" panose="02040503050406030204" pitchFamily="18" charset="0"/>
                        </a:rPr>
                        <m:t>,</m:t>
                      </m:r>
                      <m:r>
                        <a:rPr lang="en-US" i="1" dirty="0" err="1">
                          <a:latin typeface="Cambria Math" panose="02040503050406030204" pitchFamily="18" charset="0"/>
                        </a:rPr>
                        <m:t>𝑡</m:t>
                      </m:r>
                    </m:oMath>
                  </m:oMathPara>
                </a14:m>
                <a:endParaRPr/>
              </a:p>
            </p:txBody>
          </p:sp>
        </mc:Choice>
        <mc:Fallback xmlns="">
          <p:sp>
            <p:nvSpPr>
              <p:cNvPr id="27" name="TextBox 26">
                <a:extLst>
                  <a:ext uri="{FF2B5EF4-FFF2-40B4-BE49-F238E27FC236}">
                    <a16:creationId xmlns:a16="http://schemas.microsoft.com/office/drawing/2014/main" id="{365954B1-204D-DE54-B27E-47CDC7DFA9D3}"/>
                  </a:ext>
                </a:extLst>
              </p:cNvPr>
              <p:cNvSpPr txBox="1">
                <a:spLocks noRot="1" noChangeAspect="1" noMove="1" noResize="1" noEditPoints="1" noAdjustHandles="1" noChangeArrowheads="1" noChangeShapeType="1" noTextEdit="1"/>
              </p:cNvSpPr>
              <p:nvPr/>
            </p:nvSpPr>
            <p:spPr>
              <a:xfrm>
                <a:off x="4211822" y="5923711"/>
                <a:ext cx="8237094" cy="391646"/>
              </a:xfrm>
              <a:prstGeom prst="rect">
                <a:avLst/>
              </a:prstGeom>
              <a:blipFill>
                <a:blip r:embed="rId16"/>
                <a:stretch>
                  <a:fillRect t="-10938" b="-171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8E155087-0E0A-E332-1E24-E7776DF75B77}"/>
                  </a:ext>
                </a:extLst>
              </p:cNvPr>
              <p:cNvSpPr txBox="1"/>
              <p:nvPr/>
            </p:nvSpPr>
            <p:spPr>
              <a:xfrm>
                <a:off x="4293851" y="6302038"/>
                <a:ext cx="8237094"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𝐼</m:t>
                          </m:r>
                        </m:e>
                        <m:sub>
                          <m:r>
                            <a:rPr lang="en-US" i="1" dirty="0" smtClean="0">
                              <a:latin typeface="Cambria Math" panose="02040503050406030204" pitchFamily="18" charset="0"/>
                            </a:rPr>
                            <m:t>𝑗</m:t>
                          </m:r>
                          <m:r>
                            <a:rPr lang="en-US" i="1" dirty="0" smtClean="0">
                              <a:latin typeface="Cambria Math" panose="02040503050406030204" pitchFamily="18" charset="0"/>
                            </a:rPr>
                            <m:t>0</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𝐼</m:t>
                          </m:r>
                        </m:e>
                        <m:sub>
                          <m:r>
                            <a:rPr lang="en-US" i="1" dirty="0" err="1">
                              <a:latin typeface="Cambria Math" panose="02040503050406030204" pitchFamily="18" charset="0"/>
                            </a:rPr>
                            <m:t>𝑗𝑇</m:t>
                          </m:r>
                        </m:sub>
                      </m:sSub>
                      <m:r>
                        <a:rPr lang="en-US" i="1" dirty="0">
                          <a:latin typeface="Cambria Math" panose="02040503050406030204" pitchFamily="18" charset="0"/>
                        </a:rPr>
                        <m:t>=0,∀</m:t>
                      </m:r>
                      <m:r>
                        <a:rPr lang="en-US" i="1" dirty="0">
                          <a:latin typeface="Cambria Math" panose="02040503050406030204" pitchFamily="18" charset="0"/>
                        </a:rPr>
                        <m:t>𝑗</m:t>
                      </m:r>
                    </m:oMath>
                  </m:oMathPara>
                </a14:m>
                <a:endParaRPr/>
              </a:p>
            </p:txBody>
          </p:sp>
        </mc:Choice>
        <mc:Fallback xmlns="">
          <p:sp>
            <p:nvSpPr>
              <p:cNvPr id="31" name="TextBox 30">
                <a:extLst>
                  <a:ext uri="{FF2B5EF4-FFF2-40B4-BE49-F238E27FC236}">
                    <a16:creationId xmlns:a16="http://schemas.microsoft.com/office/drawing/2014/main" id="{8E155087-0E0A-E332-1E24-E7776DF75B77}"/>
                  </a:ext>
                </a:extLst>
              </p:cNvPr>
              <p:cNvSpPr txBox="1">
                <a:spLocks noRot="1" noChangeAspect="1" noMove="1" noResize="1" noEditPoints="1" noAdjustHandles="1" noChangeArrowheads="1" noChangeShapeType="1" noTextEdit="1"/>
              </p:cNvSpPr>
              <p:nvPr/>
            </p:nvSpPr>
            <p:spPr>
              <a:xfrm>
                <a:off x="4293851" y="6302038"/>
                <a:ext cx="8237094" cy="391646"/>
              </a:xfrm>
              <a:prstGeom prst="rect">
                <a:avLst/>
              </a:prstGeom>
              <a:blipFill>
                <a:blip r:embed="rId17"/>
                <a:stretch>
                  <a:fillRect t="-10938" b="-171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1715541-87AB-2FA8-C42B-200133EC9579}"/>
                  </a:ext>
                </a:extLst>
              </p:cNvPr>
              <p:cNvSpPr txBox="1"/>
              <p:nvPr/>
            </p:nvSpPr>
            <p:spPr>
              <a:xfrm>
                <a:off x="4265953" y="6637935"/>
                <a:ext cx="8237094"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err="1">
                              <a:latin typeface="Cambria Math" panose="02040503050406030204" pitchFamily="18" charset="0"/>
                            </a:rPr>
                            <m:t>𝑖𝑗𝑡</m:t>
                          </m:r>
                        </m:sub>
                      </m:sSub>
                      <m:r>
                        <a:rPr lang="en-US" i="1" dirty="0">
                          <a:latin typeface="Cambria Math" panose="02040503050406030204" pitchFamily="18" charset="0"/>
                        </a:rPr>
                        <m:t>≤</m:t>
                      </m:r>
                      <m:sSub>
                        <m:sSubPr>
                          <m:ctrlPr>
                            <a:rPr lang="en-US" i="1" dirty="0" err="1">
                              <a:latin typeface="Cambria Math" panose="02040503050406030204" pitchFamily="18" charset="0"/>
                            </a:rPr>
                          </m:ctrlPr>
                        </m:sSubPr>
                        <m:e>
                          <m:r>
                            <a:rPr lang="en-US" i="1" dirty="0" err="1">
                              <a:latin typeface="Cambria Math" panose="02040503050406030204" pitchFamily="18" charset="0"/>
                            </a:rPr>
                            <m:t>𝑧</m:t>
                          </m:r>
                        </m:e>
                        <m:sub>
                          <m:r>
                            <a:rPr lang="en-US" i="1" dirty="0" err="1">
                              <a:latin typeface="Cambria Math" panose="02040503050406030204" pitchFamily="18" charset="0"/>
                            </a:rPr>
                            <m:t>𝑗</m:t>
                          </m:r>
                        </m:sub>
                      </m:sSub>
                      <m:r>
                        <a:rPr lang="en-US" i="1" dirty="0">
                          <a:latin typeface="Cambria Math" panose="02040503050406030204" pitchFamily="18" charset="0"/>
                        </a:rPr>
                        <m:t>,∀</m:t>
                      </m:r>
                      <m:r>
                        <a:rPr lang="en-US" i="1" dirty="0" err="1">
                          <a:latin typeface="Cambria Math" panose="02040503050406030204" pitchFamily="18" charset="0"/>
                        </a:rPr>
                        <m:t>𝑖</m:t>
                      </m:r>
                      <m:r>
                        <a:rPr lang="en-US" i="1" dirty="0" err="1">
                          <a:latin typeface="Cambria Math" panose="02040503050406030204" pitchFamily="18" charset="0"/>
                        </a:rPr>
                        <m:t>,</m:t>
                      </m:r>
                      <m:r>
                        <a:rPr lang="en-US" i="1" dirty="0" err="1">
                          <a:latin typeface="Cambria Math" panose="02040503050406030204" pitchFamily="18" charset="0"/>
                        </a:rPr>
                        <m:t>𝑗</m:t>
                      </m:r>
                      <m:r>
                        <a:rPr lang="en-US" i="1" dirty="0" err="1">
                          <a:latin typeface="Cambria Math" panose="02040503050406030204" pitchFamily="18" charset="0"/>
                        </a:rPr>
                        <m:t>,</m:t>
                      </m:r>
                      <m:r>
                        <a:rPr lang="en-US" i="1" dirty="0" err="1">
                          <a:latin typeface="Cambria Math" panose="02040503050406030204" pitchFamily="18" charset="0"/>
                        </a:rPr>
                        <m:t>𝑡</m:t>
                      </m:r>
                    </m:oMath>
                  </m:oMathPara>
                </a14:m>
                <a:endParaRPr/>
              </a:p>
            </p:txBody>
          </p:sp>
        </mc:Choice>
        <mc:Fallback xmlns="">
          <p:sp>
            <p:nvSpPr>
              <p:cNvPr id="35" name="TextBox 34">
                <a:extLst>
                  <a:ext uri="{FF2B5EF4-FFF2-40B4-BE49-F238E27FC236}">
                    <a16:creationId xmlns:a16="http://schemas.microsoft.com/office/drawing/2014/main" id="{41715541-87AB-2FA8-C42B-200133EC9579}"/>
                  </a:ext>
                </a:extLst>
              </p:cNvPr>
              <p:cNvSpPr txBox="1">
                <a:spLocks noRot="1" noChangeAspect="1" noMove="1" noResize="1" noEditPoints="1" noAdjustHandles="1" noChangeArrowheads="1" noChangeShapeType="1" noTextEdit="1"/>
              </p:cNvSpPr>
              <p:nvPr/>
            </p:nvSpPr>
            <p:spPr>
              <a:xfrm>
                <a:off x="4265953" y="6637935"/>
                <a:ext cx="8237094" cy="391646"/>
              </a:xfrm>
              <a:prstGeom prst="rect">
                <a:avLst/>
              </a:prstGeom>
              <a:blipFill>
                <a:blip r:embed="rId18"/>
                <a:stretch>
                  <a:fillRect t="-10938" b="-171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E724ACA-28DB-FC6D-6128-1BFA943F9535}"/>
                  </a:ext>
                </a:extLst>
              </p:cNvPr>
              <p:cNvSpPr txBox="1"/>
              <p:nvPr/>
            </p:nvSpPr>
            <p:spPr>
              <a:xfrm>
                <a:off x="4241802" y="7016262"/>
                <a:ext cx="8237094"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𝑦</m:t>
                          </m:r>
                        </m:e>
                        <m:sub>
                          <m:r>
                            <a:rPr lang="en-US" i="1" dirty="0" err="1">
                              <a:latin typeface="Cambria Math" panose="02040503050406030204" pitchFamily="18" charset="0"/>
                            </a:rPr>
                            <m:t>𝑗𝑡</m:t>
                          </m:r>
                        </m:sub>
                      </m:sSub>
                      <m:r>
                        <a:rPr lang="en-US" i="1" dirty="0">
                          <a:latin typeface="Cambria Math" panose="02040503050406030204" pitchFamily="18" charset="0"/>
                        </a:rPr>
                        <m:t>≤</m:t>
                      </m:r>
                      <m:sSub>
                        <m:sSubPr>
                          <m:ctrlPr>
                            <a:rPr lang="en-US" i="1" dirty="0" err="1">
                              <a:latin typeface="Cambria Math" panose="02040503050406030204" pitchFamily="18" charset="0"/>
                            </a:rPr>
                          </m:ctrlPr>
                        </m:sSubPr>
                        <m:e>
                          <m:r>
                            <a:rPr lang="en-US" i="1" dirty="0" err="1">
                              <a:latin typeface="Cambria Math" panose="02040503050406030204" pitchFamily="18" charset="0"/>
                            </a:rPr>
                            <m:t>𝑧</m:t>
                          </m:r>
                        </m:e>
                        <m:sub>
                          <m:r>
                            <a:rPr lang="en-US" i="1" dirty="0" err="1">
                              <a:latin typeface="Cambria Math" panose="02040503050406030204" pitchFamily="18" charset="0"/>
                            </a:rPr>
                            <m:t>𝑗</m:t>
                          </m:r>
                        </m:sub>
                      </m:sSub>
                      <m:r>
                        <a:rPr lang="en-US" i="1" dirty="0">
                          <a:latin typeface="Cambria Math" panose="02040503050406030204" pitchFamily="18" charset="0"/>
                        </a:rPr>
                        <m:t>,∀</m:t>
                      </m:r>
                      <m:r>
                        <a:rPr lang="en-US" i="1" dirty="0" err="1">
                          <a:latin typeface="Cambria Math" panose="02040503050406030204" pitchFamily="18" charset="0"/>
                        </a:rPr>
                        <m:t>𝑗</m:t>
                      </m:r>
                      <m:r>
                        <a:rPr lang="en-US" i="1" dirty="0" err="1">
                          <a:latin typeface="Cambria Math" panose="02040503050406030204" pitchFamily="18" charset="0"/>
                        </a:rPr>
                        <m:t>,</m:t>
                      </m:r>
                      <m:r>
                        <a:rPr lang="en-US" i="1" dirty="0" err="1">
                          <a:latin typeface="Cambria Math" panose="02040503050406030204" pitchFamily="18" charset="0"/>
                        </a:rPr>
                        <m:t>𝑡</m:t>
                      </m:r>
                    </m:oMath>
                  </m:oMathPara>
                </a14:m>
                <a:endParaRPr/>
              </a:p>
            </p:txBody>
          </p:sp>
        </mc:Choice>
        <mc:Fallback xmlns="">
          <p:sp>
            <p:nvSpPr>
              <p:cNvPr id="39" name="TextBox 38">
                <a:extLst>
                  <a:ext uri="{FF2B5EF4-FFF2-40B4-BE49-F238E27FC236}">
                    <a16:creationId xmlns:a16="http://schemas.microsoft.com/office/drawing/2014/main" id="{0E724ACA-28DB-FC6D-6128-1BFA943F9535}"/>
                  </a:ext>
                </a:extLst>
              </p:cNvPr>
              <p:cNvSpPr txBox="1">
                <a:spLocks noRot="1" noChangeAspect="1" noMove="1" noResize="1" noEditPoints="1" noAdjustHandles="1" noChangeArrowheads="1" noChangeShapeType="1" noTextEdit="1"/>
              </p:cNvSpPr>
              <p:nvPr/>
            </p:nvSpPr>
            <p:spPr>
              <a:xfrm>
                <a:off x="4241802" y="7016262"/>
                <a:ext cx="8237094" cy="391646"/>
              </a:xfrm>
              <a:prstGeom prst="rect">
                <a:avLst/>
              </a:prstGeom>
              <a:blipFill>
                <a:blip r:embed="rId19"/>
                <a:stretch>
                  <a:fillRect t="-10938" b="-171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4F58697B-6DF2-8CF1-1507-1A6A5182D655}"/>
                  </a:ext>
                </a:extLst>
              </p:cNvPr>
              <p:cNvSpPr txBox="1"/>
              <p:nvPr/>
            </p:nvSpPr>
            <p:spPr>
              <a:xfrm>
                <a:off x="4252835" y="7360861"/>
                <a:ext cx="8237094"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𝑝</m:t>
                          </m:r>
                        </m:e>
                        <m:sub>
                          <m:r>
                            <a:rPr lang="en-US" i="1" dirty="0" err="1">
                              <a:latin typeface="Cambria Math" panose="02040503050406030204" pitchFamily="18" charset="0"/>
                            </a:rPr>
                            <m:t>𝑗𝑡</m:t>
                          </m:r>
                        </m:sub>
                      </m:sSub>
                      <m:r>
                        <a:rPr lang="en-US" i="1" dirty="0">
                          <a:latin typeface="Cambria Math" panose="02040503050406030204" pitchFamily="18" charset="0"/>
                        </a:rPr>
                        <m:t>≤</m:t>
                      </m:r>
                      <m:func>
                        <m:funcPr>
                          <m:ctrlPr>
                            <a:rPr lang="en-US" i="1" dirty="0" err="1">
                              <a:latin typeface="Cambria Math" panose="02040503050406030204" pitchFamily="18" charset="0"/>
                            </a:rPr>
                          </m:ctrlPr>
                        </m:funcPr>
                        <m:fName>
                          <m:sSub>
                            <m:sSubPr>
                              <m:ctrlPr>
                                <a:rPr lang="en-US" i="1" dirty="0" err="1">
                                  <a:latin typeface="Cambria Math" panose="02040503050406030204" pitchFamily="18" charset="0"/>
                                </a:rPr>
                              </m:ctrlPr>
                            </m:sSubPr>
                            <m:e>
                              <m:sSub>
                                <m:sSubPr>
                                  <m:ctrlPr>
                                    <a:rPr lang="en-US" i="1" dirty="0" err="1">
                                      <a:latin typeface="Cambria Math" panose="02040503050406030204" pitchFamily="18" charset="0"/>
                                    </a:rPr>
                                  </m:ctrlPr>
                                </m:sSubPr>
                                <m:e>
                                  <m:r>
                                    <a:rPr lang="en-US" i="1" dirty="0" err="1">
                                      <a:latin typeface="Cambria Math" panose="02040503050406030204" pitchFamily="18" charset="0"/>
                                    </a:rPr>
                                    <m:t>𝑧</m:t>
                                  </m:r>
                                </m:e>
                                <m:sub>
                                  <m:r>
                                    <a:rPr lang="en-US" i="1" dirty="0" err="1">
                                      <a:latin typeface="Cambria Math" panose="02040503050406030204" pitchFamily="18" charset="0"/>
                                    </a:rPr>
                                    <m:t>𝑗</m:t>
                                  </m:r>
                                </m:sub>
                              </m:sSub>
                              <m:r>
                                <a:rPr lang="en-US" i="1" dirty="0" err="1">
                                  <a:latin typeface="Cambria Math" panose="02040503050406030204" pitchFamily="18" charset="0"/>
                                </a:rPr>
                                <m:t>𝑚𝑎𝑥</m:t>
                              </m:r>
                            </m:e>
                            <m:sub>
                              <m:r>
                                <a:rPr lang="en-US" i="1" dirty="0" err="1">
                                  <a:latin typeface="Cambria Math" panose="02040503050406030204" pitchFamily="18" charset="0"/>
                                </a:rPr>
                                <m:t>𝑖</m:t>
                              </m:r>
                            </m:sub>
                          </m:sSub>
                        </m:fName>
                        <m:e>
                          <m:sSub>
                            <m:sSubPr>
                              <m:ctrlPr>
                                <a:rPr lang="en-US" i="1" dirty="0">
                                  <a:latin typeface="Cambria Math" panose="02040503050406030204" pitchFamily="18" charset="0"/>
                                </a:rPr>
                              </m:ctrlPr>
                            </m:sSubPr>
                            <m:e>
                              <m:r>
                                <a:rPr lang="en-US" i="1" dirty="0">
                                  <a:latin typeface="Cambria Math" panose="02040503050406030204" pitchFamily="18" charset="0"/>
                                </a:rPr>
                                <m:t>𝛼</m:t>
                              </m:r>
                            </m:e>
                            <m:sub>
                              <m:r>
                                <a:rPr lang="en-US" i="1" dirty="0" err="1">
                                  <a:latin typeface="Cambria Math" panose="02040503050406030204" pitchFamily="18" charset="0"/>
                                </a:rPr>
                                <m:t>𝑖𝑗𝑡</m:t>
                              </m:r>
                            </m:sub>
                          </m:sSub>
                        </m:e>
                      </m:func>
                      <m:r>
                        <a:rPr lang="en-US" i="1" dirty="0">
                          <a:latin typeface="Cambria Math" panose="02040503050406030204" pitchFamily="18" charset="0"/>
                        </a:rPr>
                        <m:t>,∀</m:t>
                      </m:r>
                      <m:r>
                        <a:rPr lang="en-US" i="1" dirty="0" err="1">
                          <a:latin typeface="Cambria Math" panose="02040503050406030204" pitchFamily="18" charset="0"/>
                        </a:rPr>
                        <m:t>𝑗</m:t>
                      </m:r>
                      <m:r>
                        <a:rPr lang="en-US" i="1" dirty="0" err="1">
                          <a:latin typeface="Cambria Math" panose="02040503050406030204" pitchFamily="18" charset="0"/>
                        </a:rPr>
                        <m:t>,</m:t>
                      </m:r>
                      <m:r>
                        <a:rPr lang="en-US" i="1" dirty="0" err="1">
                          <a:latin typeface="Cambria Math" panose="02040503050406030204" pitchFamily="18" charset="0"/>
                        </a:rPr>
                        <m:t>𝑡</m:t>
                      </m:r>
                    </m:oMath>
                  </m:oMathPara>
                </a14:m>
                <a:endParaRPr/>
              </a:p>
            </p:txBody>
          </p:sp>
        </mc:Choice>
        <mc:Fallback xmlns="">
          <p:sp>
            <p:nvSpPr>
              <p:cNvPr id="43" name="TextBox 42">
                <a:extLst>
                  <a:ext uri="{FF2B5EF4-FFF2-40B4-BE49-F238E27FC236}">
                    <a16:creationId xmlns:a16="http://schemas.microsoft.com/office/drawing/2014/main" id="{4F58697B-6DF2-8CF1-1507-1A6A5182D655}"/>
                  </a:ext>
                </a:extLst>
              </p:cNvPr>
              <p:cNvSpPr txBox="1">
                <a:spLocks noRot="1" noChangeAspect="1" noMove="1" noResize="1" noEditPoints="1" noAdjustHandles="1" noChangeArrowheads="1" noChangeShapeType="1" noTextEdit="1"/>
              </p:cNvSpPr>
              <p:nvPr/>
            </p:nvSpPr>
            <p:spPr>
              <a:xfrm>
                <a:off x="4252835" y="7360861"/>
                <a:ext cx="8237094" cy="391646"/>
              </a:xfrm>
              <a:prstGeom prst="rect">
                <a:avLst/>
              </a:prstGeom>
              <a:blipFill>
                <a:blip r:embed="rId20"/>
                <a:stretch>
                  <a:fillRect t="-9231"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412D9DA5-0C44-2F34-3D39-8983F2B74318}"/>
                  </a:ext>
                </a:extLst>
              </p:cNvPr>
              <p:cNvSpPr txBox="1"/>
              <p:nvPr/>
            </p:nvSpPr>
            <p:spPr>
              <a:xfrm>
                <a:off x="4300929" y="7739188"/>
                <a:ext cx="8237094"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1" dirty="0" err="1">
                              <a:latin typeface="Cambria Math" panose="02040503050406030204" pitchFamily="18" charset="0"/>
                            </a:rPr>
                            <m:t>𝑗𝑡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i="1" dirty="0" err="1">
                              <a:latin typeface="Cambria Math" panose="02040503050406030204" pitchFamily="18" charset="0"/>
                            </a:rPr>
                            <m:t>𝑗𝑡</m:t>
                          </m:r>
                        </m:sub>
                      </m:sSub>
                      <m:d>
                        <m:dPr>
                          <m:ctrlPr>
                            <a:rPr lang="en-US" i="1" dirty="0">
                              <a:latin typeface="Cambria Math" panose="02040503050406030204" pitchFamily="18" charset="0"/>
                            </a:rPr>
                          </m:ctrlPr>
                        </m:dPr>
                        <m:e>
                          <m:r>
                            <a:rPr lang="en-US" i="1" dirty="0">
                              <a:latin typeface="Cambria Math" panose="02040503050406030204" pitchFamily="18" charset="0"/>
                            </a:rPr>
                            <m:t>𝑇</m:t>
                          </m:r>
                          <m:r>
                            <a:rPr lang="en-US" i="1" dirty="0">
                              <a:latin typeface="Cambria Math" panose="02040503050406030204" pitchFamily="18" charset="0"/>
                            </a:rPr>
                            <m:t>−</m:t>
                          </m:r>
                          <m:r>
                            <a:rPr lang="en-US" i="1" dirty="0">
                              <a:latin typeface="Cambria Math" panose="02040503050406030204" pitchFamily="18" charset="0"/>
                            </a:rPr>
                            <m:t>𝑡</m:t>
                          </m:r>
                          <m:r>
                            <a:rPr lang="en-US" i="1" dirty="0">
                              <a:latin typeface="Cambria Math" panose="02040503050406030204" pitchFamily="18" charset="0"/>
                            </a:rPr>
                            <m:t>+1</m:t>
                          </m:r>
                        </m:e>
                      </m:d>
                      <m:sSubSup>
                        <m:sSubSupPr>
                          <m:ctrlPr>
                            <a:rPr lang="en-US" i="1" dirty="0">
                              <a:latin typeface="Cambria Math" panose="02040503050406030204" pitchFamily="18" charset="0"/>
                            </a:rPr>
                          </m:ctrlPr>
                        </m:sSubSupPr>
                        <m:e>
                          <m:r>
                            <m:rPr>
                              <m:sty m:val="p"/>
                            </m:rPr>
                            <a:rPr lang="en-US" i="0" dirty="0">
                              <a:latin typeface="Cambria Math" panose="02040503050406030204" pitchFamily="18" charset="0"/>
                            </a:rPr>
                            <m:t>Σ</m:t>
                          </m:r>
                        </m:e>
                        <m:sub>
                          <m:r>
                            <a:rPr lang="en-US" i="1" dirty="0" err="1">
                              <a:latin typeface="Cambria Math" panose="02040503050406030204" pitchFamily="18" charset="0"/>
                            </a:rPr>
                            <m:t>𝑖</m:t>
                          </m:r>
                          <m:r>
                            <a:rPr lang="en-US" i="1" dirty="0">
                              <a:latin typeface="Cambria Math" panose="02040503050406030204" pitchFamily="18" charset="0"/>
                            </a:rPr>
                            <m:t>=1</m:t>
                          </m:r>
                        </m:sub>
                        <m:sup>
                          <m:r>
                            <a:rPr lang="en-US" i="1" dirty="0">
                              <a:latin typeface="Cambria Math" panose="02040503050406030204" pitchFamily="18" charset="0"/>
                            </a:rPr>
                            <m:t>𝑚</m:t>
                          </m:r>
                        </m:sup>
                      </m:sSubSup>
                      <m:sSub>
                        <m:sSubPr>
                          <m:ctrlPr>
                            <a:rPr lang="en-US" i="1" dirty="0" err="1">
                              <a:latin typeface="Cambria Math" panose="02040503050406030204" pitchFamily="18" charset="0"/>
                            </a:rPr>
                          </m:ctrlPr>
                        </m:sSubPr>
                        <m:e>
                          <m:r>
                            <a:rPr lang="en-US" i="1" dirty="0" err="1">
                              <a:latin typeface="Cambria Math" panose="02040503050406030204" pitchFamily="18" charset="0"/>
                            </a:rPr>
                            <m:t>𝑠</m:t>
                          </m:r>
                        </m:e>
                        <m:sub>
                          <m:r>
                            <a:rPr lang="en-US" i="1" dirty="0" err="1">
                              <a:latin typeface="Cambria Math" panose="02040503050406030204" pitchFamily="18" charset="0"/>
                            </a:rPr>
                            <m:t>𝑖</m:t>
                          </m:r>
                        </m:sub>
                      </m:sSub>
                      <m:r>
                        <a:rPr lang="en-US" i="1" dirty="0">
                          <a:latin typeface="Cambria Math" panose="02040503050406030204" pitchFamily="18" charset="0"/>
                        </a:rPr>
                        <m:t>,∀</m:t>
                      </m:r>
                      <m:r>
                        <a:rPr lang="en-US" i="1" dirty="0" err="1">
                          <a:latin typeface="Cambria Math" panose="02040503050406030204" pitchFamily="18" charset="0"/>
                        </a:rPr>
                        <m:t>𝑗</m:t>
                      </m:r>
                      <m:r>
                        <a:rPr lang="en-US" i="1" dirty="0" err="1">
                          <a:latin typeface="Cambria Math" panose="02040503050406030204" pitchFamily="18" charset="0"/>
                        </a:rPr>
                        <m:t>,</m:t>
                      </m:r>
                      <m:r>
                        <a:rPr lang="en-US" i="1" dirty="0" err="1">
                          <a:latin typeface="Cambria Math" panose="02040503050406030204" pitchFamily="18" charset="0"/>
                        </a:rPr>
                        <m:t>𝑡</m:t>
                      </m:r>
                    </m:oMath>
                  </m:oMathPara>
                </a14:m>
                <a:endParaRPr/>
              </a:p>
            </p:txBody>
          </p:sp>
        </mc:Choice>
        <mc:Fallback xmlns="">
          <p:sp>
            <p:nvSpPr>
              <p:cNvPr id="47" name="TextBox 46">
                <a:extLst>
                  <a:ext uri="{FF2B5EF4-FFF2-40B4-BE49-F238E27FC236}">
                    <a16:creationId xmlns:a16="http://schemas.microsoft.com/office/drawing/2014/main" id="{412D9DA5-0C44-2F34-3D39-8983F2B74318}"/>
                  </a:ext>
                </a:extLst>
              </p:cNvPr>
              <p:cNvSpPr txBox="1">
                <a:spLocks noRot="1" noChangeAspect="1" noMove="1" noResize="1" noEditPoints="1" noAdjustHandles="1" noChangeArrowheads="1" noChangeShapeType="1" noTextEdit="1"/>
              </p:cNvSpPr>
              <p:nvPr/>
            </p:nvSpPr>
            <p:spPr>
              <a:xfrm>
                <a:off x="4300929" y="7739188"/>
                <a:ext cx="8237094" cy="391646"/>
              </a:xfrm>
              <a:prstGeom prst="rect">
                <a:avLst/>
              </a:prstGeom>
              <a:blipFill>
                <a:blip r:embed="rId21"/>
                <a:stretch>
                  <a:fillRect t="-10938" b="-171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213481DC-3CB9-6932-47C0-E3F9D4A9CD75}"/>
                  </a:ext>
                </a:extLst>
              </p:cNvPr>
              <p:cNvSpPr txBox="1"/>
              <p:nvPr/>
            </p:nvSpPr>
            <p:spPr>
              <a:xfrm>
                <a:off x="4381584" y="8130040"/>
                <a:ext cx="82370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𝑦</m:t>
                      </m:r>
                      <m:r>
                        <a:rPr lang="en-US" i="1" dirty="0" smtClean="0">
                          <a:latin typeface="Cambria Math" panose="02040503050406030204" pitchFamily="18" charset="0"/>
                        </a:rPr>
                        <m:t>, </m:t>
                      </m:r>
                      <m:r>
                        <a:rPr lang="en-US" i="1" dirty="0" smtClean="0">
                          <a:latin typeface="Cambria Math" panose="02040503050406030204" pitchFamily="18" charset="0"/>
                        </a:rPr>
                        <m:t>𝑧</m:t>
                      </m:r>
                      <m:r>
                        <a:rPr lang="en-US" i="1" dirty="0" smtClean="0">
                          <a:latin typeface="Cambria Math" panose="02040503050406030204" pitchFamily="18" charset="0"/>
                        </a:rPr>
                        <m:t> </m:t>
                      </m:r>
                      <m:r>
                        <a:rPr lang="en-US" i="1" dirty="0" smtClean="0">
                          <a:latin typeface="Cambria Math" panose="02040503050406030204" pitchFamily="18" charset="0"/>
                        </a:rPr>
                        <m:t>𝑏𝑖𝑛𝑎𝑟𝑦</m:t>
                      </m:r>
                      <m:r>
                        <a:rPr lang="en-US" i="1" dirty="0" smtClean="0">
                          <a:latin typeface="Cambria Math" panose="02040503050406030204" pitchFamily="18" charset="0"/>
                        </a:rPr>
                        <m:t>, </m:t>
                      </m:r>
                      <m:r>
                        <a:rPr lang="en-US" i="1" dirty="0" smtClean="0">
                          <a:latin typeface="Cambria Math" panose="02040503050406030204" pitchFamily="18" charset="0"/>
                        </a:rPr>
                        <m:t>𝐼</m:t>
                      </m:r>
                      <m:r>
                        <a:rPr lang="en-US" i="1" dirty="0" smtClean="0">
                          <a:latin typeface="Cambria Math" panose="02040503050406030204" pitchFamily="18" charset="0"/>
                        </a:rPr>
                        <m:t>, </m:t>
                      </m:r>
                      <m:r>
                        <a:rPr lang="en-US" i="1" dirty="0" smtClean="0">
                          <a:latin typeface="Cambria Math" panose="02040503050406030204" pitchFamily="18" charset="0"/>
                        </a:rPr>
                        <m:t>𝑔</m:t>
                      </m:r>
                      <m:r>
                        <a:rPr lang="en-US" i="1" dirty="0" smtClean="0">
                          <a:latin typeface="Cambria Math" panose="02040503050406030204" pitchFamily="18" charset="0"/>
                        </a:rPr>
                        <m:t>, </m:t>
                      </m:r>
                      <m:r>
                        <a:rPr lang="en-US" i="1" dirty="0" smtClean="0">
                          <a:latin typeface="Cambria Math" panose="02040503050406030204" pitchFamily="18" charset="0"/>
                        </a:rPr>
                        <m:t>𝑝</m:t>
                      </m:r>
                      <m:r>
                        <a:rPr lang="en-US" i="1" dirty="0" smtClean="0">
                          <a:latin typeface="Cambria Math" panose="02040503050406030204" pitchFamily="18" charset="0"/>
                        </a:rPr>
                        <m:t>, </m:t>
                      </m:r>
                      <m:r>
                        <a:rPr lang="en-US" i="1" dirty="0" smtClean="0">
                          <a:latin typeface="Cambria Math" panose="02040503050406030204" pitchFamily="18" charset="0"/>
                        </a:rPr>
                        <m:t>𝑢</m:t>
                      </m:r>
                      <m:r>
                        <a:rPr lang="en-US" i="1" dirty="0" smtClean="0">
                          <a:latin typeface="Cambria Math" panose="02040503050406030204" pitchFamily="18" charset="0"/>
                        </a:rPr>
                        <m:t>, </m:t>
                      </m:r>
                      <m:r>
                        <a:rPr lang="en-US" i="1" dirty="0" smtClean="0">
                          <a:latin typeface="Cambria Math" panose="02040503050406030204" pitchFamily="18" charset="0"/>
                        </a:rPr>
                        <m:t>𝑤</m:t>
                      </m:r>
                      <m:r>
                        <a:rPr lang="en-US" i="1" dirty="0" smtClean="0">
                          <a:latin typeface="Cambria Math" panose="02040503050406030204" pitchFamily="18" charset="0"/>
                        </a:rPr>
                        <m:t> ≥ 0. </m:t>
                      </m:r>
                    </m:oMath>
                  </m:oMathPara>
                </a14:m>
                <a:endParaRPr/>
              </a:p>
            </p:txBody>
          </p:sp>
        </mc:Choice>
        <mc:Fallback xmlns="">
          <p:sp>
            <p:nvSpPr>
              <p:cNvPr id="61" name="TextBox 60">
                <a:extLst>
                  <a:ext uri="{FF2B5EF4-FFF2-40B4-BE49-F238E27FC236}">
                    <a16:creationId xmlns:a16="http://schemas.microsoft.com/office/drawing/2014/main" id="{213481DC-3CB9-6932-47C0-E3F9D4A9CD75}"/>
                  </a:ext>
                </a:extLst>
              </p:cNvPr>
              <p:cNvSpPr txBox="1">
                <a:spLocks noRot="1" noChangeAspect="1" noMove="1" noResize="1" noEditPoints="1" noAdjustHandles="1" noChangeArrowheads="1" noChangeShapeType="1" noTextEdit="1"/>
              </p:cNvSpPr>
              <p:nvPr/>
            </p:nvSpPr>
            <p:spPr>
              <a:xfrm>
                <a:off x="4381584" y="8130040"/>
                <a:ext cx="8237094" cy="369332"/>
              </a:xfrm>
              <a:prstGeom prst="rect">
                <a:avLst/>
              </a:prstGeom>
              <a:blipFill>
                <a:blip r:embed="rId22"/>
                <a:stretch>
                  <a:fillRect t="-11667" b="-25000"/>
                </a:stretch>
              </a:blipFill>
            </p:spPr>
            <p:txBody>
              <a:bodyPr/>
              <a:lstStyle/>
              <a:p>
                <a:r>
                  <a:rPr lang="en-US">
                    <a:noFill/>
                  </a:rPr>
                  <a:t> </a:t>
                </a:r>
              </a:p>
            </p:txBody>
          </p:sp>
        </mc:Fallback>
      </mc:AlternateContent>
    </p:spTree>
    <p:extLst>
      <p:ext uri="{BB962C8B-B14F-4D97-AF65-F5344CB8AC3E}">
        <p14:creationId xmlns:p14="http://schemas.microsoft.com/office/powerpoint/2010/main" val="808326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D834D-7B56-986A-FC3C-F1ABE9369C2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F4A0AA8-66C1-CC36-852D-5F91FA22D665}"/>
              </a:ext>
            </a:extLst>
          </p:cNvPr>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a:extLst>
              <a:ext uri="{FF2B5EF4-FFF2-40B4-BE49-F238E27FC236}">
                <a16:creationId xmlns:a16="http://schemas.microsoft.com/office/drawing/2014/main" id="{915173B4-35EB-80C2-27E3-58CAD0574360}"/>
              </a:ext>
            </a:extLst>
          </p:cNvPr>
          <p:cNvPicPr>
            <a:picLocks noChangeAspect="1"/>
          </p:cNvPicPr>
          <p:nvPr/>
        </p:nvPicPr>
        <p:blipFill>
          <a:blip r:embed="rId3"/>
          <a:srcRect/>
          <a:stretch>
            <a:fillRect/>
          </a:stretch>
        </p:blipFill>
        <p:spPr>
          <a:xfrm>
            <a:off x="0" y="-176306"/>
            <a:ext cx="16256000" cy="9144000"/>
          </a:xfrm>
          <a:prstGeom prst="rect">
            <a:avLst/>
          </a:prstGeom>
        </p:spPr>
      </p:pic>
      <p:sp>
        <p:nvSpPr>
          <p:cNvPr id="4" name="AutoShape 4">
            <a:extLst>
              <a:ext uri="{FF2B5EF4-FFF2-40B4-BE49-F238E27FC236}">
                <a16:creationId xmlns:a16="http://schemas.microsoft.com/office/drawing/2014/main" id="{A356C35A-76D0-CBC8-DE49-207553884721}"/>
              </a:ext>
            </a:extLst>
          </p:cNvPr>
          <p:cNvSpPr/>
          <p:nvPr/>
        </p:nvSpPr>
        <p:spPr>
          <a:xfrm>
            <a:off x="862479" y="2336800"/>
            <a:ext cx="14490700" cy="4749800"/>
          </a:xfrm>
          <a:prstGeom prst="rect">
            <a:avLst/>
          </a:prstGeom>
          <a:solidFill>
            <a:srgbClr val="000000">
              <a:alpha val="0"/>
            </a:srgbClr>
          </a:solidFill>
        </p:spPr>
        <p:txBody>
          <a:bodyPr/>
          <a:lstStyle/>
          <a:p>
            <a:endParaRPr lang="en-US"/>
          </a:p>
        </p:txBody>
      </p:sp>
      <p:sp>
        <p:nvSpPr>
          <p:cNvPr id="11" name="TextBox 11">
            <a:extLst>
              <a:ext uri="{FF2B5EF4-FFF2-40B4-BE49-F238E27FC236}">
                <a16:creationId xmlns:a16="http://schemas.microsoft.com/office/drawing/2014/main" id="{A523143D-16F7-ECD6-73CA-5B61004404A3}"/>
              </a:ext>
            </a:extLst>
          </p:cNvPr>
          <p:cNvSpPr txBox="1"/>
          <p:nvPr/>
        </p:nvSpPr>
        <p:spPr>
          <a:xfrm>
            <a:off x="237552" y="-1666"/>
            <a:ext cx="14490700" cy="584200"/>
          </a:xfrm>
          <a:prstGeom prst="rect">
            <a:avLst/>
          </a:prstGeom>
          <a:solidFill>
            <a:srgbClr val="000000">
              <a:alpha val="0"/>
            </a:srgbClr>
          </a:solidFill>
        </p:spPr>
        <p:txBody>
          <a:bodyPr lIns="0" tIns="0" rIns="0" bIns="0" rtlCol="0" anchor="ctr"/>
          <a:lstStyle/>
          <a:p>
            <a:pPr>
              <a:lnSpc>
                <a:spcPct val="119999"/>
              </a:lnSpc>
              <a:defRPr/>
            </a:pPr>
            <a:r>
              <a:rPr lang="en-US" sz="4000" b="1" dirty="0">
                <a:solidFill>
                  <a:srgbClr val="1A4378"/>
                </a:solidFill>
                <a:latin typeface="Poppins"/>
              </a:rPr>
              <a:t>An Empirical Example on Tuna Category</a:t>
            </a:r>
            <a:endParaRPr lang="en-US" sz="1100" dirty="0"/>
          </a:p>
        </p:txBody>
      </p:sp>
      <p:sp>
        <p:nvSpPr>
          <p:cNvPr id="15" name="TextBox 15">
            <a:extLst>
              <a:ext uri="{FF2B5EF4-FFF2-40B4-BE49-F238E27FC236}">
                <a16:creationId xmlns:a16="http://schemas.microsoft.com/office/drawing/2014/main" id="{0D8ABF08-48DD-6C73-E833-1AE38F60274E}"/>
              </a:ext>
            </a:extLst>
          </p:cNvPr>
          <p:cNvSpPr txBox="1"/>
          <p:nvPr/>
        </p:nvSpPr>
        <p:spPr>
          <a:xfrm>
            <a:off x="471357" y="1792194"/>
            <a:ext cx="13639800" cy="2603500"/>
          </a:xfrm>
          <a:prstGeom prst="rect">
            <a:avLst/>
          </a:prstGeom>
          <a:solidFill>
            <a:srgbClr val="000000">
              <a:alpha val="0"/>
            </a:srgbClr>
          </a:solidFill>
        </p:spPr>
        <p:txBody>
          <a:bodyPr lIns="0" tIns="0" rIns="0" bIns="0" rtlCol="0" anchor="ctr"/>
          <a:lstStyle/>
          <a:p>
            <a:pPr>
              <a:lnSpc>
                <a:spcPct val="149999"/>
              </a:lnSpc>
              <a:defRPr/>
            </a:pPr>
            <a:endParaRPr lang="en-US" sz="2800" b="1" dirty="0">
              <a:solidFill>
                <a:srgbClr val="1A4378"/>
              </a:solidFill>
              <a:latin typeface="Poppins"/>
            </a:endParaRPr>
          </a:p>
        </p:txBody>
      </p:sp>
      <p:sp>
        <p:nvSpPr>
          <p:cNvPr id="16" name="TextBox 16">
            <a:extLst>
              <a:ext uri="{FF2B5EF4-FFF2-40B4-BE49-F238E27FC236}">
                <a16:creationId xmlns:a16="http://schemas.microsoft.com/office/drawing/2014/main" id="{948A1D46-0782-D417-A98D-3E56F04C6603}"/>
              </a:ext>
            </a:extLst>
          </p:cNvPr>
          <p:cNvSpPr txBox="1"/>
          <p:nvPr/>
        </p:nvSpPr>
        <p:spPr>
          <a:xfrm>
            <a:off x="264078" y="1728341"/>
            <a:ext cx="9714043" cy="1866900"/>
          </a:xfrm>
          <a:prstGeom prst="rect">
            <a:avLst/>
          </a:prstGeom>
          <a:solidFill>
            <a:srgbClr val="000000">
              <a:alpha val="0"/>
            </a:srgbClr>
          </a:solidFill>
        </p:spPr>
        <p:txBody>
          <a:bodyPr lIns="0" tIns="0" rIns="0" bIns="0" rtlCol="0" anchor="ctr"/>
          <a:lstStyle/>
          <a:p>
            <a:pPr>
              <a:lnSpc>
                <a:spcPct val="149999"/>
              </a:lnSpc>
              <a:defRPr/>
            </a:pPr>
            <a:r>
              <a:rPr lang="en-US" sz="2800" b="1" dirty="0">
                <a:solidFill>
                  <a:srgbClr val="1A4378"/>
                </a:solidFill>
                <a:latin typeface="Poppins"/>
              </a:rPr>
              <a:t>Data &amp; Calibration: </a:t>
            </a:r>
            <a:r>
              <a:rPr lang="en-US" sz="2800" dirty="0">
                <a:solidFill>
                  <a:srgbClr val="1A4378"/>
                </a:solidFill>
                <a:latin typeface="Poppins"/>
              </a:rPr>
              <a:t>historical tuna prices + sales → estimate segment-level reservation prices so model-predicted demand matches observed demand</a:t>
            </a:r>
          </a:p>
        </p:txBody>
      </p:sp>
      <p:pic>
        <p:nvPicPr>
          <p:cNvPr id="6" name="Picture 5">
            <a:extLst>
              <a:ext uri="{FF2B5EF4-FFF2-40B4-BE49-F238E27FC236}">
                <a16:creationId xmlns:a16="http://schemas.microsoft.com/office/drawing/2014/main" id="{DD83B8AB-00B4-A931-C0DA-681906C0AB70}"/>
              </a:ext>
            </a:extLst>
          </p:cNvPr>
          <p:cNvPicPr>
            <a:picLocks noChangeAspect="1"/>
          </p:cNvPicPr>
          <p:nvPr/>
        </p:nvPicPr>
        <p:blipFill>
          <a:blip r:embed="rId4"/>
          <a:stretch>
            <a:fillRect/>
          </a:stretch>
        </p:blipFill>
        <p:spPr>
          <a:xfrm>
            <a:off x="10025292" y="1937659"/>
            <a:ext cx="5792008" cy="3315163"/>
          </a:xfrm>
          <a:prstGeom prst="rect">
            <a:avLst/>
          </a:prstGeom>
        </p:spPr>
      </p:pic>
      <p:sp>
        <p:nvSpPr>
          <p:cNvPr id="7" name="TextBox 16">
            <a:extLst>
              <a:ext uri="{FF2B5EF4-FFF2-40B4-BE49-F238E27FC236}">
                <a16:creationId xmlns:a16="http://schemas.microsoft.com/office/drawing/2014/main" id="{D0BADB15-CD57-07A7-B4F0-B8838A007AC9}"/>
              </a:ext>
            </a:extLst>
          </p:cNvPr>
          <p:cNvSpPr txBox="1"/>
          <p:nvPr/>
        </p:nvSpPr>
        <p:spPr>
          <a:xfrm>
            <a:off x="290310" y="4200071"/>
            <a:ext cx="9714043" cy="2982741"/>
          </a:xfrm>
          <a:prstGeom prst="rect">
            <a:avLst/>
          </a:prstGeom>
          <a:solidFill>
            <a:srgbClr val="000000">
              <a:alpha val="0"/>
            </a:srgbClr>
          </a:solidFill>
        </p:spPr>
        <p:txBody>
          <a:bodyPr lIns="0" tIns="0" rIns="0" bIns="0" rtlCol="0" anchor="ctr"/>
          <a:lstStyle/>
          <a:p>
            <a:pPr>
              <a:lnSpc>
                <a:spcPct val="149999"/>
              </a:lnSpc>
              <a:defRPr/>
            </a:pPr>
            <a:r>
              <a:rPr lang="en-US" sz="2800" b="1" dirty="0">
                <a:solidFill>
                  <a:srgbClr val="1A4378"/>
                </a:solidFill>
                <a:latin typeface="Poppins"/>
              </a:rPr>
              <a:t>Method: </a:t>
            </a:r>
          </a:p>
          <a:p>
            <a:pPr marL="914400" lvl="1" indent="-457200">
              <a:lnSpc>
                <a:spcPct val="149999"/>
              </a:lnSpc>
              <a:buFont typeface="Arial" panose="020B0604020202020204" pitchFamily="34" charset="0"/>
              <a:buChar char="•"/>
              <a:defRPr/>
            </a:pPr>
            <a:r>
              <a:rPr lang="en-US" sz="2800" dirty="0">
                <a:solidFill>
                  <a:srgbClr val="1A4378"/>
                </a:solidFill>
                <a:latin typeface="Poppins"/>
              </a:rPr>
              <a:t>Maximum-surplus choice model </a:t>
            </a:r>
          </a:p>
          <a:p>
            <a:pPr marL="914400" lvl="1" indent="-457200">
              <a:lnSpc>
                <a:spcPct val="149999"/>
              </a:lnSpc>
              <a:buFont typeface="Arial" panose="020B0604020202020204" pitchFamily="34" charset="0"/>
              <a:buChar char="•"/>
              <a:defRPr/>
            </a:pPr>
            <a:r>
              <a:rPr lang="en-US" sz="2800" dirty="0">
                <a:solidFill>
                  <a:srgbClr val="1A4378"/>
                </a:solidFill>
                <a:latin typeface="Poppins"/>
              </a:rPr>
              <a:t>calibrated customer segments </a:t>
            </a:r>
          </a:p>
          <a:p>
            <a:pPr marL="914400" lvl="1" indent="-457200">
              <a:lnSpc>
                <a:spcPct val="149999"/>
              </a:lnSpc>
              <a:buFont typeface="Arial" panose="020B0604020202020204" pitchFamily="34" charset="0"/>
              <a:buChar char="•"/>
              <a:defRPr/>
            </a:pPr>
            <a:r>
              <a:rPr lang="en-US" sz="2800" dirty="0">
                <a:solidFill>
                  <a:srgbClr val="1A4378"/>
                </a:solidFill>
                <a:latin typeface="Poppins"/>
              </a:rPr>
              <a:t>MILP optimization over multiple selling periods.</a:t>
            </a:r>
          </a:p>
        </p:txBody>
      </p:sp>
    </p:spTree>
    <p:extLst>
      <p:ext uri="{BB962C8B-B14F-4D97-AF65-F5344CB8AC3E}">
        <p14:creationId xmlns:p14="http://schemas.microsoft.com/office/powerpoint/2010/main" val="3919616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F0E9E-DC22-A192-6CCE-5F6E98C470B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381DDE7-585F-EDB0-3AF8-9574FBF26322}"/>
              </a:ext>
            </a:extLst>
          </p:cNvPr>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a:extLst>
              <a:ext uri="{FF2B5EF4-FFF2-40B4-BE49-F238E27FC236}">
                <a16:creationId xmlns:a16="http://schemas.microsoft.com/office/drawing/2014/main" id="{63F42CD7-532B-D8A3-3C43-9921DE6180EC}"/>
              </a:ext>
            </a:extLst>
          </p:cNvPr>
          <p:cNvPicPr>
            <a:picLocks noChangeAspect="1"/>
          </p:cNvPicPr>
          <p:nvPr/>
        </p:nvPicPr>
        <p:blipFill>
          <a:blip r:embed="rId2"/>
          <a:srcRect/>
          <a:stretch>
            <a:fillRect/>
          </a:stretch>
        </p:blipFill>
        <p:spPr>
          <a:xfrm>
            <a:off x="0" y="0"/>
            <a:ext cx="16256000" cy="9144000"/>
          </a:xfrm>
          <a:prstGeom prst="rect">
            <a:avLst/>
          </a:prstGeom>
        </p:spPr>
      </p:pic>
      <p:sp>
        <p:nvSpPr>
          <p:cNvPr id="4" name="AutoShape 4">
            <a:extLst>
              <a:ext uri="{FF2B5EF4-FFF2-40B4-BE49-F238E27FC236}">
                <a16:creationId xmlns:a16="http://schemas.microsoft.com/office/drawing/2014/main" id="{F0F9D902-C0FC-C704-AA67-310F21B14F38}"/>
              </a:ext>
            </a:extLst>
          </p:cNvPr>
          <p:cNvSpPr/>
          <p:nvPr/>
        </p:nvSpPr>
        <p:spPr>
          <a:xfrm>
            <a:off x="876300" y="2819400"/>
            <a:ext cx="14490700" cy="4368800"/>
          </a:xfrm>
          <a:prstGeom prst="rect">
            <a:avLst/>
          </a:prstGeom>
          <a:solidFill>
            <a:srgbClr val="000000">
              <a:alpha val="0"/>
            </a:srgbClr>
          </a:solidFill>
        </p:spPr>
        <p:txBody>
          <a:bodyPr/>
          <a:lstStyle/>
          <a:p>
            <a:endParaRPr lang="en-US"/>
          </a:p>
        </p:txBody>
      </p:sp>
      <p:sp>
        <p:nvSpPr>
          <p:cNvPr id="5" name="AutoShape 5">
            <a:extLst>
              <a:ext uri="{FF2B5EF4-FFF2-40B4-BE49-F238E27FC236}">
                <a16:creationId xmlns:a16="http://schemas.microsoft.com/office/drawing/2014/main" id="{C3AB3AF2-83B5-420A-C5D9-6C6FD0B90BB5}"/>
              </a:ext>
            </a:extLst>
          </p:cNvPr>
          <p:cNvSpPr/>
          <p:nvPr/>
        </p:nvSpPr>
        <p:spPr>
          <a:xfrm>
            <a:off x="876300" y="3568700"/>
            <a:ext cx="4699000" cy="3619500"/>
          </a:xfrm>
          <a:prstGeom prst="rect">
            <a:avLst/>
          </a:prstGeom>
          <a:solidFill>
            <a:srgbClr val="000000">
              <a:alpha val="0"/>
            </a:srgbClr>
          </a:solidFill>
        </p:spPr>
        <p:txBody>
          <a:bodyPr/>
          <a:lstStyle/>
          <a:p>
            <a:endParaRPr lang="en-US"/>
          </a:p>
        </p:txBody>
      </p:sp>
      <p:sp>
        <p:nvSpPr>
          <p:cNvPr id="6" name="AutoShape 6">
            <a:extLst>
              <a:ext uri="{FF2B5EF4-FFF2-40B4-BE49-F238E27FC236}">
                <a16:creationId xmlns:a16="http://schemas.microsoft.com/office/drawing/2014/main" id="{319562D3-0939-4977-5A88-062191BE1F35}"/>
              </a:ext>
            </a:extLst>
          </p:cNvPr>
          <p:cNvSpPr/>
          <p:nvPr/>
        </p:nvSpPr>
        <p:spPr>
          <a:xfrm>
            <a:off x="876300" y="3568700"/>
            <a:ext cx="4699000" cy="3619500"/>
          </a:xfrm>
          <a:prstGeom prst="roundRect">
            <a:avLst>
              <a:gd name="adj" fmla="val 2105"/>
            </a:avLst>
          </a:prstGeom>
          <a:solidFill>
            <a:srgbClr val="000000">
              <a:alpha val="0"/>
            </a:srgbClr>
          </a:solidFill>
        </p:spPr>
        <p:txBody>
          <a:bodyPr/>
          <a:lstStyle/>
          <a:p>
            <a:endParaRPr lang="en-US"/>
          </a:p>
        </p:txBody>
      </p:sp>
      <p:sp>
        <p:nvSpPr>
          <p:cNvPr id="8" name="AutoShape 8">
            <a:extLst>
              <a:ext uri="{FF2B5EF4-FFF2-40B4-BE49-F238E27FC236}">
                <a16:creationId xmlns:a16="http://schemas.microsoft.com/office/drawing/2014/main" id="{F9BC1250-D23D-D9FE-6EFC-AEE074AA4E78}"/>
              </a:ext>
            </a:extLst>
          </p:cNvPr>
          <p:cNvSpPr/>
          <p:nvPr/>
        </p:nvSpPr>
        <p:spPr>
          <a:xfrm>
            <a:off x="5765800" y="3187700"/>
            <a:ext cx="4699000" cy="4000500"/>
          </a:xfrm>
          <a:prstGeom prst="rect">
            <a:avLst/>
          </a:prstGeom>
          <a:solidFill>
            <a:srgbClr val="000000">
              <a:alpha val="0"/>
            </a:srgbClr>
          </a:solidFill>
        </p:spPr>
        <p:txBody>
          <a:bodyPr/>
          <a:lstStyle/>
          <a:p>
            <a:endParaRPr lang="en-US"/>
          </a:p>
        </p:txBody>
      </p:sp>
      <p:sp>
        <p:nvSpPr>
          <p:cNvPr id="11" name="AutoShape 11">
            <a:extLst>
              <a:ext uri="{FF2B5EF4-FFF2-40B4-BE49-F238E27FC236}">
                <a16:creationId xmlns:a16="http://schemas.microsoft.com/office/drawing/2014/main" id="{6D611760-5E13-39A4-D807-03231B15399F}"/>
              </a:ext>
            </a:extLst>
          </p:cNvPr>
          <p:cNvSpPr/>
          <p:nvPr/>
        </p:nvSpPr>
        <p:spPr>
          <a:xfrm>
            <a:off x="10668000" y="2819400"/>
            <a:ext cx="4699000" cy="4368800"/>
          </a:xfrm>
          <a:prstGeom prst="rect">
            <a:avLst/>
          </a:prstGeom>
          <a:solidFill>
            <a:srgbClr val="000000">
              <a:alpha val="0"/>
            </a:srgbClr>
          </a:solidFill>
        </p:spPr>
        <p:txBody>
          <a:bodyPr/>
          <a:lstStyle/>
          <a:p>
            <a:endParaRPr lang="en-US"/>
          </a:p>
        </p:txBody>
      </p:sp>
      <p:sp>
        <p:nvSpPr>
          <p:cNvPr id="12" name="AutoShape 12">
            <a:extLst>
              <a:ext uri="{FF2B5EF4-FFF2-40B4-BE49-F238E27FC236}">
                <a16:creationId xmlns:a16="http://schemas.microsoft.com/office/drawing/2014/main" id="{D9A5872A-C096-9DD6-E46A-5869AA4ECC4B}"/>
              </a:ext>
            </a:extLst>
          </p:cNvPr>
          <p:cNvSpPr/>
          <p:nvPr/>
        </p:nvSpPr>
        <p:spPr>
          <a:xfrm>
            <a:off x="10668000" y="2819400"/>
            <a:ext cx="4699000" cy="4368800"/>
          </a:xfrm>
          <a:prstGeom prst="roundRect">
            <a:avLst>
              <a:gd name="adj" fmla="val 1744"/>
            </a:avLst>
          </a:prstGeom>
          <a:solidFill>
            <a:srgbClr val="000000">
              <a:alpha val="0"/>
            </a:srgbClr>
          </a:solidFill>
        </p:spPr>
        <p:txBody>
          <a:bodyPr/>
          <a:lstStyle/>
          <a:p>
            <a:endParaRPr lang="en-US"/>
          </a:p>
        </p:txBody>
      </p:sp>
      <p:sp>
        <p:nvSpPr>
          <p:cNvPr id="14" name="TextBox 14">
            <a:extLst>
              <a:ext uri="{FF2B5EF4-FFF2-40B4-BE49-F238E27FC236}">
                <a16:creationId xmlns:a16="http://schemas.microsoft.com/office/drawing/2014/main" id="{6EB1FCC6-8CC1-5094-8355-D74C7458A8E2}"/>
              </a:ext>
            </a:extLst>
          </p:cNvPr>
          <p:cNvSpPr txBox="1"/>
          <p:nvPr/>
        </p:nvSpPr>
        <p:spPr>
          <a:xfrm>
            <a:off x="279400" y="190500"/>
            <a:ext cx="14490700" cy="584200"/>
          </a:xfrm>
          <a:prstGeom prst="rect">
            <a:avLst/>
          </a:prstGeom>
          <a:solidFill>
            <a:srgbClr val="000000">
              <a:alpha val="0"/>
            </a:srgbClr>
          </a:solidFill>
        </p:spPr>
        <p:txBody>
          <a:bodyPr lIns="0" tIns="0" rIns="0" bIns="0" rtlCol="0" anchor="ctr"/>
          <a:lstStyle/>
          <a:p>
            <a:pPr indent="0" algn="l">
              <a:lnSpc>
                <a:spcPct val="119999"/>
              </a:lnSpc>
              <a:defRPr/>
            </a:pPr>
            <a:r>
              <a:rPr lang="en-US" sz="3900" b="1" dirty="0">
                <a:solidFill>
                  <a:srgbClr val="1A4378"/>
                </a:solidFill>
                <a:latin typeface="Poppins"/>
              </a:rPr>
              <a:t>Table of Contents</a:t>
            </a:r>
            <a:endParaRPr lang="en-US" sz="1100" dirty="0"/>
          </a:p>
        </p:txBody>
      </p:sp>
      <p:sp>
        <p:nvSpPr>
          <p:cNvPr id="15" name="TextBox 15">
            <a:extLst>
              <a:ext uri="{FF2B5EF4-FFF2-40B4-BE49-F238E27FC236}">
                <a16:creationId xmlns:a16="http://schemas.microsoft.com/office/drawing/2014/main" id="{4C461820-C24A-8FF4-7E49-8D642F919C5D}"/>
              </a:ext>
            </a:extLst>
          </p:cNvPr>
          <p:cNvSpPr txBox="1"/>
          <p:nvPr/>
        </p:nvSpPr>
        <p:spPr>
          <a:xfrm>
            <a:off x="283029" y="1246414"/>
            <a:ext cx="9661072" cy="5117193"/>
          </a:xfrm>
          <a:prstGeom prst="rect">
            <a:avLst/>
          </a:prstGeom>
          <a:solidFill>
            <a:srgbClr val="000000">
              <a:alpha val="0"/>
            </a:srgbClr>
          </a:solidFill>
        </p:spPr>
        <p:txBody>
          <a:bodyPr lIns="0" tIns="0" rIns="0" bIns="0" rtlCol="0" anchor="ctr"/>
          <a:lstStyle/>
          <a:p>
            <a:pPr indent="0" algn="l">
              <a:lnSpc>
                <a:spcPct val="300000"/>
              </a:lnSpc>
              <a:defRPr/>
            </a:pPr>
            <a:r>
              <a:rPr lang="en-US" sz="2900" dirty="0">
                <a:solidFill>
                  <a:srgbClr val="1A4378"/>
                </a:solidFill>
                <a:latin typeface="Poppins"/>
              </a:rPr>
              <a:t>Background</a:t>
            </a:r>
          </a:p>
          <a:p>
            <a:pPr>
              <a:lnSpc>
                <a:spcPct val="300000"/>
              </a:lnSpc>
              <a:defRPr/>
            </a:pPr>
            <a:r>
              <a:rPr lang="en-US" sz="2900" dirty="0">
                <a:solidFill>
                  <a:srgbClr val="1A4378"/>
                </a:solidFill>
                <a:latin typeface="Poppins"/>
              </a:rPr>
              <a:t>Methodology</a:t>
            </a:r>
          </a:p>
          <a:p>
            <a:pPr>
              <a:lnSpc>
                <a:spcPct val="300000"/>
              </a:lnSpc>
              <a:defRPr/>
            </a:pPr>
            <a:r>
              <a:rPr lang="en-US" sz="2900" b="1" dirty="0">
                <a:solidFill>
                  <a:srgbClr val="1A4378"/>
                </a:solidFill>
                <a:latin typeface="Poppins"/>
              </a:rPr>
              <a:t>Results &amp; Discussion</a:t>
            </a:r>
          </a:p>
          <a:p>
            <a:pPr>
              <a:lnSpc>
                <a:spcPct val="300000"/>
              </a:lnSpc>
              <a:defRPr/>
            </a:pPr>
            <a:r>
              <a:rPr lang="en-US" sz="2900" dirty="0">
                <a:solidFill>
                  <a:srgbClr val="1A4378"/>
                </a:solidFill>
                <a:latin typeface="Poppins"/>
              </a:rPr>
              <a:t>Research Summary &amp; Contribution</a:t>
            </a:r>
          </a:p>
          <a:p>
            <a:pPr indent="0" algn="l">
              <a:lnSpc>
                <a:spcPct val="120000"/>
              </a:lnSpc>
              <a:defRPr/>
            </a:pPr>
            <a:endParaRPr lang="en-US" sz="1100" dirty="0"/>
          </a:p>
        </p:txBody>
      </p:sp>
    </p:spTree>
    <p:extLst>
      <p:ext uri="{BB962C8B-B14F-4D97-AF65-F5344CB8AC3E}">
        <p14:creationId xmlns:p14="http://schemas.microsoft.com/office/powerpoint/2010/main" val="4186743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843EF-D7E8-0C2E-D5D3-E74C736C918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DD6210C-A90D-CA7C-4B45-9A4C8F243312}"/>
              </a:ext>
            </a:extLst>
          </p:cNvPr>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a:extLst>
              <a:ext uri="{FF2B5EF4-FFF2-40B4-BE49-F238E27FC236}">
                <a16:creationId xmlns:a16="http://schemas.microsoft.com/office/drawing/2014/main" id="{E4BEDEE0-96B4-595F-5B14-443BD8BDEB8F}"/>
              </a:ext>
            </a:extLst>
          </p:cNvPr>
          <p:cNvPicPr>
            <a:picLocks noChangeAspect="1"/>
          </p:cNvPicPr>
          <p:nvPr/>
        </p:nvPicPr>
        <p:blipFill>
          <a:blip r:embed="rId3"/>
          <a:srcRect/>
          <a:stretch>
            <a:fillRect/>
          </a:stretch>
        </p:blipFill>
        <p:spPr>
          <a:xfrm>
            <a:off x="0" y="-176306"/>
            <a:ext cx="16256000" cy="9144000"/>
          </a:xfrm>
          <a:prstGeom prst="rect">
            <a:avLst/>
          </a:prstGeom>
        </p:spPr>
      </p:pic>
      <p:sp>
        <p:nvSpPr>
          <p:cNvPr id="11" name="TextBox 11">
            <a:extLst>
              <a:ext uri="{FF2B5EF4-FFF2-40B4-BE49-F238E27FC236}">
                <a16:creationId xmlns:a16="http://schemas.microsoft.com/office/drawing/2014/main" id="{8BC822EC-0D44-B945-F335-7F313BF6B77A}"/>
              </a:ext>
            </a:extLst>
          </p:cNvPr>
          <p:cNvSpPr txBox="1"/>
          <p:nvPr/>
        </p:nvSpPr>
        <p:spPr>
          <a:xfrm>
            <a:off x="355600" y="-1121"/>
            <a:ext cx="14490700" cy="584200"/>
          </a:xfrm>
          <a:prstGeom prst="rect">
            <a:avLst/>
          </a:prstGeom>
          <a:solidFill>
            <a:srgbClr val="000000">
              <a:alpha val="0"/>
            </a:srgbClr>
          </a:solidFill>
        </p:spPr>
        <p:txBody>
          <a:bodyPr lIns="0" tIns="0" rIns="0" bIns="0" rtlCol="0" anchor="ctr"/>
          <a:lstStyle/>
          <a:p>
            <a:pPr indent="0" algn="l">
              <a:lnSpc>
                <a:spcPct val="119999"/>
              </a:lnSpc>
              <a:defRPr/>
            </a:pPr>
            <a:r>
              <a:rPr lang="en-US" sz="3900" b="1" dirty="0">
                <a:solidFill>
                  <a:srgbClr val="1A4378"/>
                </a:solidFill>
                <a:latin typeface="Poppins"/>
              </a:rPr>
              <a:t>Summary of Findings</a:t>
            </a:r>
            <a:endParaRPr lang="en-US" sz="1100" dirty="0"/>
          </a:p>
        </p:txBody>
      </p:sp>
      <p:grpSp>
        <p:nvGrpSpPr>
          <p:cNvPr id="6" name="Group 5">
            <a:extLst>
              <a:ext uri="{FF2B5EF4-FFF2-40B4-BE49-F238E27FC236}">
                <a16:creationId xmlns:a16="http://schemas.microsoft.com/office/drawing/2014/main" id="{89AEDE1D-7958-A398-DF68-99F6ADD1C010}"/>
              </a:ext>
            </a:extLst>
          </p:cNvPr>
          <p:cNvGrpSpPr/>
          <p:nvPr/>
        </p:nvGrpSpPr>
        <p:grpSpPr>
          <a:xfrm>
            <a:off x="355600" y="1066800"/>
            <a:ext cx="15037920" cy="5770282"/>
            <a:chOff x="862479" y="2044700"/>
            <a:chExt cx="15037920" cy="5770282"/>
          </a:xfrm>
        </p:grpSpPr>
        <p:sp>
          <p:nvSpPr>
            <p:cNvPr id="4" name="AutoShape 4">
              <a:extLst>
                <a:ext uri="{FF2B5EF4-FFF2-40B4-BE49-F238E27FC236}">
                  <a16:creationId xmlns:a16="http://schemas.microsoft.com/office/drawing/2014/main" id="{E21C3D99-E411-373A-8192-FEBECBCEFC5B}"/>
                </a:ext>
              </a:extLst>
            </p:cNvPr>
            <p:cNvSpPr/>
            <p:nvPr/>
          </p:nvSpPr>
          <p:spPr>
            <a:xfrm>
              <a:off x="862479" y="2336800"/>
              <a:ext cx="14490700" cy="4749800"/>
            </a:xfrm>
            <a:prstGeom prst="rect">
              <a:avLst/>
            </a:prstGeom>
            <a:solidFill>
              <a:srgbClr val="000000">
                <a:alpha val="0"/>
              </a:srgbClr>
            </a:solidFill>
          </p:spPr>
          <p:txBody>
            <a:bodyPr/>
            <a:lstStyle/>
            <a:p>
              <a:endParaRPr lang="en-US"/>
            </a:p>
          </p:txBody>
        </p:sp>
        <p:sp>
          <p:nvSpPr>
            <p:cNvPr id="5" name="AutoShape 5">
              <a:extLst>
                <a:ext uri="{FF2B5EF4-FFF2-40B4-BE49-F238E27FC236}">
                  <a16:creationId xmlns:a16="http://schemas.microsoft.com/office/drawing/2014/main" id="{889FCD7F-26F6-2A36-548D-B855DCE1E710}"/>
                </a:ext>
              </a:extLst>
            </p:cNvPr>
            <p:cNvSpPr/>
            <p:nvPr/>
          </p:nvSpPr>
          <p:spPr>
            <a:xfrm>
              <a:off x="876300" y="2628900"/>
              <a:ext cx="14476878" cy="1638300"/>
            </a:xfrm>
            <a:prstGeom prst="roundRect">
              <a:avLst>
                <a:gd name="adj" fmla="val 2452"/>
              </a:avLst>
            </a:prstGeom>
            <a:solidFill>
              <a:srgbClr val="D0E3F0"/>
            </a:solidFill>
          </p:spPr>
          <p:txBody>
            <a:bodyPr/>
            <a:lstStyle/>
            <a:p>
              <a:endParaRPr lang="en-US"/>
            </a:p>
          </p:txBody>
        </p:sp>
        <p:sp>
          <p:nvSpPr>
            <p:cNvPr id="7" name="AutoShape 7">
              <a:extLst>
                <a:ext uri="{FF2B5EF4-FFF2-40B4-BE49-F238E27FC236}">
                  <a16:creationId xmlns:a16="http://schemas.microsoft.com/office/drawing/2014/main" id="{AD3D1CC8-5A31-4878-E705-52A39411C95B}"/>
                </a:ext>
              </a:extLst>
            </p:cNvPr>
            <p:cNvSpPr/>
            <p:nvPr/>
          </p:nvSpPr>
          <p:spPr>
            <a:xfrm>
              <a:off x="895350" y="4395694"/>
              <a:ext cx="14490700" cy="1485900"/>
            </a:xfrm>
            <a:prstGeom prst="roundRect">
              <a:avLst>
                <a:gd name="adj" fmla="val 2452"/>
              </a:avLst>
            </a:prstGeom>
            <a:solidFill>
              <a:srgbClr val="D0E3F0"/>
            </a:solidFill>
          </p:spPr>
          <p:txBody>
            <a:bodyPr/>
            <a:lstStyle/>
            <a:p>
              <a:endParaRPr lang="en-US" dirty="0"/>
            </a:p>
          </p:txBody>
        </p:sp>
        <p:sp>
          <p:nvSpPr>
            <p:cNvPr id="9" name="AutoShape 9">
              <a:extLst>
                <a:ext uri="{FF2B5EF4-FFF2-40B4-BE49-F238E27FC236}">
                  <a16:creationId xmlns:a16="http://schemas.microsoft.com/office/drawing/2014/main" id="{47AC0CF4-8A29-05EA-184A-7EB8C6B3220A}"/>
                </a:ext>
              </a:extLst>
            </p:cNvPr>
            <p:cNvSpPr/>
            <p:nvPr/>
          </p:nvSpPr>
          <p:spPr>
            <a:xfrm>
              <a:off x="876299" y="6020921"/>
              <a:ext cx="14476879" cy="1638300"/>
            </a:xfrm>
            <a:prstGeom prst="roundRect">
              <a:avLst>
                <a:gd name="adj" fmla="val 2452"/>
              </a:avLst>
            </a:prstGeom>
            <a:solidFill>
              <a:srgbClr val="D0E3F0"/>
            </a:solidFill>
          </p:spPr>
          <p:txBody>
            <a:bodyPr/>
            <a:lstStyle/>
            <a:p>
              <a:endParaRPr lang="en-US" dirty="0"/>
            </a:p>
          </p:txBody>
        </p:sp>
        <p:sp>
          <p:nvSpPr>
            <p:cNvPr id="15" name="TextBox 15">
              <a:extLst>
                <a:ext uri="{FF2B5EF4-FFF2-40B4-BE49-F238E27FC236}">
                  <a16:creationId xmlns:a16="http://schemas.microsoft.com/office/drawing/2014/main" id="{C291BA7D-99BC-5BE9-99F8-26DF4DC71976}"/>
                </a:ext>
              </a:extLst>
            </p:cNvPr>
            <p:cNvSpPr txBox="1"/>
            <p:nvPr/>
          </p:nvSpPr>
          <p:spPr>
            <a:xfrm>
              <a:off x="1117600" y="2044700"/>
              <a:ext cx="13639800" cy="2603500"/>
            </a:xfrm>
            <a:prstGeom prst="rect">
              <a:avLst/>
            </a:prstGeom>
            <a:solidFill>
              <a:srgbClr val="000000">
                <a:alpha val="0"/>
              </a:srgbClr>
            </a:solidFill>
          </p:spPr>
          <p:txBody>
            <a:bodyPr lIns="0" tIns="0" rIns="0" bIns="0" rtlCol="0" anchor="ctr"/>
            <a:lstStyle/>
            <a:p>
              <a:pPr>
                <a:lnSpc>
                  <a:spcPct val="149999"/>
                </a:lnSpc>
                <a:defRPr/>
              </a:pPr>
              <a:r>
                <a:rPr lang="en-US" sz="2800" b="1" dirty="0">
                  <a:solidFill>
                    <a:srgbClr val="1A4378"/>
                  </a:solidFill>
                  <a:latin typeface="Poppins"/>
                </a:rPr>
                <a:t>The optimal assortment and pricing decisions do not exhibit a simple, intuitive structure</a:t>
              </a:r>
            </a:p>
          </p:txBody>
        </p:sp>
        <p:sp>
          <p:nvSpPr>
            <p:cNvPr id="16" name="TextBox 16">
              <a:extLst>
                <a:ext uri="{FF2B5EF4-FFF2-40B4-BE49-F238E27FC236}">
                  <a16:creationId xmlns:a16="http://schemas.microsoft.com/office/drawing/2014/main" id="{313E1E08-223D-F16F-BD0B-0701CF1EE5A5}"/>
                </a:ext>
              </a:extLst>
            </p:cNvPr>
            <p:cNvSpPr txBox="1"/>
            <p:nvPr/>
          </p:nvSpPr>
          <p:spPr>
            <a:xfrm>
              <a:off x="1117600" y="4120776"/>
              <a:ext cx="14135100" cy="1866900"/>
            </a:xfrm>
            <a:prstGeom prst="rect">
              <a:avLst/>
            </a:prstGeom>
            <a:solidFill>
              <a:srgbClr val="000000">
                <a:alpha val="0"/>
              </a:srgbClr>
            </a:solidFill>
          </p:spPr>
          <p:txBody>
            <a:bodyPr lIns="0" tIns="0" rIns="0" bIns="0" rtlCol="0" anchor="ctr"/>
            <a:lstStyle/>
            <a:p>
              <a:pPr>
                <a:lnSpc>
                  <a:spcPct val="149999"/>
                </a:lnSpc>
                <a:defRPr/>
              </a:pPr>
              <a:r>
                <a:rPr lang="en-US" sz="2800" b="1" dirty="0">
                  <a:solidFill>
                    <a:srgbClr val="1A4378"/>
                  </a:solidFill>
                  <a:latin typeface="Poppins"/>
                </a:rPr>
                <a:t>Suboptimal inventory policies significantly decrease profitability</a:t>
              </a:r>
            </a:p>
          </p:txBody>
        </p:sp>
        <p:sp>
          <p:nvSpPr>
            <p:cNvPr id="17" name="TextBox 17">
              <a:extLst>
                <a:ext uri="{FF2B5EF4-FFF2-40B4-BE49-F238E27FC236}">
                  <a16:creationId xmlns:a16="http://schemas.microsoft.com/office/drawing/2014/main" id="{8BF30E4C-0D83-261E-A43C-EFDF58D96DE3}"/>
                </a:ext>
              </a:extLst>
            </p:cNvPr>
            <p:cNvSpPr txBox="1"/>
            <p:nvPr/>
          </p:nvSpPr>
          <p:spPr>
            <a:xfrm>
              <a:off x="1100790" y="5650005"/>
              <a:ext cx="14799609" cy="2164977"/>
            </a:xfrm>
            <a:prstGeom prst="rect">
              <a:avLst/>
            </a:prstGeom>
            <a:solidFill>
              <a:srgbClr val="000000">
                <a:alpha val="0"/>
              </a:srgbClr>
            </a:solidFill>
          </p:spPr>
          <p:txBody>
            <a:bodyPr lIns="0" tIns="0" rIns="0" bIns="0" rtlCol="0" anchor="ctr"/>
            <a:lstStyle/>
            <a:p>
              <a:pPr>
                <a:lnSpc>
                  <a:spcPct val="149999"/>
                </a:lnSpc>
                <a:defRPr/>
              </a:pPr>
              <a:r>
                <a:rPr lang="en-US" sz="2800" b="1" dirty="0">
                  <a:solidFill>
                    <a:srgbClr val="1A4378"/>
                  </a:solidFill>
                  <a:latin typeface="Poppins"/>
                </a:rPr>
                <a:t>Seasonality in demand and costs enables profit gains by increasing inventory and expanding assortments</a:t>
              </a:r>
            </a:p>
          </p:txBody>
        </p:sp>
      </p:grpSp>
    </p:spTree>
    <p:extLst>
      <p:ext uri="{BB962C8B-B14F-4D97-AF65-F5344CB8AC3E}">
        <p14:creationId xmlns:p14="http://schemas.microsoft.com/office/powerpoint/2010/main" val="859125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p:cNvPicPr>
            <a:picLocks noChangeAspect="1"/>
          </p:cNvPicPr>
          <p:nvPr/>
        </p:nvPicPr>
        <p:blipFill>
          <a:blip r:embed="rId2"/>
          <a:srcRect/>
          <a:stretch>
            <a:fillRect/>
          </a:stretch>
        </p:blipFill>
        <p:spPr>
          <a:xfrm>
            <a:off x="0" y="-247650"/>
            <a:ext cx="16256000" cy="9144000"/>
          </a:xfrm>
          <a:prstGeom prst="rect">
            <a:avLst/>
          </a:prstGeom>
        </p:spPr>
      </p:pic>
      <p:sp>
        <p:nvSpPr>
          <p:cNvPr id="4" name="AutoShape 4"/>
          <p:cNvSpPr/>
          <p:nvPr/>
        </p:nvSpPr>
        <p:spPr>
          <a:xfrm>
            <a:off x="1181100" y="2362200"/>
            <a:ext cx="6616700" cy="3708400"/>
          </a:xfrm>
          <a:prstGeom prst="roundRect">
            <a:avLst>
              <a:gd name="adj" fmla="val 3082"/>
            </a:avLst>
          </a:prstGeom>
          <a:solidFill>
            <a:srgbClr val="D0E3F0"/>
          </a:solidFill>
        </p:spPr>
        <p:txBody>
          <a:bodyPr/>
          <a:lstStyle/>
          <a:p>
            <a:endParaRPr lang="en-US"/>
          </a:p>
        </p:txBody>
      </p:sp>
      <p:pic>
        <p:nvPicPr>
          <p:cNvPr id="5" name="Picture 5"/>
          <p:cNvPicPr>
            <a:picLocks noChangeAspect="1"/>
          </p:cNvPicPr>
          <p:nvPr/>
        </p:nvPicPr>
        <p:blipFill>
          <a:blip r:embed="rId3"/>
          <a:stretch>
            <a:fillRect/>
          </a:stretch>
        </p:blipFill>
        <p:spPr>
          <a:xfrm>
            <a:off x="1181100" y="2362200"/>
            <a:ext cx="6616700" cy="3695700"/>
          </a:xfrm>
          <a:prstGeom prst="rect">
            <a:avLst/>
          </a:prstGeom>
        </p:spPr>
      </p:pic>
      <p:sp>
        <p:nvSpPr>
          <p:cNvPr id="6" name="TextBox 6"/>
          <p:cNvSpPr txBox="1"/>
          <p:nvPr/>
        </p:nvSpPr>
        <p:spPr>
          <a:xfrm>
            <a:off x="279400" y="-88900"/>
            <a:ext cx="14490700" cy="584200"/>
          </a:xfrm>
          <a:prstGeom prst="rect">
            <a:avLst/>
          </a:prstGeom>
          <a:solidFill>
            <a:srgbClr val="000000">
              <a:alpha val="0"/>
            </a:srgbClr>
          </a:solidFill>
        </p:spPr>
        <p:txBody>
          <a:bodyPr lIns="0" tIns="0" rIns="0" bIns="0" rtlCol="0" anchor="ctr"/>
          <a:lstStyle/>
          <a:p>
            <a:pPr indent="0" algn="l">
              <a:lnSpc>
                <a:spcPct val="119999"/>
              </a:lnSpc>
              <a:defRPr/>
            </a:pPr>
            <a:r>
              <a:rPr lang="en-US" sz="3900" b="1" dirty="0">
                <a:solidFill>
                  <a:srgbClr val="1A4378"/>
                </a:solidFill>
                <a:latin typeface="Poppins"/>
              </a:rPr>
              <a:t>Computational Scalability Analysis</a:t>
            </a:r>
            <a:endParaRPr lang="en-US" sz="1100" dirty="0"/>
          </a:p>
        </p:txBody>
      </p:sp>
      <p:sp>
        <p:nvSpPr>
          <p:cNvPr id="7" name="TextBox 7"/>
          <p:cNvSpPr txBox="1"/>
          <p:nvPr/>
        </p:nvSpPr>
        <p:spPr>
          <a:xfrm>
            <a:off x="8445500" y="2362200"/>
            <a:ext cx="66167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Computational Tractability Achievement</a:t>
            </a:r>
            <a:endParaRPr lang="en-US" sz="1100"/>
          </a:p>
        </p:txBody>
      </p:sp>
      <p:sp>
        <p:nvSpPr>
          <p:cNvPr id="8" name="TextBox 8"/>
          <p:cNvSpPr txBox="1"/>
          <p:nvPr/>
        </p:nvSpPr>
        <p:spPr>
          <a:xfrm>
            <a:off x="8686800" y="3543300"/>
            <a:ext cx="6362700" cy="3810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ea typeface="Poppins"/>
              </a:rPr>
              <a:t>✓ Linearization enables exact solutions</a:t>
            </a:r>
            <a:endParaRPr lang="en-US" sz="1100"/>
          </a:p>
        </p:txBody>
      </p:sp>
      <p:sp>
        <p:nvSpPr>
          <p:cNvPr id="9" name="TextBox 9"/>
          <p:cNvSpPr txBox="1"/>
          <p:nvPr/>
        </p:nvSpPr>
        <p:spPr>
          <a:xfrm>
            <a:off x="8686800" y="4127500"/>
            <a:ext cx="6362700" cy="3810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ea typeface="Poppins"/>
              </a:rPr>
              <a:t>✓ Polynomial time complexity for large problems</a:t>
            </a:r>
            <a:endParaRPr lang="en-US" sz="1100"/>
          </a:p>
        </p:txBody>
      </p:sp>
      <p:sp>
        <p:nvSpPr>
          <p:cNvPr id="10" name="TextBox 10"/>
          <p:cNvSpPr txBox="1"/>
          <p:nvPr/>
        </p:nvSpPr>
        <p:spPr>
          <a:xfrm>
            <a:off x="8686800" y="4699000"/>
            <a:ext cx="6362700" cy="3810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ea typeface="Poppins"/>
              </a:rPr>
              <a:t>✓ Solved on standard commercial hardware</a:t>
            </a:r>
            <a:endParaRPr lang="en-US" sz="1100"/>
          </a:p>
        </p:txBody>
      </p:sp>
      <p:sp>
        <p:nvSpPr>
          <p:cNvPr id="11" name="TextBox 11"/>
          <p:cNvSpPr txBox="1"/>
          <p:nvPr/>
        </p:nvSpPr>
        <p:spPr>
          <a:xfrm>
            <a:off x="8686800" y="5067300"/>
            <a:ext cx="6362700" cy="762000"/>
          </a:xfrm>
          <a:prstGeom prst="rect">
            <a:avLst/>
          </a:prstGeom>
          <a:solidFill>
            <a:srgbClr val="000000">
              <a:alpha val="0"/>
            </a:srgbClr>
          </a:solidFill>
        </p:spPr>
        <p:txBody>
          <a:bodyPr lIns="0" tIns="0" rIns="0" bIns="0" rtlCol="0" anchor="ctr"/>
          <a:lstStyle/>
          <a:p>
            <a:pPr indent="0" algn="l">
              <a:lnSpc>
                <a:spcPct val="149999"/>
              </a:lnSpc>
              <a:defRPr/>
            </a:pPr>
            <a:r>
              <a:rPr lang="en-US" sz="1900" b="1" dirty="0">
                <a:solidFill>
                  <a:srgbClr val="1A4378"/>
                </a:solidFill>
                <a:ea typeface="Poppins"/>
              </a:rPr>
              <a:t>✓ Real-time optimization capability for retail decisions</a:t>
            </a:r>
            <a:endParaRPr lang="en-US" sz="1100" dirty="0"/>
          </a:p>
        </p:txBody>
      </p:sp>
      <p:sp>
        <p:nvSpPr>
          <p:cNvPr id="12" name="TextBox 12"/>
          <p:cNvSpPr txBox="1"/>
          <p:nvPr/>
        </p:nvSpPr>
        <p:spPr>
          <a:xfrm>
            <a:off x="8661400" y="5873751"/>
            <a:ext cx="6362700" cy="762000"/>
          </a:xfrm>
          <a:prstGeom prst="rect">
            <a:avLst/>
          </a:prstGeom>
          <a:solidFill>
            <a:srgbClr val="000000">
              <a:alpha val="0"/>
            </a:srgbClr>
          </a:solidFill>
        </p:spPr>
        <p:txBody>
          <a:bodyPr lIns="0" tIns="0" rIns="0" bIns="0" rtlCol="0" anchor="ctr"/>
          <a:lstStyle/>
          <a:p>
            <a:pPr indent="0" algn="l">
              <a:lnSpc>
                <a:spcPct val="149999"/>
              </a:lnSpc>
              <a:defRPr/>
            </a:pPr>
            <a:r>
              <a:rPr lang="en-US" sz="1900" b="1" dirty="0">
                <a:solidFill>
                  <a:srgbClr val="1A4378"/>
                </a:solidFill>
                <a:ea typeface="Poppins"/>
              </a:rPr>
              <a:t>✓ Outperforms heuristic approximations with guaranteed optimality</a:t>
            </a:r>
            <a:endParaRPr lang="en-US" sz="1100" dirty="0"/>
          </a:p>
        </p:txBody>
      </p:sp>
      <p:sp>
        <p:nvSpPr>
          <p:cNvPr id="13" name="TextBox 13"/>
          <p:cNvSpPr txBox="1"/>
          <p:nvPr/>
        </p:nvSpPr>
        <p:spPr>
          <a:xfrm>
            <a:off x="876300" y="7264400"/>
            <a:ext cx="14490700" cy="3683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Model APO-1 demonstrates mathematical efficiency: no exponential blow-up despite combinatorial complexity.</a:t>
            </a:r>
            <a:endParaRPr lang="en-US" sz="1100"/>
          </a:p>
        </p:txBody>
      </p:sp>
      <p:sp>
        <p:nvSpPr>
          <p:cNvPr id="14" name="TextBox 14"/>
          <p:cNvSpPr txBox="1"/>
          <p:nvPr/>
        </p:nvSpPr>
        <p:spPr>
          <a:xfrm>
            <a:off x="8318500" y="3619500"/>
            <a:ext cx="241300" cy="241300"/>
          </a:xfrm>
          <a:prstGeom prst="rect">
            <a:avLst/>
          </a:prstGeom>
          <a:solidFill>
            <a:srgbClr val="000000">
              <a:alpha val="0"/>
            </a:srgbClr>
          </a:solidFill>
        </p:spPr>
        <p:txBody>
          <a:bodyPr lIns="0" tIns="0" rIns="0" bIns="0" rtlCol="0" anchor="ctr"/>
          <a:lstStyle/>
          <a:p>
            <a:pPr algn="ctr">
              <a:lnSpc>
                <a:spcPct val="100000"/>
              </a:lnSpc>
              <a:defRPr/>
            </a:pPr>
            <a:r>
              <a:rPr lang="en-US" sz="1900" b="0">
                <a:solidFill>
                  <a:srgbClr val="1A4378"/>
                </a:solidFill>
                <a:highlight>
                  <a:srgbClr val="000000">
                    <a:alpha val="0"/>
                  </a:srgbClr>
                </a:highlight>
                <a:ea typeface="Poppins"/>
              </a:rPr>
              <a:t>●</a:t>
            </a:r>
            <a:endParaRPr lang="en-US" sz="1100"/>
          </a:p>
        </p:txBody>
      </p:sp>
      <p:sp>
        <p:nvSpPr>
          <p:cNvPr id="15" name="TextBox 15"/>
          <p:cNvSpPr txBox="1"/>
          <p:nvPr/>
        </p:nvSpPr>
        <p:spPr>
          <a:xfrm>
            <a:off x="8318500" y="4203700"/>
            <a:ext cx="241300" cy="241300"/>
          </a:xfrm>
          <a:prstGeom prst="rect">
            <a:avLst/>
          </a:prstGeom>
          <a:solidFill>
            <a:srgbClr val="000000">
              <a:alpha val="0"/>
            </a:srgbClr>
          </a:solidFill>
        </p:spPr>
        <p:txBody>
          <a:bodyPr lIns="0" tIns="0" rIns="0" bIns="0" rtlCol="0" anchor="ctr"/>
          <a:lstStyle/>
          <a:p>
            <a:pPr algn="ctr">
              <a:lnSpc>
                <a:spcPct val="100000"/>
              </a:lnSpc>
              <a:defRPr/>
            </a:pPr>
            <a:r>
              <a:rPr lang="en-US" sz="1900" b="0">
                <a:solidFill>
                  <a:srgbClr val="1A4378"/>
                </a:solidFill>
                <a:highlight>
                  <a:srgbClr val="000000">
                    <a:alpha val="0"/>
                  </a:srgbClr>
                </a:highlight>
                <a:ea typeface="Poppins"/>
              </a:rPr>
              <a:t>●</a:t>
            </a:r>
            <a:endParaRPr lang="en-US" sz="1100"/>
          </a:p>
        </p:txBody>
      </p:sp>
      <p:sp>
        <p:nvSpPr>
          <p:cNvPr id="16" name="TextBox 16"/>
          <p:cNvSpPr txBox="1"/>
          <p:nvPr/>
        </p:nvSpPr>
        <p:spPr>
          <a:xfrm>
            <a:off x="8318500" y="4775200"/>
            <a:ext cx="241300" cy="241300"/>
          </a:xfrm>
          <a:prstGeom prst="rect">
            <a:avLst/>
          </a:prstGeom>
          <a:solidFill>
            <a:srgbClr val="000000">
              <a:alpha val="0"/>
            </a:srgbClr>
          </a:solidFill>
        </p:spPr>
        <p:txBody>
          <a:bodyPr lIns="0" tIns="0" rIns="0" bIns="0" rtlCol="0" anchor="ctr"/>
          <a:lstStyle/>
          <a:p>
            <a:pPr algn="ctr">
              <a:lnSpc>
                <a:spcPct val="100000"/>
              </a:lnSpc>
              <a:defRPr/>
            </a:pPr>
            <a:r>
              <a:rPr lang="en-US" sz="1900" b="0">
                <a:solidFill>
                  <a:srgbClr val="1A4378"/>
                </a:solidFill>
                <a:highlight>
                  <a:srgbClr val="000000">
                    <a:alpha val="0"/>
                  </a:srgbClr>
                </a:highlight>
                <a:ea typeface="Poppins"/>
              </a:rPr>
              <a:t>●</a:t>
            </a:r>
            <a:endParaRPr lang="en-US" sz="1100"/>
          </a:p>
        </p:txBody>
      </p:sp>
      <p:sp>
        <p:nvSpPr>
          <p:cNvPr id="17" name="TextBox 17"/>
          <p:cNvSpPr txBox="1"/>
          <p:nvPr/>
        </p:nvSpPr>
        <p:spPr>
          <a:xfrm>
            <a:off x="8318500" y="5346700"/>
            <a:ext cx="241300" cy="241300"/>
          </a:xfrm>
          <a:prstGeom prst="rect">
            <a:avLst/>
          </a:prstGeom>
          <a:solidFill>
            <a:srgbClr val="000000">
              <a:alpha val="0"/>
            </a:srgbClr>
          </a:solidFill>
        </p:spPr>
        <p:txBody>
          <a:bodyPr lIns="0" tIns="0" rIns="0" bIns="0" rtlCol="0" anchor="ctr"/>
          <a:lstStyle/>
          <a:p>
            <a:pPr algn="ctr">
              <a:lnSpc>
                <a:spcPct val="100000"/>
              </a:lnSpc>
              <a:defRPr/>
            </a:pPr>
            <a:r>
              <a:rPr lang="en-US" sz="1900" b="0">
                <a:solidFill>
                  <a:srgbClr val="1A4378"/>
                </a:solidFill>
                <a:highlight>
                  <a:srgbClr val="000000">
                    <a:alpha val="0"/>
                  </a:srgbClr>
                </a:highlight>
                <a:ea typeface="Poppins"/>
              </a:rPr>
              <a:t>●</a:t>
            </a:r>
            <a:endParaRPr lang="en-US" sz="1100"/>
          </a:p>
        </p:txBody>
      </p:sp>
      <p:sp>
        <p:nvSpPr>
          <p:cNvPr id="18" name="TextBox 18"/>
          <p:cNvSpPr txBox="1"/>
          <p:nvPr/>
        </p:nvSpPr>
        <p:spPr>
          <a:xfrm flipV="1">
            <a:off x="8318500" y="5943600"/>
            <a:ext cx="241300" cy="355600"/>
          </a:xfrm>
          <a:prstGeom prst="rect">
            <a:avLst/>
          </a:prstGeom>
          <a:solidFill>
            <a:srgbClr val="000000">
              <a:alpha val="0"/>
            </a:srgbClr>
          </a:solidFill>
        </p:spPr>
        <p:txBody>
          <a:bodyPr lIns="0" tIns="0" rIns="0" bIns="0" rtlCol="0" anchor="ctr"/>
          <a:lstStyle/>
          <a:p>
            <a:pPr algn="ctr">
              <a:lnSpc>
                <a:spcPct val="100000"/>
              </a:lnSpc>
              <a:defRPr/>
            </a:pPr>
            <a:r>
              <a:rPr lang="en-US" sz="1900" b="0" dirty="0">
                <a:solidFill>
                  <a:srgbClr val="1A4378"/>
                </a:solidFill>
                <a:highlight>
                  <a:srgbClr val="000000">
                    <a:alpha val="0"/>
                  </a:srgbClr>
                </a:highlight>
                <a:ea typeface="Poppins"/>
              </a:rPr>
              <a: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p:cNvPicPr>
            <a:picLocks noChangeAspect="1"/>
          </p:cNvPicPr>
          <p:nvPr/>
        </p:nvPicPr>
        <p:blipFill>
          <a:blip r:embed="rId2"/>
          <a:srcRect/>
          <a:stretch>
            <a:fillRect/>
          </a:stretch>
        </p:blipFill>
        <p:spPr>
          <a:xfrm>
            <a:off x="0" y="0"/>
            <a:ext cx="16256000" cy="9144000"/>
          </a:xfrm>
          <a:prstGeom prst="rect">
            <a:avLst/>
          </a:prstGeom>
        </p:spPr>
      </p:pic>
      <p:sp>
        <p:nvSpPr>
          <p:cNvPr id="4" name="TextBox 4"/>
          <p:cNvSpPr txBox="1"/>
          <p:nvPr/>
        </p:nvSpPr>
        <p:spPr>
          <a:xfrm>
            <a:off x="203200" y="266700"/>
            <a:ext cx="14490700" cy="584200"/>
          </a:xfrm>
          <a:prstGeom prst="rect">
            <a:avLst/>
          </a:prstGeom>
          <a:solidFill>
            <a:srgbClr val="000000">
              <a:alpha val="0"/>
            </a:srgbClr>
          </a:solidFill>
        </p:spPr>
        <p:txBody>
          <a:bodyPr lIns="0" tIns="0" rIns="0" bIns="0" rtlCol="0" anchor="ctr"/>
          <a:lstStyle/>
          <a:p>
            <a:pPr indent="0" algn="l">
              <a:lnSpc>
                <a:spcPct val="119999"/>
              </a:lnSpc>
              <a:defRPr/>
            </a:pPr>
            <a:r>
              <a:rPr lang="en-US" sz="3900" b="1" dirty="0">
                <a:solidFill>
                  <a:srgbClr val="1A4378"/>
                </a:solidFill>
                <a:latin typeface="Poppins"/>
              </a:rPr>
              <a:t>Computational Performance &amp; Scalability</a:t>
            </a:r>
            <a:endParaRPr lang="en-US" sz="1100" dirty="0"/>
          </a:p>
        </p:txBody>
      </p:sp>
      <p:sp>
        <p:nvSpPr>
          <p:cNvPr id="5" name="TextBox 5"/>
          <p:cNvSpPr txBox="1"/>
          <p:nvPr/>
        </p:nvSpPr>
        <p:spPr>
          <a:xfrm>
            <a:off x="1181100" y="3873500"/>
            <a:ext cx="4203700" cy="7366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25 products, 5 customers, 6 periods</a:t>
            </a:r>
            <a:endParaRPr lang="en-US" sz="1100"/>
          </a:p>
        </p:txBody>
      </p:sp>
      <p:sp>
        <p:nvSpPr>
          <p:cNvPr id="6" name="TextBox 6"/>
          <p:cNvSpPr txBox="1"/>
          <p:nvPr/>
        </p:nvSpPr>
        <p:spPr>
          <a:xfrm>
            <a:off x="1181100" y="4914900"/>
            <a:ext cx="4203700" cy="558800"/>
          </a:xfrm>
          <a:prstGeom prst="rect">
            <a:avLst/>
          </a:prstGeom>
          <a:solidFill>
            <a:srgbClr val="000000">
              <a:alpha val="0"/>
            </a:srgbClr>
          </a:solidFill>
        </p:spPr>
        <p:txBody>
          <a:bodyPr lIns="0" tIns="0" rIns="0" bIns="0" rtlCol="0" anchor="ctr"/>
          <a:lstStyle/>
          <a:p>
            <a:pPr indent="0" algn="l">
              <a:lnSpc>
                <a:spcPct val="149999"/>
              </a:lnSpc>
              <a:defRPr/>
            </a:pPr>
            <a:r>
              <a:rPr lang="en-US" sz="2400" b="1">
                <a:solidFill>
                  <a:srgbClr val="2ECC71"/>
                </a:solidFill>
                <a:latin typeface="Poppins"/>
              </a:rPr>
              <a:t>&lt; 3 seconds</a:t>
            </a:r>
            <a:endParaRPr lang="en-US" sz="1100"/>
          </a:p>
        </p:txBody>
      </p:sp>
      <p:sp>
        <p:nvSpPr>
          <p:cNvPr id="7" name="TextBox 7"/>
          <p:cNvSpPr txBox="1"/>
          <p:nvPr/>
        </p:nvSpPr>
        <p:spPr>
          <a:xfrm>
            <a:off x="6019800" y="3873500"/>
            <a:ext cx="4203700" cy="7366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50 products, 6 customers, 6 periods</a:t>
            </a:r>
            <a:endParaRPr lang="en-US" sz="1100"/>
          </a:p>
        </p:txBody>
      </p:sp>
      <p:sp>
        <p:nvSpPr>
          <p:cNvPr id="8" name="TextBox 8"/>
          <p:cNvSpPr txBox="1"/>
          <p:nvPr/>
        </p:nvSpPr>
        <p:spPr>
          <a:xfrm>
            <a:off x="6019800" y="4914900"/>
            <a:ext cx="4203700" cy="558800"/>
          </a:xfrm>
          <a:prstGeom prst="rect">
            <a:avLst/>
          </a:prstGeom>
          <a:solidFill>
            <a:srgbClr val="000000">
              <a:alpha val="0"/>
            </a:srgbClr>
          </a:solidFill>
        </p:spPr>
        <p:txBody>
          <a:bodyPr lIns="0" tIns="0" rIns="0" bIns="0" rtlCol="0" anchor="ctr"/>
          <a:lstStyle/>
          <a:p>
            <a:pPr indent="0" algn="l">
              <a:lnSpc>
                <a:spcPct val="149999"/>
              </a:lnSpc>
              <a:defRPr/>
            </a:pPr>
            <a:r>
              <a:rPr lang="en-US" sz="2400" b="1">
                <a:solidFill>
                  <a:srgbClr val="3498DB"/>
                </a:solidFill>
                <a:latin typeface="Poppins"/>
              </a:rPr>
              <a:t>&lt; 2 minutes</a:t>
            </a:r>
            <a:endParaRPr lang="en-US" sz="1100"/>
          </a:p>
        </p:txBody>
      </p:sp>
      <p:sp>
        <p:nvSpPr>
          <p:cNvPr id="9" name="TextBox 9"/>
          <p:cNvSpPr txBox="1"/>
          <p:nvPr/>
        </p:nvSpPr>
        <p:spPr>
          <a:xfrm>
            <a:off x="10858500" y="3873500"/>
            <a:ext cx="4203700" cy="7366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75 products, 7 customers, 6 periods</a:t>
            </a:r>
            <a:endParaRPr lang="en-US" sz="1100"/>
          </a:p>
        </p:txBody>
      </p:sp>
      <p:sp>
        <p:nvSpPr>
          <p:cNvPr id="10" name="TextBox 10"/>
          <p:cNvSpPr txBox="1"/>
          <p:nvPr/>
        </p:nvSpPr>
        <p:spPr>
          <a:xfrm>
            <a:off x="10858500" y="4914900"/>
            <a:ext cx="4203700" cy="558800"/>
          </a:xfrm>
          <a:prstGeom prst="rect">
            <a:avLst/>
          </a:prstGeom>
          <a:solidFill>
            <a:srgbClr val="000000">
              <a:alpha val="0"/>
            </a:srgbClr>
          </a:solidFill>
        </p:spPr>
        <p:txBody>
          <a:bodyPr lIns="0" tIns="0" rIns="0" bIns="0" rtlCol="0" anchor="ctr"/>
          <a:lstStyle/>
          <a:p>
            <a:pPr indent="0" algn="l">
              <a:lnSpc>
                <a:spcPct val="149999"/>
              </a:lnSpc>
              <a:defRPr/>
            </a:pPr>
            <a:r>
              <a:rPr lang="en-US" sz="2400" b="1">
                <a:solidFill>
                  <a:srgbClr val="9B59B6"/>
                </a:solidFill>
                <a:latin typeface="Poppins"/>
              </a:rPr>
              <a:t>&lt; 11 minutes</a:t>
            </a:r>
            <a:endParaRPr lang="en-US" sz="1100"/>
          </a:p>
        </p:txBody>
      </p:sp>
      <p:sp>
        <p:nvSpPr>
          <p:cNvPr id="11" name="TextBox 11"/>
          <p:cNvSpPr txBox="1"/>
          <p:nvPr/>
        </p:nvSpPr>
        <p:spPr>
          <a:xfrm>
            <a:off x="876300" y="5753100"/>
            <a:ext cx="14490700" cy="368300"/>
          </a:xfrm>
          <a:prstGeom prst="rect">
            <a:avLst/>
          </a:prstGeom>
          <a:solidFill>
            <a:srgbClr val="000000">
              <a:alpha val="0"/>
            </a:srgbClr>
          </a:solidFill>
        </p:spPr>
        <p:txBody>
          <a:bodyPr lIns="0" tIns="0" rIns="0" bIns="0" rtlCol="0" anchor="ctr"/>
          <a:lstStyle/>
          <a:p>
            <a:pPr indent="0" algn="l">
              <a:lnSpc>
                <a:spcPct val="149999"/>
              </a:lnSpc>
              <a:defRPr/>
            </a:pPr>
            <a:r>
              <a:rPr lang="en-US" sz="1900" b="1" i="1">
                <a:solidFill>
                  <a:srgbClr val="1A4378"/>
                </a:solidFill>
                <a:ea typeface="Poppins"/>
              </a:rPr>
              <a:t>✓ Model APO-1 solves large-scale problems efficiently for real retail applications</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p:cNvPicPr>
            <a:picLocks noChangeAspect="1"/>
          </p:cNvPicPr>
          <p:nvPr/>
        </p:nvPicPr>
        <p:blipFill>
          <a:blip r:embed="rId2"/>
          <a:srcRect/>
          <a:stretch>
            <a:fillRect/>
          </a:stretch>
        </p:blipFill>
        <p:spPr>
          <a:xfrm>
            <a:off x="0" y="0"/>
            <a:ext cx="16256000" cy="9144000"/>
          </a:xfrm>
          <a:prstGeom prst="rect">
            <a:avLst/>
          </a:prstGeom>
        </p:spPr>
      </p:pic>
      <p:sp>
        <p:nvSpPr>
          <p:cNvPr id="4" name="AutoShape 4"/>
          <p:cNvSpPr/>
          <p:nvPr/>
        </p:nvSpPr>
        <p:spPr>
          <a:xfrm>
            <a:off x="876300" y="3378200"/>
            <a:ext cx="14490700" cy="3251200"/>
          </a:xfrm>
          <a:prstGeom prst="rect">
            <a:avLst/>
          </a:prstGeom>
          <a:solidFill>
            <a:srgbClr val="000000">
              <a:alpha val="0"/>
            </a:srgbClr>
          </a:solidFill>
        </p:spPr>
        <p:txBody>
          <a:bodyPr/>
          <a:lstStyle/>
          <a:p>
            <a:endParaRPr lang="en-US"/>
          </a:p>
        </p:txBody>
      </p:sp>
      <p:sp>
        <p:nvSpPr>
          <p:cNvPr id="5" name="AutoShape 5"/>
          <p:cNvSpPr/>
          <p:nvPr/>
        </p:nvSpPr>
        <p:spPr>
          <a:xfrm>
            <a:off x="876300" y="3378200"/>
            <a:ext cx="7112000" cy="3251200"/>
          </a:xfrm>
          <a:prstGeom prst="roundRect">
            <a:avLst>
              <a:gd name="adj" fmla="val 3515"/>
            </a:avLst>
          </a:prstGeom>
          <a:solidFill>
            <a:srgbClr val="D0E3F0"/>
          </a:solidFill>
        </p:spPr>
        <p:txBody>
          <a:bodyPr/>
          <a:lstStyle/>
          <a:p>
            <a:endParaRPr lang="en-US"/>
          </a:p>
        </p:txBody>
      </p:sp>
      <p:sp>
        <p:nvSpPr>
          <p:cNvPr id="6" name="AutoShape 6"/>
          <p:cNvSpPr/>
          <p:nvPr/>
        </p:nvSpPr>
        <p:spPr>
          <a:xfrm>
            <a:off x="1130300" y="3619500"/>
            <a:ext cx="749300" cy="749300"/>
          </a:xfrm>
          <a:prstGeom prst="roundRect">
            <a:avLst>
              <a:gd name="adj" fmla="val 49152"/>
            </a:avLst>
          </a:prstGeom>
          <a:solidFill>
            <a:srgbClr val="1A4378"/>
          </a:solidFill>
        </p:spPr>
        <p:txBody>
          <a:bodyPr/>
          <a:lstStyle/>
          <a:p>
            <a:endParaRPr lang="en-US"/>
          </a:p>
        </p:txBody>
      </p:sp>
      <p:sp>
        <p:nvSpPr>
          <p:cNvPr id="7" name="AutoShape 7"/>
          <p:cNvSpPr/>
          <p:nvPr/>
        </p:nvSpPr>
        <p:spPr>
          <a:xfrm>
            <a:off x="8242300" y="3378200"/>
            <a:ext cx="7112000" cy="3251200"/>
          </a:xfrm>
          <a:prstGeom prst="roundRect">
            <a:avLst>
              <a:gd name="adj" fmla="val 3515"/>
            </a:avLst>
          </a:prstGeom>
          <a:solidFill>
            <a:srgbClr val="D0E3F0"/>
          </a:solidFill>
        </p:spPr>
        <p:txBody>
          <a:bodyPr/>
          <a:lstStyle/>
          <a:p>
            <a:endParaRPr lang="en-US"/>
          </a:p>
        </p:txBody>
      </p:sp>
      <p:sp>
        <p:nvSpPr>
          <p:cNvPr id="8" name="AutoShape 8"/>
          <p:cNvSpPr/>
          <p:nvPr/>
        </p:nvSpPr>
        <p:spPr>
          <a:xfrm>
            <a:off x="8496300" y="3619500"/>
            <a:ext cx="749300" cy="749300"/>
          </a:xfrm>
          <a:prstGeom prst="roundRect">
            <a:avLst>
              <a:gd name="adj" fmla="val 49152"/>
            </a:avLst>
          </a:prstGeom>
          <a:solidFill>
            <a:srgbClr val="1A4378"/>
          </a:solidFill>
        </p:spPr>
        <p:txBody>
          <a:bodyPr/>
          <a:lstStyle/>
          <a:p>
            <a:endParaRPr lang="en-US"/>
          </a:p>
        </p:txBody>
      </p:sp>
      <p:sp>
        <p:nvSpPr>
          <p:cNvPr id="9" name="TextBox 9"/>
          <p:cNvSpPr txBox="1"/>
          <p:nvPr/>
        </p:nvSpPr>
        <p:spPr>
          <a:xfrm>
            <a:off x="279400" y="279400"/>
            <a:ext cx="14490700" cy="584200"/>
          </a:xfrm>
          <a:prstGeom prst="rect">
            <a:avLst/>
          </a:prstGeom>
          <a:solidFill>
            <a:srgbClr val="000000">
              <a:alpha val="0"/>
            </a:srgbClr>
          </a:solidFill>
        </p:spPr>
        <p:txBody>
          <a:bodyPr lIns="0" tIns="0" rIns="0" bIns="0" rtlCol="0" anchor="ctr"/>
          <a:lstStyle/>
          <a:p>
            <a:pPr indent="0" algn="l">
              <a:lnSpc>
                <a:spcPct val="119999"/>
              </a:lnSpc>
              <a:defRPr/>
            </a:pPr>
            <a:r>
              <a:rPr lang="en-US" sz="3900" b="1" dirty="0">
                <a:solidFill>
                  <a:srgbClr val="1A4378"/>
                </a:solidFill>
                <a:latin typeface="Poppins"/>
              </a:rPr>
              <a:t>Key Insight 1: Complex Optimal Structure</a:t>
            </a:r>
            <a:endParaRPr lang="en-US" sz="1100" dirty="0"/>
          </a:p>
        </p:txBody>
      </p:sp>
      <p:sp>
        <p:nvSpPr>
          <p:cNvPr id="10" name="TextBox 10"/>
          <p:cNvSpPr txBox="1"/>
          <p:nvPr/>
        </p:nvSpPr>
        <p:spPr>
          <a:xfrm>
            <a:off x="1130300" y="4635500"/>
            <a:ext cx="6604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Finding</a:t>
            </a:r>
            <a:endParaRPr lang="en-US" sz="1100"/>
          </a:p>
        </p:txBody>
      </p:sp>
      <p:sp>
        <p:nvSpPr>
          <p:cNvPr id="11" name="TextBox 11"/>
          <p:cNvSpPr txBox="1"/>
          <p:nvPr/>
        </p:nvSpPr>
        <p:spPr>
          <a:xfrm>
            <a:off x="8496300" y="4635500"/>
            <a:ext cx="6604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Critical Implication</a:t>
            </a:r>
            <a:endParaRPr lang="en-US" sz="1100"/>
          </a:p>
        </p:txBody>
      </p:sp>
      <p:sp>
        <p:nvSpPr>
          <p:cNvPr id="12" name="TextBox 12"/>
          <p:cNvSpPr txBox="1"/>
          <p:nvPr/>
        </p:nvSpPr>
        <p:spPr>
          <a:xfrm>
            <a:off x="1130300" y="5257800"/>
            <a:ext cx="6604000" cy="11176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Optimal assortment and prices do NOT follow simple patterns. Simple heuristics cause 14% profit loss.</a:t>
            </a:r>
            <a:endParaRPr lang="en-US" sz="1100"/>
          </a:p>
        </p:txBody>
      </p:sp>
      <p:sp>
        <p:nvSpPr>
          <p:cNvPr id="13" name="TextBox 13"/>
          <p:cNvSpPr txBox="1"/>
          <p:nvPr/>
        </p:nvSpPr>
        <p:spPr>
          <a:xfrm>
            <a:off x="8496300" y="5257800"/>
            <a:ext cx="6604000" cy="11176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Prices ≠ reservation prices due to cannibalization between segments. Optimization tools are essential; analytical rules insufficient for real profit.</a:t>
            </a:r>
            <a:endParaRPr lang="en-US" sz="1100"/>
          </a:p>
        </p:txBody>
      </p:sp>
      <p:pic>
        <p:nvPicPr>
          <p:cNvPr id="14" name="Picture 14"/>
          <p:cNvPicPr>
            <a:picLocks noChangeAspect="1"/>
          </p:cNvPicPr>
          <p:nvPr/>
        </p:nvPicPr>
        <p:blipFill>
          <a:blip r:embed="rId3"/>
          <a:srcRect/>
          <a:stretch>
            <a:fillRect/>
          </a:stretch>
        </p:blipFill>
        <p:spPr>
          <a:xfrm>
            <a:off x="1384300" y="3873500"/>
            <a:ext cx="241300" cy="241300"/>
          </a:xfrm>
          <a:prstGeom prst="rect">
            <a:avLst/>
          </a:prstGeom>
        </p:spPr>
      </p:pic>
      <p:pic>
        <p:nvPicPr>
          <p:cNvPr id="15" name="Picture 15"/>
          <p:cNvPicPr>
            <a:picLocks noChangeAspect="1"/>
          </p:cNvPicPr>
          <p:nvPr/>
        </p:nvPicPr>
        <p:blipFill>
          <a:blip r:embed="rId4"/>
          <a:srcRect/>
          <a:stretch>
            <a:fillRect/>
          </a:stretch>
        </p:blipFill>
        <p:spPr>
          <a:xfrm>
            <a:off x="8750300" y="3873500"/>
            <a:ext cx="241300" cy="2413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p:cNvPicPr>
            <a:picLocks noChangeAspect="1"/>
          </p:cNvPicPr>
          <p:nvPr/>
        </p:nvPicPr>
        <p:blipFill>
          <a:blip r:embed="rId2"/>
          <a:srcRect/>
          <a:stretch>
            <a:fillRect/>
          </a:stretch>
        </p:blipFill>
        <p:spPr>
          <a:xfrm>
            <a:off x="0" y="0"/>
            <a:ext cx="16256000" cy="9144000"/>
          </a:xfrm>
          <a:prstGeom prst="rect">
            <a:avLst/>
          </a:prstGeom>
        </p:spPr>
      </p:pic>
      <p:sp>
        <p:nvSpPr>
          <p:cNvPr id="4" name="AutoShape 4"/>
          <p:cNvSpPr/>
          <p:nvPr/>
        </p:nvSpPr>
        <p:spPr>
          <a:xfrm>
            <a:off x="876300" y="2857500"/>
            <a:ext cx="14490700" cy="3251200"/>
          </a:xfrm>
          <a:prstGeom prst="rect">
            <a:avLst/>
          </a:prstGeom>
          <a:solidFill>
            <a:srgbClr val="000000">
              <a:alpha val="0"/>
            </a:srgbClr>
          </a:solidFill>
        </p:spPr>
        <p:txBody>
          <a:bodyPr/>
          <a:lstStyle/>
          <a:p>
            <a:endParaRPr lang="en-US"/>
          </a:p>
        </p:txBody>
      </p:sp>
      <p:sp>
        <p:nvSpPr>
          <p:cNvPr id="5" name="AutoShape 5"/>
          <p:cNvSpPr/>
          <p:nvPr/>
        </p:nvSpPr>
        <p:spPr>
          <a:xfrm>
            <a:off x="876300" y="2857500"/>
            <a:ext cx="4660900" cy="3251200"/>
          </a:xfrm>
          <a:prstGeom prst="roundRect">
            <a:avLst>
              <a:gd name="adj" fmla="val 3515"/>
            </a:avLst>
          </a:prstGeom>
          <a:solidFill>
            <a:srgbClr val="D0E3F0"/>
          </a:solidFill>
        </p:spPr>
        <p:txBody>
          <a:bodyPr/>
          <a:lstStyle/>
          <a:p>
            <a:endParaRPr lang="en-US"/>
          </a:p>
        </p:txBody>
      </p:sp>
      <p:sp>
        <p:nvSpPr>
          <p:cNvPr id="6" name="AutoShape 6"/>
          <p:cNvSpPr/>
          <p:nvPr/>
        </p:nvSpPr>
        <p:spPr>
          <a:xfrm>
            <a:off x="5791200" y="2857500"/>
            <a:ext cx="4660900" cy="3251200"/>
          </a:xfrm>
          <a:prstGeom prst="roundRect">
            <a:avLst>
              <a:gd name="adj" fmla="val 3515"/>
            </a:avLst>
          </a:prstGeom>
          <a:solidFill>
            <a:srgbClr val="D0E3F0"/>
          </a:solidFill>
        </p:spPr>
        <p:txBody>
          <a:bodyPr/>
          <a:lstStyle/>
          <a:p>
            <a:endParaRPr lang="en-US"/>
          </a:p>
        </p:txBody>
      </p:sp>
      <p:sp>
        <p:nvSpPr>
          <p:cNvPr id="7" name="AutoShape 7"/>
          <p:cNvSpPr/>
          <p:nvPr/>
        </p:nvSpPr>
        <p:spPr>
          <a:xfrm>
            <a:off x="10706100" y="2857500"/>
            <a:ext cx="4660900" cy="3251200"/>
          </a:xfrm>
          <a:prstGeom prst="roundRect">
            <a:avLst>
              <a:gd name="adj" fmla="val 3515"/>
            </a:avLst>
          </a:prstGeom>
          <a:solidFill>
            <a:srgbClr val="D0E3F0"/>
          </a:solidFill>
        </p:spPr>
        <p:txBody>
          <a:bodyPr/>
          <a:lstStyle/>
          <a:p>
            <a:endParaRPr lang="en-US"/>
          </a:p>
        </p:txBody>
      </p:sp>
      <p:sp>
        <p:nvSpPr>
          <p:cNvPr id="8" name="TextBox 8"/>
          <p:cNvSpPr txBox="1"/>
          <p:nvPr/>
        </p:nvSpPr>
        <p:spPr>
          <a:xfrm>
            <a:off x="876300" y="1981200"/>
            <a:ext cx="14490700" cy="584200"/>
          </a:xfrm>
          <a:prstGeom prst="rect">
            <a:avLst/>
          </a:prstGeom>
          <a:solidFill>
            <a:srgbClr val="000000">
              <a:alpha val="0"/>
            </a:srgbClr>
          </a:solidFill>
        </p:spPr>
        <p:txBody>
          <a:bodyPr lIns="0" tIns="0" rIns="0" bIns="0" rtlCol="0" anchor="ctr"/>
          <a:lstStyle/>
          <a:p>
            <a:pPr indent="0" algn="l">
              <a:lnSpc>
                <a:spcPct val="119999"/>
              </a:lnSpc>
              <a:defRPr/>
            </a:pPr>
            <a:r>
              <a:rPr lang="en-US" sz="3900" b="1">
                <a:solidFill>
                  <a:srgbClr val="1A4378"/>
                </a:solidFill>
                <a:latin typeface="Poppins"/>
              </a:rPr>
              <a:t>Profit Impact Quantification</a:t>
            </a:r>
            <a:endParaRPr lang="en-US" sz="1100"/>
          </a:p>
        </p:txBody>
      </p:sp>
      <p:sp>
        <p:nvSpPr>
          <p:cNvPr id="9" name="TextBox 9"/>
          <p:cNvSpPr txBox="1"/>
          <p:nvPr/>
        </p:nvSpPr>
        <p:spPr>
          <a:xfrm>
            <a:off x="1130300" y="3111500"/>
            <a:ext cx="39497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Myopic Policies Cost</a:t>
            </a:r>
            <a:endParaRPr lang="en-US" sz="1100"/>
          </a:p>
        </p:txBody>
      </p:sp>
      <p:sp>
        <p:nvSpPr>
          <p:cNvPr id="10" name="TextBox 10"/>
          <p:cNvSpPr txBox="1"/>
          <p:nvPr/>
        </p:nvSpPr>
        <p:spPr>
          <a:xfrm>
            <a:off x="6045200" y="3111500"/>
            <a:ext cx="41529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Seasonality Opportunity</a:t>
            </a:r>
            <a:endParaRPr lang="en-US" sz="1100"/>
          </a:p>
        </p:txBody>
      </p:sp>
      <p:sp>
        <p:nvSpPr>
          <p:cNvPr id="11" name="TextBox 11"/>
          <p:cNvSpPr txBox="1"/>
          <p:nvPr/>
        </p:nvSpPr>
        <p:spPr>
          <a:xfrm>
            <a:off x="10960100" y="3111500"/>
            <a:ext cx="41529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Heuristic Approach</a:t>
            </a:r>
            <a:endParaRPr lang="en-US" sz="1100"/>
          </a:p>
        </p:txBody>
      </p:sp>
      <p:sp>
        <p:nvSpPr>
          <p:cNvPr id="12" name="TextBox 12"/>
          <p:cNvSpPr txBox="1"/>
          <p:nvPr/>
        </p:nvSpPr>
        <p:spPr>
          <a:xfrm>
            <a:off x="1130300" y="3746500"/>
            <a:ext cx="3949700" cy="3683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ZIP: </a:t>
            </a:r>
            <a:r>
              <a:rPr lang="en-US" sz="1600" b="1">
                <a:solidFill>
                  <a:srgbClr val="E74C3C"/>
                </a:solidFill>
                <a:latin typeface="Poppins"/>
              </a:rPr>
              <a:t>-57 to -70% profit</a:t>
            </a:r>
            <a:endParaRPr lang="en-US" sz="1100"/>
          </a:p>
        </p:txBody>
      </p:sp>
      <p:sp>
        <p:nvSpPr>
          <p:cNvPr id="13" name="TextBox 13"/>
          <p:cNvSpPr txBox="1"/>
          <p:nvPr/>
        </p:nvSpPr>
        <p:spPr>
          <a:xfrm>
            <a:off x="1130300" y="4292600"/>
            <a:ext cx="3949700" cy="3683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BIP: </a:t>
            </a:r>
            <a:r>
              <a:rPr lang="en-US" sz="1600" b="1">
                <a:solidFill>
                  <a:srgbClr val="E74C3C"/>
                </a:solidFill>
                <a:latin typeface="Poppins"/>
              </a:rPr>
              <a:t>-32 to -55% profit</a:t>
            </a:r>
            <a:endParaRPr lang="en-US" sz="1100"/>
          </a:p>
        </p:txBody>
      </p:sp>
      <p:sp>
        <p:nvSpPr>
          <p:cNvPr id="14" name="TextBox 14"/>
          <p:cNvSpPr txBox="1"/>
          <p:nvPr/>
        </p:nvSpPr>
        <p:spPr>
          <a:xfrm>
            <a:off x="6045200" y="4191000"/>
            <a:ext cx="4152900" cy="7366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Ignoring seasonality: </a:t>
            </a:r>
            <a:r>
              <a:rPr lang="en-US" sz="1600" b="1">
                <a:solidFill>
                  <a:srgbClr val="E74C3C"/>
                </a:solidFill>
                <a:latin typeface="Poppins"/>
              </a:rPr>
              <a:t>-5 to -43%</a:t>
            </a:r>
            <a:endParaRPr lang="en-US" sz="1100"/>
          </a:p>
        </p:txBody>
      </p:sp>
      <p:sp>
        <p:nvSpPr>
          <p:cNvPr id="15" name="TextBox 15"/>
          <p:cNvSpPr txBox="1"/>
          <p:nvPr/>
        </p:nvSpPr>
        <p:spPr>
          <a:xfrm>
            <a:off x="6045200" y="5118100"/>
            <a:ext cx="4152900" cy="7366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Optimizing for it: </a:t>
            </a:r>
            <a:r>
              <a:rPr lang="en-US" sz="1600" b="1">
                <a:solidFill>
                  <a:srgbClr val="2ECC71"/>
                </a:solidFill>
                <a:latin typeface="Poppins"/>
              </a:rPr>
              <a:t>+40% profit boost</a:t>
            </a:r>
            <a:endParaRPr lang="en-US" sz="1100"/>
          </a:p>
        </p:txBody>
      </p:sp>
      <p:sp>
        <p:nvSpPr>
          <p:cNvPr id="16" name="TextBox 16"/>
          <p:cNvSpPr txBox="1"/>
          <p:nvPr/>
        </p:nvSpPr>
        <p:spPr>
          <a:xfrm>
            <a:off x="10960100" y="3746500"/>
            <a:ext cx="4152900" cy="7366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Simple margin-based rules: </a:t>
            </a:r>
            <a:r>
              <a:rPr lang="en-US" sz="1600" b="1">
                <a:solidFill>
                  <a:srgbClr val="E74C3C"/>
                </a:solidFill>
                <a:latin typeface="Poppins"/>
              </a:rPr>
              <a:t>-14% profit</a:t>
            </a:r>
            <a:endParaRPr lang="en-US" sz="1100"/>
          </a:p>
        </p:txBody>
      </p:sp>
      <p:sp>
        <p:nvSpPr>
          <p:cNvPr id="17" name="TextBox 17"/>
          <p:cNvSpPr txBox="1"/>
          <p:nvPr/>
        </p:nvSpPr>
        <p:spPr>
          <a:xfrm>
            <a:off x="10960100" y="4660900"/>
            <a:ext cx="4152900" cy="7366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Integrated optimization: </a:t>
            </a:r>
            <a:r>
              <a:rPr lang="en-US" sz="1600" b="1">
                <a:solidFill>
                  <a:srgbClr val="2ECC71"/>
                </a:solidFill>
                <a:latin typeface="Poppins"/>
              </a:rPr>
              <a:t>Full profit recovery</a:t>
            </a:r>
            <a:endParaRPr lang="en-US" sz="1100"/>
          </a:p>
        </p:txBody>
      </p:sp>
      <p:sp>
        <p:nvSpPr>
          <p:cNvPr id="18" name="TextBox 18"/>
          <p:cNvSpPr txBox="1"/>
          <p:nvPr/>
        </p:nvSpPr>
        <p:spPr>
          <a:xfrm>
            <a:off x="876300" y="6400800"/>
            <a:ext cx="14490700" cy="7366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Quantified evidence: Integrated optimization framework delivers $1M+ annual profit improvement for typical retail chains vs. disconnected decision-making.</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p:cNvPicPr>
            <a:picLocks noChangeAspect="1"/>
          </p:cNvPicPr>
          <p:nvPr/>
        </p:nvPicPr>
        <p:blipFill>
          <a:blip r:embed="rId2"/>
          <a:srcRect/>
          <a:stretch>
            <a:fillRect/>
          </a:stretch>
        </p:blipFill>
        <p:spPr>
          <a:xfrm>
            <a:off x="0" y="0"/>
            <a:ext cx="16256000" cy="9144000"/>
          </a:xfrm>
          <a:prstGeom prst="rect">
            <a:avLst/>
          </a:prstGeom>
        </p:spPr>
      </p:pic>
      <p:sp>
        <p:nvSpPr>
          <p:cNvPr id="4" name="AutoShape 4"/>
          <p:cNvSpPr/>
          <p:nvPr/>
        </p:nvSpPr>
        <p:spPr>
          <a:xfrm>
            <a:off x="876300" y="3162300"/>
            <a:ext cx="14490700" cy="3683000"/>
          </a:xfrm>
          <a:prstGeom prst="rect">
            <a:avLst/>
          </a:prstGeom>
          <a:solidFill>
            <a:srgbClr val="000000">
              <a:alpha val="0"/>
            </a:srgbClr>
          </a:solidFill>
        </p:spPr>
        <p:txBody>
          <a:bodyPr/>
          <a:lstStyle/>
          <a:p>
            <a:endParaRPr lang="en-US"/>
          </a:p>
        </p:txBody>
      </p:sp>
      <p:sp>
        <p:nvSpPr>
          <p:cNvPr id="5" name="AutoShape 5"/>
          <p:cNvSpPr/>
          <p:nvPr/>
        </p:nvSpPr>
        <p:spPr>
          <a:xfrm>
            <a:off x="876300" y="3162300"/>
            <a:ext cx="7112000" cy="3683000"/>
          </a:xfrm>
          <a:prstGeom prst="roundRect">
            <a:avLst>
              <a:gd name="adj" fmla="val 3103"/>
            </a:avLst>
          </a:prstGeom>
          <a:solidFill>
            <a:srgbClr val="D0E3F0"/>
          </a:solidFill>
        </p:spPr>
        <p:txBody>
          <a:bodyPr/>
          <a:lstStyle/>
          <a:p>
            <a:endParaRPr lang="en-US"/>
          </a:p>
        </p:txBody>
      </p:sp>
      <p:sp>
        <p:nvSpPr>
          <p:cNvPr id="6" name="AutoShape 6"/>
          <p:cNvSpPr/>
          <p:nvPr/>
        </p:nvSpPr>
        <p:spPr>
          <a:xfrm>
            <a:off x="1130300" y="3416300"/>
            <a:ext cx="749300" cy="749300"/>
          </a:xfrm>
          <a:prstGeom prst="roundRect">
            <a:avLst>
              <a:gd name="adj" fmla="val 49152"/>
            </a:avLst>
          </a:prstGeom>
          <a:solidFill>
            <a:srgbClr val="1A4378"/>
          </a:solidFill>
        </p:spPr>
        <p:txBody>
          <a:bodyPr/>
          <a:lstStyle/>
          <a:p>
            <a:endParaRPr lang="en-US"/>
          </a:p>
        </p:txBody>
      </p:sp>
      <p:sp>
        <p:nvSpPr>
          <p:cNvPr id="7" name="AutoShape 7"/>
          <p:cNvSpPr/>
          <p:nvPr/>
        </p:nvSpPr>
        <p:spPr>
          <a:xfrm>
            <a:off x="8242300" y="3162300"/>
            <a:ext cx="7112000" cy="3683000"/>
          </a:xfrm>
          <a:prstGeom prst="roundRect">
            <a:avLst>
              <a:gd name="adj" fmla="val 3103"/>
            </a:avLst>
          </a:prstGeom>
          <a:solidFill>
            <a:srgbClr val="D0E3F0"/>
          </a:solidFill>
        </p:spPr>
        <p:txBody>
          <a:bodyPr/>
          <a:lstStyle/>
          <a:p>
            <a:endParaRPr lang="en-US"/>
          </a:p>
        </p:txBody>
      </p:sp>
      <p:sp>
        <p:nvSpPr>
          <p:cNvPr id="8" name="AutoShape 8"/>
          <p:cNvSpPr/>
          <p:nvPr/>
        </p:nvSpPr>
        <p:spPr>
          <a:xfrm>
            <a:off x="8496300" y="3416300"/>
            <a:ext cx="749300" cy="749300"/>
          </a:xfrm>
          <a:prstGeom prst="roundRect">
            <a:avLst>
              <a:gd name="adj" fmla="val 49152"/>
            </a:avLst>
          </a:prstGeom>
          <a:solidFill>
            <a:srgbClr val="1A4378"/>
          </a:solidFill>
        </p:spPr>
        <p:txBody>
          <a:bodyPr/>
          <a:lstStyle/>
          <a:p>
            <a:endParaRPr lang="en-US"/>
          </a:p>
        </p:txBody>
      </p:sp>
      <p:sp>
        <p:nvSpPr>
          <p:cNvPr id="9" name="TextBox 9"/>
          <p:cNvSpPr txBox="1"/>
          <p:nvPr/>
        </p:nvSpPr>
        <p:spPr>
          <a:xfrm>
            <a:off x="247650" y="262038"/>
            <a:ext cx="14490700" cy="584200"/>
          </a:xfrm>
          <a:prstGeom prst="rect">
            <a:avLst/>
          </a:prstGeom>
          <a:solidFill>
            <a:srgbClr val="000000">
              <a:alpha val="0"/>
            </a:srgbClr>
          </a:solidFill>
        </p:spPr>
        <p:txBody>
          <a:bodyPr lIns="0" tIns="0" rIns="0" bIns="0" rtlCol="0" anchor="ctr"/>
          <a:lstStyle/>
          <a:p>
            <a:pPr indent="0" algn="l">
              <a:lnSpc>
                <a:spcPct val="119999"/>
              </a:lnSpc>
              <a:defRPr/>
            </a:pPr>
            <a:r>
              <a:rPr lang="en-US" sz="3900" b="1" dirty="0">
                <a:solidFill>
                  <a:srgbClr val="1A4378"/>
                </a:solidFill>
                <a:latin typeface="Poppins"/>
              </a:rPr>
              <a:t>Key Insight 2: Myopic Inventory Policies Cost Millions</a:t>
            </a:r>
            <a:endParaRPr lang="en-US" sz="1100" dirty="0"/>
          </a:p>
        </p:txBody>
      </p:sp>
      <p:sp>
        <p:nvSpPr>
          <p:cNvPr id="10" name="TextBox 10"/>
          <p:cNvSpPr txBox="1"/>
          <p:nvPr/>
        </p:nvSpPr>
        <p:spPr>
          <a:xfrm>
            <a:off x="1130300" y="4419600"/>
            <a:ext cx="63627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Zero-Inventory Policy (ZIP)</a:t>
            </a:r>
            <a:endParaRPr lang="en-US" sz="1100"/>
          </a:p>
        </p:txBody>
      </p:sp>
      <p:sp>
        <p:nvSpPr>
          <p:cNvPr id="11" name="TextBox 11"/>
          <p:cNvSpPr txBox="1"/>
          <p:nvPr/>
        </p:nvSpPr>
        <p:spPr>
          <a:xfrm>
            <a:off x="1130300" y="5600700"/>
            <a:ext cx="63627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Beginning-Inventory Policy (BIP)</a:t>
            </a:r>
            <a:endParaRPr lang="en-US" sz="1100"/>
          </a:p>
        </p:txBody>
      </p:sp>
      <p:sp>
        <p:nvSpPr>
          <p:cNvPr id="12" name="TextBox 12"/>
          <p:cNvSpPr txBox="1"/>
          <p:nvPr/>
        </p:nvSpPr>
        <p:spPr>
          <a:xfrm>
            <a:off x="8496300" y="4419600"/>
            <a:ext cx="6604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Critical Finding</a:t>
            </a:r>
            <a:endParaRPr lang="en-US" sz="1100"/>
          </a:p>
        </p:txBody>
      </p:sp>
      <p:sp>
        <p:nvSpPr>
          <p:cNvPr id="13" name="TextBox 13"/>
          <p:cNvSpPr txBox="1"/>
          <p:nvPr/>
        </p:nvSpPr>
        <p:spPr>
          <a:xfrm>
            <a:off x="1130300" y="5041900"/>
            <a:ext cx="6362700" cy="368300"/>
          </a:xfrm>
          <a:prstGeom prst="rect">
            <a:avLst/>
          </a:prstGeom>
          <a:solidFill>
            <a:srgbClr val="000000">
              <a:alpha val="0"/>
            </a:srgbClr>
          </a:solidFill>
        </p:spPr>
        <p:txBody>
          <a:bodyPr lIns="0" tIns="0" rIns="0" bIns="0" rtlCol="0" anchor="ctr"/>
          <a:lstStyle/>
          <a:p>
            <a:pPr indent="0" algn="l">
              <a:lnSpc>
                <a:spcPct val="149999"/>
              </a:lnSpc>
              <a:defRPr/>
            </a:pPr>
            <a:r>
              <a:rPr lang="en-US" sz="1600" b="1">
                <a:solidFill>
                  <a:srgbClr val="E74C3C"/>
                </a:solidFill>
                <a:latin typeface="Poppins"/>
              </a:rPr>
              <a:t>57-70%</a:t>
            </a:r>
            <a:r>
              <a:rPr lang="en-US" sz="1900" b="1">
                <a:solidFill>
                  <a:srgbClr val="1A4378"/>
                </a:solidFill>
                <a:latin typeface="Poppins"/>
              </a:rPr>
              <a:t> profit reduction</a:t>
            </a:r>
            <a:endParaRPr lang="en-US" sz="1100"/>
          </a:p>
        </p:txBody>
      </p:sp>
      <p:sp>
        <p:nvSpPr>
          <p:cNvPr id="14" name="TextBox 14"/>
          <p:cNvSpPr txBox="1"/>
          <p:nvPr/>
        </p:nvSpPr>
        <p:spPr>
          <a:xfrm>
            <a:off x="1130300" y="6223000"/>
            <a:ext cx="6362700" cy="368300"/>
          </a:xfrm>
          <a:prstGeom prst="rect">
            <a:avLst/>
          </a:prstGeom>
          <a:solidFill>
            <a:srgbClr val="000000">
              <a:alpha val="0"/>
            </a:srgbClr>
          </a:solidFill>
        </p:spPr>
        <p:txBody>
          <a:bodyPr lIns="0" tIns="0" rIns="0" bIns="0" rtlCol="0" anchor="ctr"/>
          <a:lstStyle/>
          <a:p>
            <a:pPr indent="0" algn="l">
              <a:lnSpc>
                <a:spcPct val="149999"/>
              </a:lnSpc>
              <a:defRPr/>
            </a:pPr>
            <a:r>
              <a:rPr lang="en-US" sz="1600" b="1">
                <a:solidFill>
                  <a:srgbClr val="E74C3C"/>
                </a:solidFill>
                <a:latin typeface="Poppins"/>
              </a:rPr>
              <a:t>32-55%</a:t>
            </a:r>
            <a:r>
              <a:rPr lang="en-US" sz="1900" b="1">
                <a:solidFill>
                  <a:srgbClr val="1A4378"/>
                </a:solidFill>
                <a:latin typeface="Poppins"/>
              </a:rPr>
              <a:t> profit reduction</a:t>
            </a:r>
            <a:endParaRPr lang="en-US" sz="1100"/>
          </a:p>
        </p:txBody>
      </p:sp>
      <p:sp>
        <p:nvSpPr>
          <p:cNvPr id="15" name="TextBox 15"/>
          <p:cNvSpPr txBox="1"/>
          <p:nvPr/>
        </p:nvSpPr>
        <p:spPr>
          <a:xfrm>
            <a:off x="8496300" y="5041900"/>
            <a:ext cx="6604000" cy="11176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Myopic policies also distort optimal assortment composition. Integrated decision-making is vital for profitability.</a:t>
            </a:r>
            <a:endParaRPr lang="en-US" sz="1100"/>
          </a:p>
        </p:txBody>
      </p:sp>
      <p:pic>
        <p:nvPicPr>
          <p:cNvPr id="16" name="Picture 16"/>
          <p:cNvPicPr>
            <a:picLocks noChangeAspect="1"/>
          </p:cNvPicPr>
          <p:nvPr/>
        </p:nvPicPr>
        <p:blipFill>
          <a:blip r:embed="rId3"/>
          <a:srcRect/>
          <a:stretch>
            <a:fillRect/>
          </a:stretch>
        </p:blipFill>
        <p:spPr>
          <a:xfrm>
            <a:off x="1384300" y="3657600"/>
            <a:ext cx="241300" cy="241300"/>
          </a:xfrm>
          <a:prstGeom prst="rect">
            <a:avLst/>
          </a:prstGeom>
        </p:spPr>
      </p:pic>
      <p:pic>
        <p:nvPicPr>
          <p:cNvPr id="17" name="Picture 17"/>
          <p:cNvPicPr>
            <a:picLocks noChangeAspect="1"/>
          </p:cNvPicPr>
          <p:nvPr/>
        </p:nvPicPr>
        <p:blipFill>
          <a:blip r:embed="rId4"/>
          <a:srcRect/>
          <a:stretch>
            <a:fillRect/>
          </a:stretch>
        </p:blipFill>
        <p:spPr>
          <a:xfrm>
            <a:off x="8750300" y="3657600"/>
            <a:ext cx="241300" cy="2413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p:cNvPicPr>
            <a:picLocks noChangeAspect="1"/>
          </p:cNvPicPr>
          <p:nvPr/>
        </p:nvPicPr>
        <p:blipFill>
          <a:blip r:embed="rId2"/>
          <a:srcRect/>
          <a:stretch>
            <a:fillRect/>
          </a:stretch>
        </p:blipFill>
        <p:spPr>
          <a:xfrm>
            <a:off x="0" y="0"/>
            <a:ext cx="16256000" cy="9144000"/>
          </a:xfrm>
          <a:prstGeom prst="rect">
            <a:avLst/>
          </a:prstGeom>
        </p:spPr>
      </p:pic>
      <p:sp>
        <p:nvSpPr>
          <p:cNvPr id="4" name="AutoShape 4"/>
          <p:cNvSpPr/>
          <p:nvPr/>
        </p:nvSpPr>
        <p:spPr>
          <a:xfrm>
            <a:off x="876300" y="3378200"/>
            <a:ext cx="14490700" cy="3251200"/>
          </a:xfrm>
          <a:prstGeom prst="rect">
            <a:avLst/>
          </a:prstGeom>
          <a:solidFill>
            <a:srgbClr val="000000">
              <a:alpha val="0"/>
            </a:srgbClr>
          </a:solidFill>
        </p:spPr>
        <p:txBody>
          <a:bodyPr/>
          <a:lstStyle/>
          <a:p>
            <a:endParaRPr lang="en-US"/>
          </a:p>
        </p:txBody>
      </p:sp>
      <p:sp>
        <p:nvSpPr>
          <p:cNvPr id="5" name="AutoShape 5"/>
          <p:cNvSpPr/>
          <p:nvPr/>
        </p:nvSpPr>
        <p:spPr>
          <a:xfrm>
            <a:off x="876300" y="3378200"/>
            <a:ext cx="4660900" cy="3251200"/>
          </a:xfrm>
          <a:prstGeom prst="roundRect">
            <a:avLst>
              <a:gd name="adj" fmla="val 3515"/>
            </a:avLst>
          </a:prstGeom>
          <a:solidFill>
            <a:srgbClr val="D0E3F0"/>
          </a:solidFill>
        </p:spPr>
        <p:txBody>
          <a:bodyPr/>
          <a:lstStyle/>
          <a:p>
            <a:endParaRPr lang="en-US"/>
          </a:p>
        </p:txBody>
      </p:sp>
      <p:sp>
        <p:nvSpPr>
          <p:cNvPr id="6" name="AutoShape 6"/>
          <p:cNvSpPr/>
          <p:nvPr/>
        </p:nvSpPr>
        <p:spPr>
          <a:xfrm>
            <a:off x="1130300" y="3619500"/>
            <a:ext cx="749300" cy="749300"/>
          </a:xfrm>
          <a:prstGeom prst="roundRect">
            <a:avLst>
              <a:gd name="adj" fmla="val 49152"/>
            </a:avLst>
          </a:prstGeom>
          <a:solidFill>
            <a:srgbClr val="1A4378"/>
          </a:solidFill>
        </p:spPr>
        <p:txBody>
          <a:bodyPr/>
          <a:lstStyle/>
          <a:p>
            <a:endParaRPr lang="en-US"/>
          </a:p>
        </p:txBody>
      </p:sp>
      <p:sp>
        <p:nvSpPr>
          <p:cNvPr id="7" name="AutoShape 7"/>
          <p:cNvSpPr/>
          <p:nvPr/>
        </p:nvSpPr>
        <p:spPr>
          <a:xfrm>
            <a:off x="5791200" y="3378200"/>
            <a:ext cx="4660900" cy="3251200"/>
          </a:xfrm>
          <a:prstGeom prst="roundRect">
            <a:avLst>
              <a:gd name="adj" fmla="val 3515"/>
            </a:avLst>
          </a:prstGeom>
          <a:solidFill>
            <a:srgbClr val="D0E3F0"/>
          </a:solidFill>
        </p:spPr>
        <p:txBody>
          <a:bodyPr/>
          <a:lstStyle/>
          <a:p>
            <a:endParaRPr lang="en-US"/>
          </a:p>
        </p:txBody>
      </p:sp>
      <p:sp>
        <p:nvSpPr>
          <p:cNvPr id="8" name="AutoShape 8"/>
          <p:cNvSpPr/>
          <p:nvPr/>
        </p:nvSpPr>
        <p:spPr>
          <a:xfrm>
            <a:off x="6045200" y="3619500"/>
            <a:ext cx="749300" cy="749300"/>
          </a:xfrm>
          <a:prstGeom prst="roundRect">
            <a:avLst>
              <a:gd name="adj" fmla="val 49152"/>
            </a:avLst>
          </a:prstGeom>
          <a:solidFill>
            <a:srgbClr val="1A4378"/>
          </a:solidFill>
        </p:spPr>
        <p:txBody>
          <a:bodyPr/>
          <a:lstStyle/>
          <a:p>
            <a:endParaRPr lang="en-US"/>
          </a:p>
        </p:txBody>
      </p:sp>
      <p:sp>
        <p:nvSpPr>
          <p:cNvPr id="9" name="AutoShape 9"/>
          <p:cNvSpPr/>
          <p:nvPr/>
        </p:nvSpPr>
        <p:spPr>
          <a:xfrm>
            <a:off x="10706100" y="3378200"/>
            <a:ext cx="4660900" cy="3251200"/>
          </a:xfrm>
          <a:prstGeom prst="roundRect">
            <a:avLst>
              <a:gd name="adj" fmla="val 3515"/>
            </a:avLst>
          </a:prstGeom>
          <a:solidFill>
            <a:srgbClr val="D0E3F0"/>
          </a:solidFill>
        </p:spPr>
        <p:txBody>
          <a:bodyPr/>
          <a:lstStyle/>
          <a:p>
            <a:endParaRPr lang="en-US"/>
          </a:p>
        </p:txBody>
      </p:sp>
      <p:sp>
        <p:nvSpPr>
          <p:cNvPr id="10" name="AutoShape 10"/>
          <p:cNvSpPr/>
          <p:nvPr/>
        </p:nvSpPr>
        <p:spPr>
          <a:xfrm>
            <a:off x="10960100" y="3619500"/>
            <a:ext cx="749300" cy="749300"/>
          </a:xfrm>
          <a:prstGeom prst="roundRect">
            <a:avLst>
              <a:gd name="adj" fmla="val 49152"/>
            </a:avLst>
          </a:prstGeom>
          <a:solidFill>
            <a:srgbClr val="1A4378"/>
          </a:solidFill>
        </p:spPr>
        <p:txBody>
          <a:bodyPr/>
          <a:lstStyle/>
          <a:p>
            <a:endParaRPr lang="en-US"/>
          </a:p>
        </p:txBody>
      </p:sp>
      <p:sp>
        <p:nvSpPr>
          <p:cNvPr id="11" name="TextBox 11"/>
          <p:cNvSpPr txBox="1"/>
          <p:nvPr/>
        </p:nvSpPr>
        <p:spPr>
          <a:xfrm>
            <a:off x="279400" y="279400"/>
            <a:ext cx="14490700" cy="584200"/>
          </a:xfrm>
          <a:prstGeom prst="rect">
            <a:avLst/>
          </a:prstGeom>
          <a:solidFill>
            <a:srgbClr val="000000">
              <a:alpha val="0"/>
            </a:srgbClr>
          </a:solidFill>
        </p:spPr>
        <p:txBody>
          <a:bodyPr lIns="0" tIns="0" rIns="0" bIns="0" rtlCol="0" anchor="ctr"/>
          <a:lstStyle/>
          <a:p>
            <a:pPr indent="0" algn="l">
              <a:lnSpc>
                <a:spcPct val="119999"/>
              </a:lnSpc>
              <a:defRPr/>
            </a:pPr>
            <a:r>
              <a:rPr lang="en-US" sz="3900" b="1" dirty="0">
                <a:solidFill>
                  <a:srgbClr val="1A4378"/>
                </a:solidFill>
                <a:latin typeface="Poppins"/>
              </a:rPr>
              <a:t>Key Insight 3: Seasonality Creates Opportunity</a:t>
            </a:r>
            <a:endParaRPr lang="en-US" sz="1100" dirty="0"/>
          </a:p>
        </p:txBody>
      </p:sp>
      <p:sp>
        <p:nvSpPr>
          <p:cNvPr id="12" name="TextBox 12"/>
          <p:cNvSpPr txBox="1"/>
          <p:nvPr/>
        </p:nvSpPr>
        <p:spPr>
          <a:xfrm>
            <a:off x="1130300" y="4635500"/>
            <a:ext cx="41529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Seasonality Benefit</a:t>
            </a:r>
            <a:endParaRPr lang="en-US" sz="1100"/>
          </a:p>
        </p:txBody>
      </p:sp>
      <p:sp>
        <p:nvSpPr>
          <p:cNvPr id="13" name="TextBox 13"/>
          <p:cNvSpPr txBox="1"/>
          <p:nvPr/>
        </p:nvSpPr>
        <p:spPr>
          <a:xfrm>
            <a:off x="6045200" y="4635500"/>
            <a:ext cx="41529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Optimal Strategy</a:t>
            </a:r>
            <a:endParaRPr lang="en-US" sz="1100"/>
          </a:p>
        </p:txBody>
      </p:sp>
      <p:sp>
        <p:nvSpPr>
          <p:cNvPr id="14" name="TextBox 14"/>
          <p:cNvSpPr txBox="1"/>
          <p:nvPr/>
        </p:nvSpPr>
        <p:spPr>
          <a:xfrm>
            <a:off x="10960100" y="4635500"/>
            <a:ext cx="41529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Static Cost</a:t>
            </a:r>
            <a:endParaRPr lang="en-US" sz="1100"/>
          </a:p>
        </p:txBody>
      </p:sp>
      <p:sp>
        <p:nvSpPr>
          <p:cNvPr id="15" name="TextBox 15"/>
          <p:cNvSpPr txBox="1"/>
          <p:nvPr/>
        </p:nvSpPr>
        <p:spPr>
          <a:xfrm>
            <a:off x="1130300" y="5257800"/>
            <a:ext cx="4152900" cy="11176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Anticipating demand/cost seasonality yields up to 40% profit boost</a:t>
            </a:r>
            <a:endParaRPr lang="en-US" sz="1100"/>
          </a:p>
        </p:txBody>
      </p:sp>
      <p:sp>
        <p:nvSpPr>
          <p:cNvPr id="16" name="TextBox 16"/>
          <p:cNvSpPr txBox="1"/>
          <p:nvPr/>
        </p:nvSpPr>
        <p:spPr>
          <a:xfrm>
            <a:off x="6045200" y="5257800"/>
            <a:ext cx="4152900" cy="11176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Wider assortments + higher inventory levels during low-cost periods</a:t>
            </a:r>
            <a:endParaRPr lang="en-US" sz="1100"/>
          </a:p>
        </p:txBody>
      </p:sp>
      <p:sp>
        <p:nvSpPr>
          <p:cNvPr id="17" name="TextBox 17"/>
          <p:cNvSpPr txBox="1"/>
          <p:nvPr/>
        </p:nvSpPr>
        <p:spPr>
          <a:xfrm>
            <a:off x="10960100" y="5257800"/>
            <a:ext cx="4152900" cy="11176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Ignoring seasonality causes 5-43% profit reduction. Dynamic planning essential.</a:t>
            </a:r>
            <a:endParaRPr lang="en-US" sz="1100"/>
          </a:p>
        </p:txBody>
      </p:sp>
      <p:pic>
        <p:nvPicPr>
          <p:cNvPr id="18" name="Picture 18"/>
          <p:cNvPicPr>
            <a:picLocks noChangeAspect="1"/>
          </p:cNvPicPr>
          <p:nvPr/>
        </p:nvPicPr>
        <p:blipFill>
          <a:blip r:embed="rId3"/>
          <a:srcRect/>
          <a:stretch>
            <a:fillRect/>
          </a:stretch>
        </p:blipFill>
        <p:spPr>
          <a:xfrm>
            <a:off x="1384300" y="3873500"/>
            <a:ext cx="241300" cy="241300"/>
          </a:xfrm>
          <a:prstGeom prst="rect">
            <a:avLst/>
          </a:prstGeom>
        </p:spPr>
      </p:pic>
      <p:pic>
        <p:nvPicPr>
          <p:cNvPr id="19" name="Picture 19"/>
          <p:cNvPicPr>
            <a:picLocks noChangeAspect="1"/>
          </p:cNvPicPr>
          <p:nvPr/>
        </p:nvPicPr>
        <p:blipFill>
          <a:blip r:embed="rId3"/>
          <a:srcRect t="7000" b="7000"/>
          <a:stretch>
            <a:fillRect/>
          </a:stretch>
        </p:blipFill>
        <p:spPr>
          <a:xfrm>
            <a:off x="6273800" y="3873500"/>
            <a:ext cx="279400" cy="241300"/>
          </a:xfrm>
          <a:prstGeom prst="rect">
            <a:avLst/>
          </a:prstGeom>
        </p:spPr>
      </p:pic>
      <p:pic>
        <p:nvPicPr>
          <p:cNvPr id="20" name="Picture 20"/>
          <p:cNvPicPr>
            <a:picLocks noChangeAspect="1"/>
          </p:cNvPicPr>
          <p:nvPr/>
        </p:nvPicPr>
        <p:blipFill>
          <a:blip r:embed="rId4"/>
          <a:srcRect/>
          <a:stretch>
            <a:fillRect/>
          </a:stretch>
        </p:blipFill>
        <p:spPr>
          <a:xfrm>
            <a:off x="11214100" y="3873500"/>
            <a:ext cx="241300" cy="2413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p:cNvPicPr>
            <a:picLocks noChangeAspect="1"/>
          </p:cNvPicPr>
          <p:nvPr/>
        </p:nvPicPr>
        <p:blipFill>
          <a:blip r:embed="rId2"/>
          <a:srcRect/>
          <a:stretch>
            <a:fillRect/>
          </a:stretch>
        </p:blipFill>
        <p:spPr>
          <a:xfrm>
            <a:off x="0" y="0"/>
            <a:ext cx="16256000" cy="9144000"/>
          </a:xfrm>
          <a:prstGeom prst="rect">
            <a:avLst/>
          </a:prstGeom>
        </p:spPr>
      </p:pic>
      <p:sp>
        <p:nvSpPr>
          <p:cNvPr id="4" name="AutoShape 4"/>
          <p:cNvSpPr/>
          <p:nvPr/>
        </p:nvSpPr>
        <p:spPr>
          <a:xfrm>
            <a:off x="876300" y="3149600"/>
            <a:ext cx="14490700" cy="3708400"/>
          </a:xfrm>
          <a:prstGeom prst="rect">
            <a:avLst/>
          </a:prstGeom>
          <a:solidFill>
            <a:srgbClr val="000000">
              <a:alpha val="0"/>
            </a:srgbClr>
          </a:solidFill>
        </p:spPr>
        <p:txBody>
          <a:bodyPr/>
          <a:lstStyle/>
          <a:p>
            <a:endParaRPr lang="en-US"/>
          </a:p>
        </p:txBody>
      </p:sp>
      <p:sp>
        <p:nvSpPr>
          <p:cNvPr id="5" name="AutoShape 5"/>
          <p:cNvSpPr/>
          <p:nvPr/>
        </p:nvSpPr>
        <p:spPr>
          <a:xfrm>
            <a:off x="876300" y="3149600"/>
            <a:ext cx="3429000" cy="3708400"/>
          </a:xfrm>
          <a:prstGeom prst="roundRect">
            <a:avLst>
              <a:gd name="adj" fmla="val 3333"/>
            </a:avLst>
          </a:prstGeom>
          <a:solidFill>
            <a:srgbClr val="D0E3F0"/>
          </a:solidFill>
        </p:spPr>
        <p:txBody>
          <a:bodyPr/>
          <a:lstStyle/>
          <a:p>
            <a:endParaRPr lang="en-US"/>
          </a:p>
        </p:txBody>
      </p:sp>
      <p:sp>
        <p:nvSpPr>
          <p:cNvPr id="6" name="AutoShape 6"/>
          <p:cNvSpPr/>
          <p:nvPr/>
        </p:nvSpPr>
        <p:spPr>
          <a:xfrm>
            <a:off x="1130300" y="3403600"/>
            <a:ext cx="749300" cy="749300"/>
          </a:xfrm>
          <a:prstGeom prst="roundRect">
            <a:avLst>
              <a:gd name="adj" fmla="val 49152"/>
            </a:avLst>
          </a:prstGeom>
          <a:solidFill>
            <a:srgbClr val="1A4378"/>
          </a:solidFill>
        </p:spPr>
        <p:txBody>
          <a:bodyPr/>
          <a:lstStyle/>
          <a:p>
            <a:endParaRPr lang="en-US"/>
          </a:p>
        </p:txBody>
      </p:sp>
      <p:sp>
        <p:nvSpPr>
          <p:cNvPr id="7" name="AutoShape 7"/>
          <p:cNvSpPr/>
          <p:nvPr/>
        </p:nvSpPr>
        <p:spPr>
          <a:xfrm>
            <a:off x="4559300" y="3149600"/>
            <a:ext cx="3429000" cy="3708400"/>
          </a:xfrm>
          <a:prstGeom prst="roundRect">
            <a:avLst>
              <a:gd name="adj" fmla="val 3333"/>
            </a:avLst>
          </a:prstGeom>
          <a:solidFill>
            <a:srgbClr val="D0E3F0"/>
          </a:solidFill>
        </p:spPr>
        <p:txBody>
          <a:bodyPr/>
          <a:lstStyle/>
          <a:p>
            <a:endParaRPr lang="en-US"/>
          </a:p>
        </p:txBody>
      </p:sp>
      <p:sp>
        <p:nvSpPr>
          <p:cNvPr id="8" name="AutoShape 8"/>
          <p:cNvSpPr/>
          <p:nvPr/>
        </p:nvSpPr>
        <p:spPr>
          <a:xfrm>
            <a:off x="4813300" y="3403600"/>
            <a:ext cx="749300" cy="749300"/>
          </a:xfrm>
          <a:prstGeom prst="roundRect">
            <a:avLst>
              <a:gd name="adj" fmla="val 49152"/>
            </a:avLst>
          </a:prstGeom>
          <a:solidFill>
            <a:srgbClr val="1A4378"/>
          </a:solidFill>
        </p:spPr>
        <p:txBody>
          <a:bodyPr/>
          <a:lstStyle/>
          <a:p>
            <a:endParaRPr lang="en-US"/>
          </a:p>
        </p:txBody>
      </p:sp>
      <p:sp>
        <p:nvSpPr>
          <p:cNvPr id="9" name="AutoShape 9"/>
          <p:cNvSpPr/>
          <p:nvPr/>
        </p:nvSpPr>
        <p:spPr>
          <a:xfrm>
            <a:off x="8242300" y="3149600"/>
            <a:ext cx="3429000" cy="3708400"/>
          </a:xfrm>
          <a:prstGeom prst="roundRect">
            <a:avLst>
              <a:gd name="adj" fmla="val 3333"/>
            </a:avLst>
          </a:prstGeom>
          <a:solidFill>
            <a:srgbClr val="D0E3F0"/>
          </a:solidFill>
        </p:spPr>
        <p:txBody>
          <a:bodyPr/>
          <a:lstStyle/>
          <a:p>
            <a:endParaRPr lang="en-US"/>
          </a:p>
        </p:txBody>
      </p:sp>
      <p:sp>
        <p:nvSpPr>
          <p:cNvPr id="10" name="AutoShape 10"/>
          <p:cNvSpPr/>
          <p:nvPr/>
        </p:nvSpPr>
        <p:spPr>
          <a:xfrm>
            <a:off x="8496300" y="3403600"/>
            <a:ext cx="749300" cy="749300"/>
          </a:xfrm>
          <a:prstGeom prst="roundRect">
            <a:avLst>
              <a:gd name="adj" fmla="val 49152"/>
            </a:avLst>
          </a:prstGeom>
          <a:solidFill>
            <a:srgbClr val="1A4378"/>
          </a:solidFill>
        </p:spPr>
        <p:txBody>
          <a:bodyPr/>
          <a:lstStyle/>
          <a:p>
            <a:endParaRPr lang="en-US"/>
          </a:p>
        </p:txBody>
      </p:sp>
      <p:sp>
        <p:nvSpPr>
          <p:cNvPr id="11" name="AutoShape 11"/>
          <p:cNvSpPr/>
          <p:nvPr/>
        </p:nvSpPr>
        <p:spPr>
          <a:xfrm>
            <a:off x="11938000" y="3149600"/>
            <a:ext cx="3429000" cy="3708400"/>
          </a:xfrm>
          <a:prstGeom prst="roundRect">
            <a:avLst>
              <a:gd name="adj" fmla="val 3333"/>
            </a:avLst>
          </a:prstGeom>
          <a:solidFill>
            <a:srgbClr val="D0E3F0"/>
          </a:solidFill>
        </p:spPr>
        <p:txBody>
          <a:bodyPr/>
          <a:lstStyle/>
          <a:p>
            <a:endParaRPr lang="en-US"/>
          </a:p>
        </p:txBody>
      </p:sp>
      <p:sp>
        <p:nvSpPr>
          <p:cNvPr id="12" name="AutoShape 12"/>
          <p:cNvSpPr/>
          <p:nvPr/>
        </p:nvSpPr>
        <p:spPr>
          <a:xfrm>
            <a:off x="12179300" y="3403600"/>
            <a:ext cx="749300" cy="749300"/>
          </a:xfrm>
          <a:prstGeom prst="roundRect">
            <a:avLst>
              <a:gd name="adj" fmla="val 49152"/>
            </a:avLst>
          </a:prstGeom>
          <a:solidFill>
            <a:srgbClr val="1A4378"/>
          </a:solidFill>
        </p:spPr>
        <p:txBody>
          <a:bodyPr/>
          <a:lstStyle/>
          <a:p>
            <a:endParaRPr lang="en-US"/>
          </a:p>
        </p:txBody>
      </p:sp>
      <p:sp>
        <p:nvSpPr>
          <p:cNvPr id="13" name="TextBox 13"/>
          <p:cNvSpPr txBox="1"/>
          <p:nvPr/>
        </p:nvSpPr>
        <p:spPr>
          <a:xfrm>
            <a:off x="279400" y="152400"/>
            <a:ext cx="14490700" cy="584200"/>
          </a:xfrm>
          <a:prstGeom prst="rect">
            <a:avLst/>
          </a:prstGeom>
          <a:solidFill>
            <a:srgbClr val="000000">
              <a:alpha val="0"/>
            </a:srgbClr>
          </a:solidFill>
        </p:spPr>
        <p:txBody>
          <a:bodyPr lIns="0" tIns="0" rIns="0" bIns="0" rtlCol="0" anchor="ctr"/>
          <a:lstStyle/>
          <a:p>
            <a:pPr indent="0" algn="l">
              <a:lnSpc>
                <a:spcPct val="119999"/>
              </a:lnSpc>
              <a:defRPr/>
            </a:pPr>
            <a:r>
              <a:rPr lang="en-US" sz="3900" b="1" dirty="0">
                <a:solidFill>
                  <a:srgbClr val="1A4378"/>
                </a:solidFill>
                <a:latin typeface="Poppins"/>
              </a:rPr>
              <a:t>Managerial Implications &amp; Recommendations</a:t>
            </a:r>
            <a:endParaRPr lang="en-US" sz="1100" dirty="0"/>
          </a:p>
        </p:txBody>
      </p:sp>
      <p:sp>
        <p:nvSpPr>
          <p:cNvPr id="14" name="TextBox 14"/>
          <p:cNvSpPr txBox="1"/>
          <p:nvPr/>
        </p:nvSpPr>
        <p:spPr>
          <a:xfrm>
            <a:off x="1130300" y="4406900"/>
            <a:ext cx="29210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Integration Critical</a:t>
            </a:r>
            <a:endParaRPr lang="en-US" sz="1100"/>
          </a:p>
        </p:txBody>
      </p:sp>
      <p:sp>
        <p:nvSpPr>
          <p:cNvPr id="15" name="TextBox 15"/>
          <p:cNvSpPr txBox="1"/>
          <p:nvPr/>
        </p:nvSpPr>
        <p:spPr>
          <a:xfrm>
            <a:off x="4813300" y="4406900"/>
            <a:ext cx="29210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Simple Rules Fail</a:t>
            </a:r>
            <a:endParaRPr lang="en-US" sz="1100"/>
          </a:p>
        </p:txBody>
      </p:sp>
      <p:sp>
        <p:nvSpPr>
          <p:cNvPr id="16" name="TextBox 16"/>
          <p:cNvSpPr txBox="1"/>
          <p:nvPr/>
        </p:nvSpPr>
        <p:spPr>
          <a:xfrm>
            <a:off x="8496300" y="4406900"/>
            <a:ext cx="2921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Invest in Tools</a:t>
            </a:r>
            <a:endParaRPr lang="en-US" sz="1100"/>
          </a:p>
        </p:txBody>
      </p:sp>
      <p:sp>
        <p:nvSpPr>
          <p:cNvPr id="17" name="TextBox 17"/>
          <p:cNvSpPr txBox="1"/>
          <p:nvPr/>
        </p:nvSpPr>
        <p:spPr>
          <a:xfrm>
            <a:off x="12179300" y="4406900"/>
            <a:ext cx="29210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Small Gains Matter</a:t>
            </a:r>
            <a:endParaRPr lang="en-US" sz="1100"/>
          </a:p>
        </p:txBody>
      </p:sp>
      <p:sp>
        <p:nvSpPr>
          <p:cNvPr id="18" name="TextBox 18"/>
          <p:cNvSpPr txBox="1"/>
          <p:nvPr/>
        </p:nvSpPr>
        <p:spPr>
          <a:xfrm>
            <a:off x="1130300" y="5486400"/>
            <a:ext cx="2921000" cy="11176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All three decisions essential for profitability</a:t>
            </a:r>
            <a:endParaRPr lang="en-US" sz="1100"/>
          </a:p>
        </p:txBody>
      </p:sp>
      <p:sp>
        <p:nvSpPr>
          <p:cNvPr id="19" name="TextBox 19"/>
          <p:cNvSpPr txBox="1"/>
          <p:nvPr/>
        </p:nvSpPr>
        <p:spPr>
          <a:xfrm>
            <a:off x="4813300" y="5486400"/>
            <a:ext cx="2921000" cy="11176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Myopic approaches leave significant profit on table</a:t>
            </a:r>
            <a:endParaRPr lang="en-US" sz="1100"/>
          </a:p>
        </p:txBody>
      </p:sp>
      <p:sp>
        <p:nvSpPr>
          <p:cNvPr id="20" name="TextBox 20"/>
          <p:cNvSpPr txBox="1"/>
          <p:nvPr/>
        </p:nvSpPr>
        <p:spPr>
          <a:xfrm>
            <a:off x="8496300" y="5029200"/>
            <a:ext cx="2921000" cy="11176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Optimization systems anticipating seasonality needed</a:t>
            </a:r>
            <a:endParaRPr lang="en-US" sz="1100"/>
          </a:p>
        </p:txBody>
      </p:sp>
      <p:sp>
        <p:nvSpPr>
          <p:cNvPr id="21" name="TextBox 21"/>
          <p:cNvSpPr txBox="1"/>
          <p:nvPr/>
        </p:nvSpPr>
        <p:spPr>
          <a:xfrm>
            <a:off x="12179300" y="5486400"/>
            <a:ext cx="2921000" cy="11176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Thin-margin retail: every improvement counts significantly</a:t>
            </a:r>
            <a:endParaRPr lang="en-US" sz="1100"/>
          </a:p>
        </p:txBody>
      </p:sp>
      <p:pic>
        <p:nvPicPr>
          <p:cNvPr id="22" name="Picture 22"/>
          <p:cNvPicPr>
            <a:picLocks noChangeAspect="1"/>
          </p:cNvPicPr>
          <p:nvPr/>
        </p:nvPicPr>
        <p:blipFill>
          <a:blip r:embed="rId3"/>
          <a:srcRect/>
          <a:stretch>
            <a:fillRect/>
          </a:stretch>
        </p:blipFill>
        <p:spPr>
          <a:xfrm>
            <a:off x="1384300" y="3657600"/>
            <a:ext cx="241300" cy="241300"/>
          </a:xfrm>
          <a:prstGeom prst="rect">
            <a:avLst/>
          </a:prstGeom>
        </p:spPr>
      </p:pic>
      <p:pic>
        <p:nvPicPr>
          <p:cNvPr id="23" name="Picture 23"/>
          <p:cNvPicPr>
            <a:picLocks noChangeAspect="1"/>
          </p:cNvPicPr>
          <p:nvPr/>
        </p:nvPicPr>
        <p:blipFill>
          <a:blip r:embed="rId4"/>
          <a:srcRect l="40000" r="40000"/>
          <a:stretch>
            <a:fillRect/>
          </a:stretch>
        </p:blipFill>
        <p:spPr>
          <a:xfrm>
            <a:off x="5156200" y="3657600"/>
            <a:ext cx="50800" cy="241300"/>
          </a:xfrm>
          <a:prstGeom prst="rect">
            <a:avLst/>
          </a:prstGeom>
        </p:spPr>
      </p:pic>
      <p:pic>
        <p:nvPicPr>
          <p:cNvPr id="24" name="Picture 24"/>
          <p:cNvPicPr>
            <a:picLocks noChangeAspect="1"/>
          </p:cNvPicPr>
          <p:nvPr/>
        </p:nvPicPr>
        <p:blipFill>
          <a:blip r:embed="rId3"/>
          <a:srcRect/>
          <a:stretch>
            <a:fillRect/>
          </a:stretch>
        </p:blipFill>
        <p:spPr>
          <a:xfrm>
            <a:off x="8750300" y="3657600"/>
            <a:ext cx="241300" cy="241300"/>
          </a:xfrm>
          <a:prstGeom prst="rect">
            <a:avLst/>
          </a:prstGeom>
        </p:spPr>
      </p:pic>
      <p:pic>
        <p:nvPicPr>
          <p:cNvPr id="25" name="Picture 25"/>
          <p:cNvPicPr>
            <a:picLocks noChangeAspect="1"/>
          </p:cNvPicPr>
          <p:nvPr/>
        </p:nvPicPr>
        <p:blipFill>
          <a:blip r:embed="rId3"/>
          <a:srcRect/>
          <a:stretch>
            <a:fillRect/>
          </a:stretch>
        </p:blipFill>
        <p:spPr>
          <a:xfrm>
            <a:off x="12433300" y="3657600"/>
            <a:ext cx="241300" cy="2413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p:cNvPicPr>
            <a:picLocks noChangeAspect="1"/>
          </p:cNvPicPr>
          <p:nvPr/>
        </p:nvPicPr>
        <p:blipFill>
          <a:blip r:embed="rId2"/>
          <a:srcRect/>
          <a:stretch>
            <a:fillRect/>
          </a:stretch>
        </p:blipFill>
        <p:spPr>
          <a:xfrm>
            <a:off x="0" y="0"/>
            <a:ext cx="16256000" cy="9144000"/>
          </a:xfrm>
          <a:prstGeom prst="rect">
            <a:avLst/>
          </a:prstGeom>
        </p:spPr>
      </p:pic>
      <p:sp>
        <p:nvSpPr>
          <p:cNvPr id="4" name="AutoShape 4"/>
          <p:cNvSpPr/>
          <p:nvPr/>
        </p:nvSpPr>
        <p:spPr>
          <a:xfrm>
            <a:off x="876300" y="2133600"/>
            <a:ext cx="14490700" cy="5740400"/>
          </a:xfrm>
          <a:prstGeom prst="rect">
            <a:avLst/>
          </a:prstGeom>
          <a:solidFill>
            <a:srgbClr val="000000">
              <a:alpha val="0"/>
            </a:srgbClr>
          </a:solidFill>
        </p:spPr>
        <p:txBody>
          <a:bodyPr/>
          <a:lstStyle/>
          <a:p>
            <a:endParaRPr lang="en-US"/>
          </a:p>
        </p:txBody>
      </p:sp>
      <p:sp>
        <p:nvSpPr>
          <p:cNvPr id="5" name="AutoShape 5"/>
          <p:cNvSpPr/>
          <p:nvPr/>
        </p:nvSpPr>
        <p:spPr>
          <a:xfrm>
            <a:off x="876300" y="2133600"/>
            <a:ext cx="7112000" cy="5740400"/>
          </a:xfrm>
          <a:prstGeom prst="roundRect">
            <a:avLst>
              <a:gd name="adj" fmla="val 1991"/>
            </a:avLst>
          </a:prstGeom>
          <a:solidFill>
            <a:srgbClr val="D0E3F0"/>
          </a:solidFill>
        </p:spPr>
        <p:txBody>
          <a:bodyPr/>
          <a:lstStyle/>
          <a:p>
            <a:endParaRPr lang="en-US"/>
          </a:p>
        </p:txBody>
      </p:sp>
      <p:sp>
        <p:nvSpPr>
          <p:cNvPr id="6" name="AutoShape 6"/>
          <p:cNvSpPr/>
          <p:nvPr/>
        </p:nvSpPr>
        <p:spPr>
          <a:xfrm>
            <a:off x="1130300" y="2374900"/>
            <a:ext cx="749300" cy="749300"/>
          </a:xfrm>
          <a:prstGeom prst="roundRect">
            <a:avLst>
              <a:gd name="adj" fmla="val 49152"/>
            </a:avLst>
          </a:prstGeom>
          <a:solidFill>
            <a:srgbClr val="1A4378"/>
          </a:solidFill>
        </p:spPr>
        <p:txBody>
          <a:bodyPr/>
          <a:lstStyle/>
          <a:p>
            <a:endParaRPr lang="en-US"/>
          </a:p>
        </p:txBody>
      </p:sp>
      <p:sp>
        <p:nvSpPr>
          <p:cNvPr id="7" name="AutoShape 7"/>
          <p:cNvSpPr/>
          <p:nvPr/>
        </p:nvSpPr>
        <p:spPr>
          <a:xfrm>
            <a:off x="8242300" y="2133600"/>
            <a:ext cx="7112000" cy="5740400"/>
          </a:xfrm>
          <a:prstGeom prst="roundRect">
            <a:avLst>
              <a:gd name="adj" fmla="val 1991"/>
            </a:avLst>
          </a:prstGeom>
          <a:solidFill>
            <a:srgbClr val="D0E3F0"/>
          </a:solidFill>
        </p:spPr>
        <p:txBody>
          <a:bodyPr/>
          <a:lstStyle/>
          <a:p>
            <a:endParaRPr lang="en-US"/>
          </a:p>
        </p:txBody>
      </p:sp>
      <p:sp>
        <p:nvSpPr>
          <p:cNvPr id="8" name="AutoShape 8"/>
          <p:cNvSpPr/>
          <p:nvPr/>
        </p:nvSpPr>
        <p:spPr>
          <a:xfrm>
            <a:off x="8496300" y="2374900"/>
            <a:ext cx="749300" cy="749300"/>
          </a:xfrm>
          <a:prstGeom prst="roundRect">
            <a:avLst>
              <a:gd name="adj" fmla="val 49152"/>
            </a:avLst>
          </a:prstGeom>
          <a:solidFill>
            <a:srgbClr val="1A4378"/>
          </a:solidFill>
        </p:spPr>
        <p:txBody>
          <a:bodyPr/>
          <a:lstStyle/>
          <a:p>
            <a:endParaRPr lang="en-US"/>
          </a:p>
        </p:txBody>
      </p:sp>
      <p:sp>
        <p:nvSpPr>
          <p:cNvPr id="9" name="TextBox 9"/>
          <p:cNvSpPr txBox="1"/>
          <p:nvPr/>
        </p:nvSpPr>
        <p:spPr>
          <a:xfrm>
            <a:off x="279400" y="159634"/>
            <a:ext cx="14490700" cy="584200"/>
          </a:xfrm>
          <a:prstGeom prst="rect">
            <a:avLst/>
          </a:prstGeom>
          <a:solidFill>
            <a:srgbClr val="000000">
              <a:alpha val="0"/>
            </a:srgbClr>
          </a:solidFill>
        </p:spPr>
        <p:txBody>
          <a:bodyPr lIns="0" tIns="0" rIns="0" bIns="0" rtlCol="0" anchor="ctr"/>
          <a:lstStyle/>
          <a:p>
            <a:pPr indent="0" algn="l">
              <a:lnSpc>
                <a:spcPct val="119999"/>
              </a:lnSpc>
              <a:defRPr/>
            </a:pPr>
            <a:r>
              <a:rPr lang="en-US" sz="3900" b="1" dirty="0">
                <a:solidFill>
                  <a:srgbClr val="1A4378"/>
                </a:solidFill>
                <a:latin typeface="Poppins"/>
              </a:rPr>
              <a:t>Discussion: Insights &amp; Extensions</a:t>
            </a:r>
            <a:endParaRPr lang="en-US" sz="1100" dirty="0"/>
          </a:p>
        </p:txBody>
      </p:sp>
      <p:sp>
        <p:nvSpPr>
          <p:cNvPr id="10" name="TextBox 10"/>
          <p:cNvSpPr txBox="1"/>
          <p:nvPr/>
        </p:nvSpPr>
        <p:spPr>
          <a:xfrm>
            <a:off x="1130300" y="3390900"/>
            <a:ext cx="6604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Key Research Insights</a:t>
            </a:r>
            <a:endParaRPr lang="en-US" sz="1100"/>
          </a:p>
        </p:txBody>
      </p:sp>
      <p:sp>
        <p:nvSpPr>
          <p:cNvPr id="11" name="TextBox 11"/>
          <p:cNvSpPr txBox="1"/>
          <p:nvPr/>
        </p:nvSpPr>
        <p:spPr>
          <a:xfrm>
            <a:off x="8496300" y="3390900"/>
            <a:ext cx="65278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1A4378"/>
                </a:solidFill>
                <a:latin typeface="Poppins"/>
              </a:rPr>
              <a:t>Future Research Directions</a:t>
            </a:r>
            <a:endParaRPr lang="en-US" sz="1100"/>
          </a:p>
        </p:txBody>
      </p:sp>
      <p:sp>
        <p:nvSpPr>
          <p:cNvPr id="12" name="TextBox 12"/>
          <p:cNvSpPr txBox="1"/>
          <p:nvPr/>
        </p:nvSpPr>
        <p:spPr>
          <a:xfrm>
            <a:off x="1384300" y="4013200"/>
            <a:ext cx="6362700" cy="762000"/>
          </a:xfrm>
          <a:prstGeom prst="rect">
            <a:avLst/>
          </a:prstGeom>
          <a:solidFill>
            <a:srgbClr val="000000">
              <a:alpha val="0"/>
            </a:srgbClr>
          </a:solidFill>
        </p:spPr>
        <p:txBody>
          <a:bodyPr lIns="0" tIns="0" rIns="0" bIns="0" rtlCol="0" anchor="ctr"/>
          <a:lstStyle/>
          <a:p>
            <a:pPr indent="0" algn="l">
              <a:lnSpc>
                <a:spcPct val="149999"/>
              </a:lnSpc>
              <a:defRPr/>
            </a:pPr>
            <a:r>
              <a:rPr lang="en-US" sz="1900" b="1" dirty="0">
                <a:solidFill>
                  <a:srgbClr val="1A4378"/>
                </a:solidFill>
                <a:latin typeface="Poppins"/>
              </a:rPr>
              <a:t>Optimal solutions lack simple intuitive structure, requiring computational optimization</a:t>
            </a:r>
            <a:endParaRPr lang="en-US" sz="1100" dirty="0"/>
          </a:p>
        </p:txBody>
      </p:sp>
      <p:sp>
        <p:nvSpPr>
          <p:cNvPr id="13" name="TextBox 13"/>
          <p:cNvSpPr txBox="1"/>
          <p:nvPr/>
        </p:nvSpPr>
        <p:spPr>
          <a:xfrm>
            <a:off x="1384300" y="4965700"/>
            <a:ext cx="6362700" cy="7620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Cannibalization effects between customer segments make pricing non-trivial</a:t>
            </a:r>
            <a:endParaRPr lang="en-US" sz="1100"/>
          </a:p>
        </p:txBody>
      </p:sp>
      <p:sp>
        <p:nvSpPr>
          <p:cNvPr id="14" name="TextBox 14"/>
          <p:cNvSpPr txBox="1"/>
          <p:nvPr/>
        </p:nvSpPr>
        <p:spPr>
          <a:xfrm>
            <a:off x="1384300" y="5918200"/>
            <a:ext cx="6362700" cy="7620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Seasonality in both demand and costs creates massive profit opportunities</a:t>
            </a:r>
            <a:endParaRPr lang="en-US" sz="1100"/>
          </a:p>
        </p:txBody>
      </p:sp>
      <p:sp>
        <p:nvSpPr>
          <p:cNvPr id="15" name="TextBox 15"/>
          <p:cNvSpPr txBox="1"/>
          <p:nvPr/>
        </p:nvSpPr>
        <p:spPr>
          <a:xfrm>
            <a:off x="1384300" y="6858000"/>
            <a:ext cx="6362700" cy="7620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Integrated decisions outperform decomposed approaches by 30-70%</a:t>
            </a:r>
            <a:endParaRPr lang="en-US" sz="1100"/>
          </a:p>
        </p:txBody>
      </p:sp>
      <p:sp>
        <p:nvSpPr>
          <p:cNvPr id="16" name="TextBox 16"/>
          <p:cNvSpPr txBox="1"/>
          <p:nvPr/>
        </p:nvSpPr>
        <p:spPr>
          <a:xfrm>
            <a:off x="8750300" y="4013200"/>
            <a:ext cx="6273800" cy="3810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Vertical integration with suppliers</a:t>
            </a:r>
            <a:endParaRPr lang="en-US" sz="1100"/>
          </a:p>
        </p:txBody>
      </p:sp>
      <p:sp>
        <p:nvSpPr>
          <p:cNvPr id="17" name="TextBox 17"/>
          <p:cNvSpPr txBox="1"/>
          <p:nvPr/>
        </p:nvSpPr>
        <p:spPr>
          <a:xfrm>
            <a:off x="8750300" y="4597400"/>
            <a:ext cx="6273800" cy="3810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Multi-store and multi-supplier settings</a:t>
            </a:r>
            <a:endParaRPr lang="en-US" sz="1100"/>
          </a:p>
        </p:txBody>
      </p:sp>
      <p:sp>
        <p:nvSpPr>
          <p:cNvPr id="18" name="TextBox 18"/>
          <p:cNvSpPr txBox="1"/>
          <p:nvPr/>
        </p:nvSpPr>
        <p:spPr>
          <a:xfrm>
            <a:off x="8750300" y="5168900"/>
            <a:ext cx="6273800" cy="3810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Probabilistic consumer choice models</a:t>
            </a:r>
            <a:endParaRPr lang="en-US" sz="1100"/>
          </a:p>
        </p:txBody>
      </p:sp>
      <p:sp>
        <p:nvSpPr>
          <p:cNvPr id="19" name="TextBox 19"/>
          <p:cNvSpPr txBox="1"/>
          <p:nvPr/>
        </p:nvSpPr>
        <p:spPr>
          <a:xfrm>
            <a:off x="8750300" y="5740400"/>
            <a:ext cx="6273800" cy="3810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Incorporation of competitor responses</a:t>
            </a:r>
            <a:endParaRPr lang="en-US" sz="1100"/>
          </a:p>
        </p:txBody>
      </p:sp>
      <p:sp>
        <p:nvSpPr>
          <p:cNvPr id="20" name="TextBox 20"/>
          <p:cNvSpPr txBox="1"/>
          <p:nvPr/>
        </p:nvSpPr>
        <p:spPr>
          <a:xfrm>
            <a:off x="8750300" y="6324600"/>
            <a:ext cx="6273800" cy="381000"/>
          </a:xfrm>
          <a:prstGeom prst="rect">
            <a:avLst/>
          </a:prstGeom>
          <a:solidFill>
            <a:srgbClr val="000000">
              <a:alpha val="0"/>
            </a:srgbClr>
          </a:solidFill>
        </p:spPr>
        <p:txBody>
          <a:bodyPr lIns="0" tIns="0" rIns="0" bIns="0" rtlCol="0" anchor="ctr"/>
          <a:lstStyle/>
          <a:p>
            <a:pPr indent="0" algn="l">
              <a:lnSpc>
                <a:spcPct val="149999"/>
              </a:lnSpc>
              <a:defRPr/>
            </a:pPr>
            <a:r>
              <a:rPr lang="en-US" sz="1900" b="1">
                <a:solidFill>
                  <a:srgbClr val="1A4378"/>
                </a:solidFill>
                <a:latin typeface="Poppins"/>
              </a:rPr>
              <a:t>Real-time demand learning and dynamic pricing</a:t>
            </a:r>
            <a:endParaRPr lang="en-US" sz="1100"/>
          </a:p>
        </p:txBody>
      </p:sp>
      <p:sp>
        <p:nvSpPr>
          <p:cNvPr id="21" name="TextBox 21"/>
          <p:cNvSpPr txBox="1"/>
          <p:nvPr/>
        </p:nvSpPr>
        <p:spPr>
          <a:xfrm>
            <a:off x="1003300" y="4089400"/>
            <a:ext cx="241300" cy="241300"/>
          </a:xfrm>
          <a:prstGeom prst="rect">
            <a:avLst/>
          </a:prstGeom>
          <a:solidFill>
            <a:srgbClr val="000000">
              <a:alpha val="0"/>
            </a:srgbClr>
          </a:solidFill>
        </p:spPr>
        <p:txBody>
          <a:bodyPr lIns="0" tIns="0" rIns="0" bIns="0" rtlCol="0" anchor="ctr"/>
          <a:lstStyle/>
          <a:p>
            <a:pPr algn="ctr">
              <a:lnSpc>
                <a:spcPct val="100000"/>
              </a:lnSpc>
              <a:defRPr/>
            </a:pPr>
            <a:r>
              <a:rPr lang="en-US" sz="1900" b="0">
                <a:solidFill>
                  <a:srgbClr val="1A4378"/>
                </a:solidFill>
                <a:highlight>
                  <a:srgbClr val="000000">
                    <a:alpha val="0"/>
                  </a:srgbClr>
                </a:highlight>
                <a:ea typeface="Poppins"/>
              </a:rPr>
              <a:t>●</a:t>
            </a:r>
            <a:endParaRPr lang="en-US" sz="1100"/>
          </a:p>
        </p:txBody>
      </p:sp>
      <p:sp>
        <p:nvSpPr>
          <p:cNvPr id="22" name="TextBox 22"/>
          <p:cNvSpPr txBox="1"/>
          <p:nvPr/>
        </p:nvSpPr>
        <p:spPr>
          <a:xfrm>
            <a:off x="1003300" y="5041900"/>
            <a:ext cx="241300" cy="241300"/>
          </a:xfrm>
          <a:prstGeom prst="rect">
            <a:avLst/>
          </a:prstGeom>
          <a:solidFill>
            <a:srgbClr val="000000">
              <a:alpha val="0"/>
            </a:srgbClr>
          </a:solidFill>
        </p:spPr>
        <p:txBody>
          <a:bodyPr lIns="0" tIns="0" rIns="0" bIns="0" rtlCol="0" anchor="ctr"/>
          <a:lstStyle/>
          <a:p>
            <a:pPr algn="ctr">
              <a:lnSpc>
                <a:spcPct val="100000"/>
              </a:lnSpc>
              <a:defRPr/>
            </a:pPr>
            <a:r>
              <a:rPr lang="en-US" sz="1900" b="0">
                <a:solidFill>
                  <a:srgbClr val="1A4378"/>
                </a:solidFill>
                <a:highlight>
                  <a:srgbClr val="000000">
                    <a:alpha val="0"/>
                  </a:srgbClr>
                </a:highlight>
                <a:ea typeface="Poppins"/>
              </a:rPr>
              <a:t>●</a:t>
            </a:r>
            <a:endParaRPr lang="en-US" sz="1100"/>
          </a:p>
        </p:txBody>
      </p:sp>
      <p:sp>
        <p:nvSpPr>
          <p:cNvPr id="23" name="TextBox 23"/>
          <p:cNvSpPr txBox="1"/>
          <p:nvPr/>
        </p:nvSpPr>
        <p:spPr>
          <a:xfrm>
            <a:off x="1003300" y="5994400"/>
            <a:ext cx="241300" cy="241300"/>
          </a:xfrm>
          <a:prstGeom prst="rect">
            <a:avLst/>
          </a:prstGeom>
          <a:solidFill>
            <a:srgbClr val="000000">
              <a:alpha val="0"/>
            </a:srgbClr>
          </a:solidFill>
        </p:spPr>
        <p:txBody>
          <a:bodyPr lIns="0" tIns="0" rIns="0" bIns="0" rtlCol="0" anchor="ctr"/>
          <a:lstStyle/>
          <a:p>
            <a:pPr algn="ctr">
              <a:lnSpc>
                <a:spcPct val="100000"/>
              </a:lnSpc>
              <a:defRPr/>
            </a:pPr>
            <a:r>
              <a:rPr lang="en-US" sz="1900" b="0">
                <a:solidFill>
                  <a:srgbClr val="1A4378"/>
                </a:solidFill>
                <a:highlight>
                  <a:srgbClr val="000000">
                    <a:alpha val="0"/>
                  </a:srgbClr>
                </a:highlight>
                <a:ea typeface="Poppins"/>
              </a:rPr>
              <a:t>●</a:t>
            </a:r>
            <a:endParaRPr lang="en-US" sz="1100"/>
          </a:p>
        </p:txBody>
      </p:sp>
      <p:sp>
        <p:nvSpPr>
          <p:cNvPr id="24" name="TextBox 24"/>
          <p:cNvSpPr txBox="1"/>
          <p:nvPr/>
        </p:nvSpPr>
        <p:spPr>
          <a:xfrm>
            <a:off x="1003300" y="6934200"/>
            <a:ext cx="241300" cy="241300"/>
          </a:xfrm>
          <a:prstGeom prst="rect">
            <a:avLst/>
          </a:prstGeom>
          <a:solidFill>
            <a:srgbClr val="000000">
              <a:alpha val="0"/>
            </a:srgbClr>
          </a:solidFill>
        </p:spPr>
        <p:txBody>
          <a:bodyPr lIns="0" tIns="0" rIns="0" bIns="0" rtlCol="0" anchor="ctr"/>
          <a:lstStyle/>
          <a:p>
            <a:pPr algn="ctr">
              <a:lnSpc>
                <a:spcPct val="100000"/>
              </a:lnSpc>
              <a:defRPr/>
            </a:pPr>
            <a:r>
              <a:rPr lang="en-US" sz="1900" b="0">
                <a:solidFill>
                  <a:srgbClr val="1A4378"/>
                </a:solidFill>
                <a:highlight>
                  <a:srgbClr val="000000">
                    <a:alpha val="0"/>
                  </a:srgbClr>
                </a:highlight>
                <a:ea typeface="Poppins"/>
              </a:rPr>
              <a:t>●</a:t>
            </a:r>
            <a:endParaRPr lang="en-US" sz="1100"/>
          </a:p>
        </p:txBody>
      </p:sp>
      <p:sp>
        <p:nvSpPr>
          <p:cNvPr id="25" name="TextBox 25"/>
          <p:cNvSpPr txBox="1"/>
          <p:nvPr/>
        </p:nvSpPr>
        <p:spPr>
          <a:xfrm>
            <a:off x="8369300" y="4089400"/>
            <a:ext cx="241300" cy="241300"/>
          </a:xfrm>
          <a:prstGeom prst="rect">
            <a:avLst/>
          </a:prstGeom>
          <a:solidFill>
            <a:srgbClr val="000000">
              <a:alpha val="0"/>
            </a:srgbClr>
          </a:solidFill>
        </p:spPr>
        <p:txBody>
          <a:bodyPr lIns="0" tIns="0" rIns="0" bIns="0" rtlCol="0" anchor="ctr"/>
          <a:lstStyle/>
          <a:p>
            <a:pPr algn="ctr">
              <a:lnSpc>
                <a:spcPct val="100000"/>
              </a:lnSpc>
              <a:defRPr/>
            </a:pPr>
            <a:r>
              <a:rPr lang="en-US" sz="1900" b="0">
                <a:solidFill>
                  <a:srgbClr val="1A4378"/>
                </a:solidFill>
                <a:highlight>
                  <a:srgbClr val="000000">
                    <a:alpha val="0"/>
                  </a:srgbClr>
                </a:highlight>
                <a:ea typeface="Poppins"/>
              </a:rPr>
              <a:t>●</a:t>
            </a:r>
            <a:endParaRPr lang="en-US" sz="1100"/>
          </a:p>
        </p:txBody>
      </p:sp>
      <p:sp>
        <p:nvSpPr>
          <p:cNvPr id="26" name="TextBox 26"/>
          <p:cNvSpPr txBox="1"/>
          <p:nvPr/>
        </p:nvSpPr>
        <p:spPr>
          <a:xfrm>
            <a:off x="8369300" y="4660900"/>
            <a:ext cx="241300" cy="241300"/>
          </a:xfrm>
          <a:prstGeom prst="rect">
            <a:avLst/>
          </a:prstGeom>
          <a:solidFill>
            <a:srgbClr val="000000">
              <a:alpha val="0"/>
            </a:srgbClr>
          </a:solidFill>
        </p:spPr>
        <p:txBody>
          <a:bodyPr lIns="0" tIns="0" rIns="0" bIns="0" rtlCol="0" anchor="ctr"/>
          <a:lstStyle/>
          <a:p>
            <a:pPr algn="ctr">
              <a:lnSpc>
                <a:spcPct val="100000"/>
              </a:lnSpc>
              <a:defRPr/>
            </a:pPr>
            <a:r>
              <a:rPr lang="en-US" sz="1900" b="0">
                <a:solidFill>
                  <a:srgbClr val="1A4378"/>
                </a:solidFill>
                <a:highlight>
                  <a:srgbClr val="000000">
                    <a:alpha val="0"/>
                  </a:srgbClr>
                </a:highlight>
                <a:ea typeface="Poppins"/>
              </a:rPr>
              <a:t>●</a:t>
            </a:r>
            <a:endParaRPr lang="en-US" sz="1100"/>
          </a:p>
        </p:txBody>
      </p:sp>
      <p:sp>
        <p:nvSpPr>
          <p:cNvPr id="27" name="TextBox 27"/>
          <p:cNvSpPr txBox="1"/>
          <p:nvPr/>
        </p:nvSpPr>
        <p:spPr>
          <a:xfrm>
            <a:off x="8369300" y="5245100"/>
            <a:ext cx="241300" cy="241300"/>
          </a:xfrm>
          <a:prstGeom prst="rect">
            <a:avLst/>
          </a:prstGeom>
          <a:solidFill>
            <a:srgbClr val="000000">
              <a:alpha val="0"/>
            </a:srgbClr>
          </a:solidFill>
        </p:spPr>
        <p:txBody>
          <a:bodyPr lIns="0" tIns="0" rIns="0" bIns="0" rtlCol="0" anchor="ctr"/>
          <a:lstStyle/>
          <a:p>
            <a:pPr algn="ctr">
              <a:lnSpc>
                <a:spcPct val="100000"/>
              </a:lnSpc>
              <a:defRPr/>
            </a:pPr>
            <a:r>
              <a:rPr lang="en-US" sz="1900" b="0">
                <a:solidFill>
                  <a:srgbClr val="1A4378"/>
                </a:solidFill>
                <a:highlight>
                  <a:srgbClr val="000000">
                    <a:alpha val="0"/>
                  </a:srgbClr>
                </a:highlight>
                <a:ea typeface="Poppins"/>
              </a:rPr>
              <a:t>●</a:t>
            </a:r>
            <a:endParaRPr lang="en-US" sz="1100"/>
          </a:p>
        </p:txBody>
      </p:sp>
      <p:sp>
        <p:nvSpPr>
          <p:cNvPr id="28" name="TextBox 28"/>
          <p:cNvSpPr txBox="1"/>
          <p:nvPr/>
        </p:nvSpPr>
        <p:spPr>
          <a:xfrm>
            <a:off x="8369300" y="5816600"/>
            <a:ext cx="241300" cy="241300"/>
          </a:xfrm>
          <a:prstGeom prst="rect">
            <a:avLst/>
          </a:prstGeom>
          <a:solidFill>
            <a:srgbClr val="000000">
              <a:alpha val="0"/>
            </a:srgbClr>
          </a:solidFill>
        </p:spPr>
        <p:txBody>
          <a:bodyPr lIns="0" tIns="0" rIns="0" bIns="0" rtlCol="0" anchor="ctr"/>
          <a:lstStyle/>
          <a:p>
            <a:pPr algn="ctr">
              <a:lnSpc>
                <a:spcPct val="100000"/>
              </a:lnSpc>
              <a:defRPr/>
            </a:pPr>
            <a:r>
              <a:rPr lang="en-US" sz="1900" b="0">
                <a:solidFill>
                  <a:srgbClr val="1A4378"/>
                </a:solidFill>
                <a:highlight>
                  <a:srgbClr val="000000">
                    <a:alpha val="0"/>
                  </a:srgbClr>
                </a:highlight>
                <a:ea typeface="Poppins"/>
              </a:rPr>
              <a:t>●</a:t>
            </a:r>
            <a:endParaRPr lang="en-US" sz="1100"/>
          </a:p>
        </p:txBody>
      </p:sp>
      <p:sp>
        <p:nvSpPr>
          <p:cNvPr id="29" name="TextBox 29"/>
          <p:cNvSpPr txBox="1"/>
          <p:nvPr/>
        </p:nvSpPr>
        <p:spPr>
          <a:xfrm>
            <a:off x="8369300" y="6388100"/>
            <a:ext cx="241300" cy="241300"/>
          </a:xfrm>
          <a:prstGeom prst="rect">
            <a:avLst/>
          </a:prstGeom>
          <a:solidFill>
            <a:srgbClr val="000000">
              <a:alpha val="0"/>
            </a:srgbClr>
          </a:solidFill>
        </p:spPr>
        <p:txBody>
          <a:bodyPr lIns="0" tIns="0" rIns="0" bIns="0" rtlCol="0" anchor="ctr"/>
          <a:lstStyle/>
          <a:p>
            <a:pPr algn="ctr">
              <a:lnSpc>
                <a:spcPct val="100000"/>
              </a:lnSpc>
              <a:defRPr/>
            </a:pPr>
            <a:r>
              <a:rPr lang="en-US" sz="1900" b="0">
                <a:solidFill>
                  <a:srgbClr val="1A4378"/>
                </a:solidFill>
                <a:highlight>
                  <a:srgbClr val="000000">
                    <a:alpha val="0"/>
                  </a:srgbClr>
                </a:highlight>
                <a:ea typeface="Poppins"/>
              </a:rPr>
              <a:t>●</a:t>
            </a:r>
            <a:endParaRPr lang="en-US" sz="1100"/>
          </a:p>
        </p:txBody>
      </p:sp>
      <p:pic>
        <p:nvPicPr>
          <p:cNvPr id="30" name="Picture 30"/>
          <p:cNvPicPr>
            <a:picLocks noChangeAspect="1"/>
          </p:cNvPicPr>
          <p:nvPr/>
        </p:nvPicPr>
        <p:blipFill>
          <a:blip r:embed="rId3"/>
          <a:srcRect l="14000" r="14000"/>
          <a:stretch>
            <a:fillRect/>
          </a:stretch>
        </p:blipFill>
        <p:spPr>
          <a:xfrm>
            <a:off x="1409700" y="2628900"/>
            <a:ext cx="177800" cy="241300"/>
          </a:xfrm>
          <a:prstGeom prst="rect">
            <a:avLst/>
          </a:prstGeom>
        </p:spPr>
      </p:pic>
      <p:pic>
        <p:nvPicPr>
          <p:cNvPr id="31" name="Picture 31"/>
          <p:cNvPicPr>
            <a:picLocks noChangeAspect="1"/>
          </p:cNvPicPr>
          <p:nvPr/>
        </p:nvPicPr>
        <p:blipFill>
          <a:blip r:embed="rId4"/>
          <a:srcRect t="7000" b="7000"/>
          <a:stretch>
            <a:fillRect/>
          </a:stretch>
        </p:blipFill>
        <p:spPr>
          <a:xfrm>
            <a:off x="8737600" y="2628900"/>
            <a:ext cx="279400" cy="2413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E27BF-96CC-943E-64F1-A890629AECD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E7BAE23-8A84-98AA-259B-03B9DF3604CF}"/>
              </a:ext>
            </a:extLst>
          </p:cNvPr>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a:extLst>
              <a:ext uri="{FF2B5EF4-FFF2-40B4-BE49-F238E27FC236}">
                <a16:creationId xmlns:a16="http://schemas.microsoft.com/office/drawing/2014/main" id="{E0EE151B-1F74-B3FA-1D4F-F75B5C12F492}"/>
              </a:ext>
            </a:extLst>
          </p:cNvPr>
          <p:cNvPicPr>
            <a:picLocks noChangeAspect="1"/>
          </p:cNvPicPr>
          <p:nvPr/>
        </p:nvPicPr>
        <p:blipFill>
          <a:blip r:embed="rId2"/>
          <a:srcRect/>
          <a:stretch>
            <a:fillRect/>
          </a:stretch>
        </p:blipFill>
        <p:spPr>
          <a:xfrm>
            <a:off x="0" y="0"/>
            <a:ext cx="16256000" cy="9144000"/>
          </a:xfrm>
          <a:prstGeom prst="rect">
            <a:avLst/>
          </a:prstGeom>
        </p:spPr>
      </p:pic>
      <p:sp>
        <p:nvSpPr>
          <p:cNvPr id="4" name="AutoShape 4">
            <a:extLst>
              <a:ext uri="{FF2B5EF4-FFF2-40B4-BE49-F238E27FC236}">
                <a16:creationId xmlns:a16="http://schemas.microsoft.com/office/drawing/2014/main" id="{D6DC6CC2-6F08-BE48-8FCF-2D2C032AB3B7}"/>
              </a:ext>
            </a:extLst>
          </p:cNvPr>
          <p:cNvSpPr/>
          <p:nvPr/>
        </p:nvSpPr>
        <p:spPr>
          <a:xfrm>
            <a:off x="876300" y="2819400"/>
            <a:ext cx="14490700" cy="4368800"/>
          </a:xfrm>
          <a:prstGeom prst="rect">
            <a:avLst/>
          </a:prstGeom>
          <a:solidFill>
            <a:srgbClr val="000000">
              <a:alpha val="0"/>
            </a:srgbClr>
          </a:solidFill>
        </p:spPr>
        <p:txBody>
          <a:bodyPr/>
          <a:lstStyle/>
          <a:p>
            <a:endParaRPr lang="en-US"/>
          </a:p>
        </p:txBody>
      </p:sp>
      <p:sp>
        <p:nvSpPr>
          <p:cNvPr id="5" name="AutoShape 5">
            <a:extLst>
              <a:ext uri="{FF2B5EF4-FFF2-40B4-BE49-F238E27FC236}">
                <a16:creationId xmlns:a16="http://schemas.microsoft.com/office/drawing/2014/main" id="{DD82D4E3-5F38-1F28-5B1F-04682AFA4E1A}"/>
              </a:ext>
            </a:extLst>
          </p:cNvPr>
          <p:cNvSpPr/>
          <p:nvPr/>
        </p:nvSpPr>
        <p:spPr>
          <a:xfrm>
            <a:off x="876300" y="3568700"/>
            <a:ext cx="4699000" cy="3619500"/>
          </a:xfrm>
          <a:prstGeom prst="rect">
            <a:avLst/>
          </a:prstGeom>
          <a:solidFill>
            <a:srgbClr val="000000">
              <a:alpha val="0"/>
            </a:srgbClr>
          </a:solidFill>
        </p:spPr>
        <p:txBody>
          <a:bodyPr/>
          <a:lstStyle/>
          <a:p>
            <a:endParaRPr lang="en-US"/>
          </a:p>
        </p:txBody>
      </p:sp>
      <p:sp>
        <p:nvSpPr>
          <p:cNvPr id="6" name="AutoShape 6">
            <a:extLst>
              <a:ext uri="{FF2B5EF4-FFF2-40B4-BE49-F238E27FC236}">
                <a16:creationId xmlns:a16="http://schemas.microsoft.com/office/drawing/2014/main" id="{7DD8F94D-5475-4722-BA9D-75EC0F180A1A}"/>
              </a:ext>
            </a:extLst>
          </p:cNvPr>
          <p:cNvSpPr/>
          <p:nvPr/>
        </p:nvSpPr>
        <p:spPr>
          <a:xfrm>
            <a:off x="876300" y="3568700"/>
            <a:ext cx="4699000" cy="3619500"/>
          </a:xfrm>
          <a:prstGeom prst="roundRect">
            <a:avLst>
              <a:gd name="adj" fmla="val 2105"/>
            </a:avLst>
          </a:prstGeom>
          <a:solidFill>
            <a:srgbClr val="000000">
              <a:alpha val="0"/>
            </a:srgbClr>
          </a:solidFill>
        </p:spPr>
        <p:txBody>
          <a:bodyPr/>
          <a:lstStyle/>
          <a:p>
            <a:endParaRPr lang="en-US"/>
          </a:p>
        </p:txBody>
      </p:sp>
      <p:sp>
        <p:nvSpPr>
          <p:cNvPr id="8" name="AutoShape 8">
            <a:extLst>
              <a:ext uri="{FF2B5EF4-FFF2-40B4-BE49-F238E27FC236}">
                <a16:creationId xmlns:a16="http://schemas.microsoft.com/office/drawing/2014/main" id="{F511BC36-9839-105D-E399-B8B8D4EF3CBA}"/>
              </a:ext>
            </a:extLst>
          </p:cNvPr>
          <p:cNvSpPr/>
          <p:nvPr/>
        </p:nvSpPr>
        <p:spPr>
          <a:xfrm>
            <a:off x="5765800" y="3187700"/>
            <a:ext cx="4699000" cy="4000500"/>
          </a:xfrm>
          <a:prstGeom prst="rect">
            <a:avLst/>
          </a:prstGeom>
          <a:solidFill>
            <a:srgbClr val="000000">
              <a:alpha val="0"/>
            </a:srgbClr>
          </a:solidFill>
        </p:spPr>
        <p:txBody>
          <a:bodyPr/>
          <a:lstStyle/>
          <a:p>
            <a:endParaRPr lang="en-US"/>
          </a:p>
        </p:txBody>
      </p:sp>
      <p:sp>
        <p:nvSpPr>
          <p:cNvPr id="11" name="AutoShape 11">
            <a:extLst>
              <a:ext uri="{FF2B5EF4-FFF2-40B4-BE49-F238E27FC236}">
                <a16:creationId xmlns:a16="http://schemas.microsoft.com/office/drawing/2014/main" id="{F096CB2E-FE1C-6DEE-8D41-BD4EA0B0464C}"/>
              </a:ext>
            </a:extLst>
          </p:cNvPr>
          <p:cNvSpPr/>
          <p:nvPr/>
        </p:nvSpPr>
        <p:spPr>
          <a:xfrm>
            <a:off x="10668000" y="2819400"/>
            <a:ext cx="4699000" cy="4368800"/>
          </a:xfrm>
          <a:prstGeom prst="rect">
            <a:avLst/>
          </a:prstGeom>
          <a:solidFill>
            <a:srgbClr val="000000">
              <a:alpha val="0"/>
            </a:srgbClr>
          </a:solidFill>
        </p:spPr>
        <p:txBody>
          <a:bodyPr/>
          <a:lstStyle/>
          <a:p>
            <a:endParaRPr lang="en-US"/>
          </a:p>
        </p:txBody>
      </p:sp>
      <p:sp>
        <p:nvSpPr>
          <p:cNvPr id="12" name="AutoShape 12">
            <a:extLst>
              <a:ext uri="{FF2B5EF4-FFF2-40B4-BE49-F238E27FC236}">
                <a16:creationId xmlns:a16="http://schemas.microsoft.com/office/drawing/2014/main" id="{F89CF595-8A95-E952-6EED-AAD861E456B4}"/>
              </a:ext>
            </a:extLst>
          </p:cNvPr>
          <p:cNvSpPr/>
          <p:nvPr/>
        </p:nvSpPr>
        <p:spPr>
          <a:xfrm>
            <a:off x="10668000" y="2819400"/>
            <a:ext cx="4699000" cy="4368800"/>
          </a:xfrm>
          <a:prstGeom prst="roundRect">
            <a:avLst>
              <a:gd name="adj" fmla="val 1744"/>
            </a:avLst>
          </a:prstGeom>
          <a:solidFill>
            <a:srgbClr val="000000">
              <a:alpha val="0"/>
            </a:srgbClr>
          </a:solidFill>
        </p:spPr>
        <p:txBody>
          <a:bodyPr/>
          <a:lstStyle/>
          <a:p>
            <a:endParaRPr lang="en-US"/>
          </a:p>
        </p:txBody>
      </p:sp>
      <p:sp>
        <p:nvSpPr>
          <p:cNvPr id="14" name="TextBox 14">
            <a:extLst>
              <a:ext uri="{FF2B5EF4-FFF2-40B4-BE49-F238E27FC236}">
                <a16:creationId xmlns:a16="http://schemas.microsoft.com/office/drawing/2014/main" id="{52930B3C-3230-5623-7B24-5993FD283E92}"/>
              </a:ext>
            </a:extLst>
          </p:cNvPr>
          <p:cNvSpPr txBox="1"/>
          <p:nvPr/>
        </p:nvSpPr>
        <p:spPr>
          <a:xfrm>
            <a:off x="279400" y="190500"/>
            <a:ext cx="14490700" cy="584200"/>
          </a:xfrm>
          <a:prstGeom prst="rect">
            <a:avLst/>
          </a:prstGeom>
          <a:solidFill>
            <a:srgbClr val="000000">
              <a:alpha val="0"/>
            </a:srgbClr>
          </a:solidFill>
        </p:spPr>
        <p:txBody>
          <a:bodyPr lIns="0" tIns="0" rIns="0" bIns="0" rtlCol="0" anchor="ctr"/>
          <a:lstStyle/>
          <a:p>
            <a:pPr indent="0" algn="l">
              <a:lnSpc>
                <a:spcPct val="119999"/>
              </a:lnSpc>
              <a:defRPr/>
            </a:pPr>
            <a:r>
              <a:rPr lang="en-US" sz="3900" b="1" dirty="0">
                <a:solidFill>
                  <a:srgbClr val="1A4378"/>
                </a:solidFill>
                <a:latin typeface="Poppins"/>
              </a:rPr>
              <a:t>Table of Contents</a:t>
            </a:r>
            <a:endParaRPr lang="en-US" sz="1100" dirty="0"/>
          </a:p>
        </p:txBody>
      </p:sp>
      <p:sp>
        <p:nvSpPr>
          <p:cNvPr id="15" name="TextBox 15">
            <a:extLst>
              <a:ext uri="{FF2B5EF4-FFF2-40B4-BE49-F238E27FC236}">
                <a16:creationId xmlns:a16="http://schemas.microsoft.com/office/drawing/2014/main" id="{D0BEB7F9-317F-AE12-3BF1-3B9C2815B324}"/>
              </a:ext>
            </a:extLst>
          </p:cNvPr>
          <p:cNvSpPr txBox="1"/>
          <p:nvPr/>
        </p:nvSpPr>
        <p:spPr>
          <a:xfrm>
            <a:off x="283029" y="1246414"/>
            <a:ext cx="9661072" cy="5117193"/>
          </a:xfrm>
          <a:prstGeom prst="rect">
            <a:avLst/>
          </a:prstGeom>
          <a:solidFill>
            <a:srgbClr val="000000">
              <a:alpha val="0"/>
            </a:srgbClr>
          </a:solidFill>
        </p:spPr>
        <p:txBody>
          <a:bodyPr lIns="0" tIns="0" rIns="0" bIns="0" rtlCol="0" anchor="ctr"/>
          <a:lstStyle/>
          <a:p>
            <a:pPr indent="0" algn="l">
              <a:lnSpc>
                <a:spcPct val="300000"/>
              </a:lnSpc>
              <a:defRPr/>
            </a:pPr>
            <a:r>
              <a:rPr lang="en-US" sz="2900" dirty="0">
                <a:solidFill>
                  <a:srgbClr val="1A4378"/>
                </a:solidFill>
                <a:latin typeface="Poppins"/>
              </a:rPr>
              <a:t>Background</a:t>
            </a:r>
          </a:p>
          <a:p>
            <a:pPr>
              <a:lnSpc>
                <a:spcPct val="300000"/>
              </a:lnSpc>
              <a:defRPr/>
            </a:pPr>
            <a:r>
              <a:rPr lang="en-US" sz="2900" dirty="0">
                <a:solidFill>
                  <a:srgbClr val="1A4378"/>
                </a:solidFill>
                <a:latin typeface="Poppins"/>
              </a:rPr>
              <a:t>Methodology</a:t>
            </a:r>
          </a:p>
          <a:p>
            <a:pPr>
              <a:lnSpc>
                <a:spcPct val="300000"/>
              </a:lnSpc>
              <a:defRPr/>
            </a:pPr>
            <a:r>
              <a:rPr lang="en-US" sz="2900" dirty="0">
                <a:solidFill>
                  <a:srgbClr val="1A4378"/>
                </a:solidFill>
                <a:latin typeface="Poppins"/>
              </a:rPr>
              <a:t>Results &amp; Discussion</a:t>
            </a:r>
          </a:p>
          <a:p>
            <a:pPr>
              <a:lnSpc>
                <a:spcPct val="300000"/>
              </a:lnSpc>
              <a:defRPr/>
            </a:pPr>
            <a:r>
              <a:rPr lang="en-US" sz="2900" b="1" dirty="0">
                <a:solidFill>
                  <a:srgbClr val="1A4378"/>
                </a:solidFill>
                <a:latin typeface="Poppins"/>
              </a:rPr>
              <a:t>Research Summary &amp; Contribution</a:t>
            </a:r>
          </a:p>
          <a:p>
            <a:pPr indent="0" algn="l">
              <a:lnSpc>
                <a:spcPct val="120000"/>
              </a:lnSpc>
              <a:defRPr/>
            </a:pPr>
            <a:endParaRPr lang="en-US" sz="1100" dirty="0"/>
          </a:p>
        </p:txBody>
      </p:sp>
    </p:spTree>
    <p:extLst>
      <p:ext uri="{BB962C8B-B14F-4D97-AF65-F5344CB8AC3E}">
        <p14:creationId xmlns:p14="http://schemas.microsoft.com/office/powerpoint/2010/main" val="2420813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p:cNvPicPr>
            <a:picLocks noChangeAspect="1"/>
          </p:cNvPicPr>
          <p:nvPr/>
        </p:nvPicPr>
        <p:blipFill>
          <a:blip r:embed="rId2"/>
          <a:srcRect/>
          <a:stretch>
            <a:fillRect/>
          </a:stretch>
        </p:blipFill>
        <p:spPr>
          <a:xfrm>
            <a:off x="0" y="0"/>
            <a:ext cx="16256000" cy="9144000"/>
          </a:xfrm>
          <a:prstGeom prst="rect">
            <a:avLst/>
          </a:prstGeom>
        </p:spPr>
      </p:pic>
      <p:sp>
        <p:nvSpPr>
          <p:cNvPr id="4" name="AutoShape 4"/>
          <p:cNvSpPr/>
          <p:nvPr/>
        </p:nvSpPr>
        <p:spPr>
          <a:xfrm>
            <a:off x="876300" y="4064000"/>
            <a:ext cx="14490700" cy="1866900"/>
          </a:xfrm>
          <a:prstGeom prst="rect">
            <a:avLst/>
          </a:prstGeom>
          <a:solidFill>
            <a:srgbClr val="000000">
              <a:alpha val="0"/>
            </a:srgbClr>
          </a:solidFill>
        </p:spPr>
        <p:txBody>
          <a:bodyPr/>
          <a:lstStyle/>
          <a:p>
            <a:endParaRPr lang="en-US"/>
          </a:p>
        </p:txBody>
      </p:sp>
      <p:sp>
        <p:nvSpPr>
          <p:cNvPr id="5" name="AutoShape 5"/>
          <p:cNvSpPr/>
          <p:nvPr/>
        </p:nvSpPr>
        <p:spPr>
          <a:xfrm>
            <a:off x="876300" y="4064000"/>
            <a:ext cx="14490700" cy="1866900"/>
          </a:xfrm>
          <a:prstGeom prst="rect">
            <a:avLst/>
          </a:prstGeom>
          <a:solidFill>
            <a:srgbClr val="000000">
              <a:alpha val="0"/>
            </a:srgbClr>
          </a:solidFill>
        </p:spPr>
        <p:txBody>
          <a:bodyPr/>
          <a:lstStyle/>
          <a:p>
            <a:endParaRPr lang="en-US"/>
          </a:p>
        </p:txBody>
      </p:sp>
      <p:sp>
        <p:nvSpPr>
          <p:cNvPr id="6" name="TextBox 6"/>
          <p:cNvSpPr txBox="1"/>
          <p:nvPr/>
        </p:nvSpPr>
        <p:spPr>
          <a:xfrm>
            <a:off x="279400" y="249338"/>
            <a:ext cx="14490700" cy="584200"/>
          </a:xfrm>
          <a:prstGeom prst="rect">
            <a:avLst/>
          </a:prstGeom>
          <a:solidFill>
            <a:srgbClr val="000000">
              <a:alpha val="0"/>
            </a:srgbClr>
          </a:solidFill>
        </p:spPr>
        <p:txBody>
          <a:bodyPr lIns="0" tIns="0" rIns="0" bIns="0" rtlCol="0" anchor="ctr"/>
          <a:lstStyle/>
          <a:p>
            <a:pPr indent="0" algn="l">
              <a:lnSpc>
                <a:spcPct val="119999"/>
              </a:lnSpc>
              <a:defRPr/>
            </a:pPr>
            <a:r>
              <a:rPr lang="en-US" sz="3900" b="1" dirty="0">
                <a:solidFill>
                  <a:srgbClr val="1A4378"/>
                </a:solidFill>
                <a:latin typeface="Poppins"/>
              </a:rPr>
              <a:t>Research Summary &amp; Contribution</a:t>
            </a:r>
            <a:endParaRPr lang="en-US" sz="1100" dirty="0"/>
          </a:p>
        </p:txBody>
      </p:sp>
      <p:sp>
        <p:nvSpPr>
          <p:cNvPr id="7" name="TextBox 7"/>
          <p:cNvSpPr txBox="1"/>
          <p:nvPr/>
        </p:nvSpPr>
        <p:spPr>
          <a:xfrm>
            <a:off x="297405" y="3033049"/>
            <a:ext cx="14490700" cy="1562100"/>
          </a:xfrm>
          <a:prstGeom prst="rect">
            <a:avLst/>
          </a:prstGeom>
          <a:solidFill>
            <a:srgbClr val="000000">
              <a:alpha val="0"/>
            </a:srgbClr>
          </a:solidFill>
        </p:spPr>
        <p:txBody>
          <a:bodyPr lIns="0" tIns="0" rIns="0" bIns="0" rtlCol="0" anchor="ctr"/>
          <a:lstStyle/>
          <a:p>
            <a:pPr indent="0" algn="l">
              <a:lnSpc>
                <a:spcPct val="149999"/>
              </a:lnSpc>
              <a:defRPr/>
            </a:pPr>
            <a:r>
              <a:rPr lang="en-US" sz="3200" dirty="0">
                <a:solidFill>
                  <a:srgbClr val="1A4378"/>
                </a:solidFill>
                <a:latin typeface="Poppins"/>
              </a:rPr>
              <a:t>This research demonstrates that integrated optimization of assortment, pricing, and inventory decisions—accounting for multiple customer segments, product substitution, and seasonal variations—significantly outperforms traditional separate or myopic approaches.</a:t>
            </a:r>
          </a:p>
          <a:p>
            <a:pPr indent="0" algn="l">
              <a:lnSpc>
                <a:spcPct val="149999"/>
              </a:lnSpc>
              <a:defRPr/>
            </a:pPr>
            <a:endParaRPr lang="en-US" sz="3200" dirty="0">
              <a:solidFill>
                <a:srgbClr val="1A4378"/>
              </a:solidFill>
              <a:latin typeface="Poppins"/>
            </a:endParaRPr>
          </a:p>
          <a:p>
            <a:pPr indent="0" algn="l">
              <a:lnSpc>
                <a:spcPct val="149999"/>
              </a:lnSpc>
              <a:defRPr/>
            </a:pPr>
            <a:r>
              <a:rPr lang="en-US" sz="3200" dirty="0">
                <a:solidFill>
                  <a:srgbClr val="1A4378"/>
                </a:solidFill>
                <a:latin typeface="Poppins"/>
              </a:rPr>
              <a:t>Key contribution: </a:t>
            </a:r>
            <a:r>
              <a:rPr lang="en-US" sz="3200" b="1" dirty="0">
                <a:solidFill>
                  <a:srgbClr val="1A4378"/>
                </a:solidFill>
                <a:latin typeface="Poppins"/>
              </a:rPr>
              <a:t>Unified framework </a:t>
            </a:r>
            <a:r>
              <a:rPr lang="en-US" sz="3200" dirty="0">
                <a:solidFill>
                  <a:srgbClr val="1A4378"/>
                </a:solidFill>
                <a:latin typeface="Poppins"/>
              </a:rPr>
              <a:t>enables retailers to avoid millions in profit loss through optimized decision-making.</a:t>
            </a:r>
            <a:endParaRPr lang="en-US" sz="3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txBody>
          <a:bodyPr/>
          <a:lstStyle/>
          <a:p>
            <a:endParaRPr lang="en-US"/>
          </a:p>
        </p:txBody>
      </p:sp>
      <p:pic>
        <p:nvPicPr>
          <p:cNvPr id="3" name="Picture 3"/>
          <p:cNvPicPr>
            <a:picLocks noChangeAspect="1"/>
          </p:cNvPicPr>
          <p:nvPr/>
        </p:nvPicPr>
        <p:blipFill>
          <a:blip r:embed="rId2"/>
          <a:srcRect/>
          <a:stretch>
            <a:fillRect/>
          </a:stretch>
        </p:blipFill>
        <p:spPr>
          <a:xfrm>
            <a:off x="0" y="0"/>
            <a:ext cx="16256000" cy="9144000"/>
          </a:xfrm>
          <a:prstGeom prst="rect">
            <a:avLst/>
          </a:prstGeom>
        </p:spPr>
      </p:pic>
      <p:sp>
        <p:nvSpPr>
          <p:cNvPr id="4" name="AutoShape 4"/>
          <p:cNvSpPr/>
          <p:nvPr/>
        </p:nvSpPr>
        <p:spPr>
          <a:xfrm>
            <a:off x="876300" y="4686300"/>
            <a:ext cx="14490700" cy="2019300"/>
          </a:xfrm>
          <a:prstGeom prst="rect">
            <a:avLst/>
          </a:prstGeom>
          <a:solidFill>
            <a:srgbClr val="000000">
              <a:alpha val="0"/>
            </a:srgbClr>
          </a:solidFill>
        </p:spPr>
        <p:txBody>
          <a:bodyPr/>
          <a:lstStyle/>
          <a:p>
            <a:endParaRPr lang="en-US"/>
          </a:p>
        </p:txBody>
      </p:sp>
      <p:sp>
        <p:nvSpPr>
          <p:cNvPr id="5" name="AutoShape 5"/>
          <p:cNvSpPr/>
          <p:nvPr/>
        </p:nvSpPr>
        <p:spPr>
          <a:xfrm>
            <a:off x="876300" y="4686300"/>
            <a:ext cx="14490700" cy="368300"/>
          </a:xfrm>
          <a:prstGeom prst="rect">
            <a:avLst/>
          </a:prstGeom>
          <a:solidFill>
            <a:srgbClr val="000000">
              <a:alpha val="0"/>
            </a:srgbClr>
          </a:solidFill>
        </p:spPr>
        <p:txBody>
          <a:bodyPr/>
          <a:lstStyle/>
          <a:p>
            <a:endParaRPr lang="en-US"/>
          </a:p>
        </p:txBody>
      </p:sp>
      <p:sp>
        <p:nvSpPr>
          <p:cNvPr id="6" name="AutoShape 6"/>
          <p:cNvSpPr/>
          <p:nvPr/>
        </p:nvSpPr>
        <p:spPr>
          <a:xfrm>
            <a:off x="876300" y="5511800"/>
            <a:ext cx="14490700" cy="368300"/>
          </a:xfrm>
          <a:prstGeom prst="rect">
            <a:avLst/>
          </a:prstGeom>
          <a:solidFill>
            <a:srgbClr val="000000">
              <a:alpha val="0"/>
            </a:srgbClr>
          </a:solidFill>
        </p:spPr>
        <p:txBody>
          <a:bodyPr/>
          <a:lstStyle/>
          <a:p>
            <a:endParaRPr lang="en-US"/>
          </a:p>
        </p:txBody>
      </p:sp>
      <p:sp>
        <p:nvSpPr>
          <p:cNvPr id="7" name="AutoShape 7"/>
          <p:cNvSpPr/>
          <p:nvPr/>
        </p:nvSpPr>
        <p:spPr>
          <a:xfrm>
            <a:off x="876300" y="6350000"/>
            <a:ext cx="14490700" cy="368300"/>
          </a:xfrm>
          <a:prstGeom prst="rect">
            <a:avLst/>
          </a:prstGeom>
          <a:solidFill>
            <a:srgbClr val="000000">
              <a:alpha val="0"/>
            </a:srgbClr>
          </a:solidFill>
        </p:spPr>
        <p:txBody>
          <a:bodyPr/>
          <a:lstStyle/>
          <a:p>
            <a:endParaRPr lang="en-US"/>
          </a:p>
        </p:txBody>
      </p:sp>
      <p:sp>
        <p:nvSpPr>
          <p:cNvPr id="8" name="TextBox 8"/>
          <p:cNvSpPr txBox="1"/>
          <p:nvPr/>
        </p:nvSpPr>
        <p:spPr>
          <a:xfrm>
            <a:off x="876300" y="2322091"/>
            <a:ext cx="14490700" cy="876300"/>
          </a:xfrm>
          <a:prstGeom prst="rect">
            <a:avLst/>
          </a:prstGeom>
          <a:solidFill>
            <a:srgbClr val="000000">
              <a:alpha val="0"/>
            </a:srgbClr>
          </a:solidFill>
        </p:spPr>
        <p:txBody>
          <a:bodyPr lIns="0" tIns="0" rIns="0" bIns="0" rtlCol="0" anchor="ctr"/>
          <a:lstStyle/>
          <a:p>
            <a:pPr indent="0" algn="l">
              <a:lnSpc>
                <a:spcPct val="119999"/>
              </a:lnSpc>
              <a:defRPr/>
            </a:pPr>
            <a:r>
              <a:rPr lang="en-US" sz="5800" b="1" dirty="0">
                <a:solidFill>
                  <a:srgbClr val="1A4378"/>
                </a:solidFill>
                <a:latin typeface="Poppins"/>
              </a:rPr>
              <a:t>Thank You</a:t>
            </a:r>
            <a:endParaRPr lang="en-US" sz="1100" dirty="0"/>
          </a:p>
        </p:txBody>
      </p:sp>
      <p:sp>
        <p:nvSpPr>
          <p:cNvPr id="9" name="TextBox 9"/>
          <p:cNvSpPr txBox="1"/>
          <p:nvPr/>
        </p:nvSpPr>
        <p:spPr>
          <a:xfrm>
            <a:off x="876300" y="3898900"/>
            <a:ext cx="14490700" cy="508000"/>
          </a:xfrm>
          <a:prstGeom prst="rect">
            <a:avLst/>
          </a:prstGeom>
          <a:solidFill>
            <a:srgbClr val="000000">
              <a:alpha val="0"/>
            </a:srgbClr>
          </a:solidFill>
        </p:spPr>
        <p:txBody>
          <a:bodyPr lIns="0" tIns="0" rIns="0" bIns="0" rtlCol="0" anchor="ctr"/>
          <a:lstStyle/>
          <a:p>
            <a:pPr indent="0" algn="l">
              <a:lnSpc>
                <a:spcPct val="119999"/>
              </a:lnSpc>
              <a:defRPr/>
            </a:pPr>
            <a:r>
              <a:rPr lang="en-US" sz="3400" b="1">
                <a:solidFill>
                  <a:srgbClr val="1A4378"/>
                </a:solidFill>
                <a:latin typeface="Poppins"/>
              </a:rPr>
              <a:t>Questions &amp; Discussion</a:t>
            </a:r>
            <a:endParaRPr lang="en-US" sz="1100"/>
          </a:p>
        </p:txBody>
      </p:sp>
      <p:sp>
        <p:nvSpPr>
          <p:cNvPr id="12" name="TextBox 12"/>
          <p:cNvSpPr txBox="1"/>
          <p:nvPr/>
        </p:nvSpPr>
        <p:spPr>
          <a:xfrm>
            <a:off x="876300" y="6350000"/>
            <a:ext cx="14490700" cy="368300"/>
          </a:xfrm>
          <a:prstGeom prst="rect">
            <a:avLst/>
          </a:prstGeom>
          <a:solidFill>
            <a:srgbClr val="000000">
              <a:alpha val="0"/>
            </a:srgbClr>
          </a:solidFill>
        </p:spPr>
        <p:txBody>
          <a:bodyPr lIns="0" tIns="0" rIns="0" bIns="0" rtlCol="0" anchor="ctr"/>
          <a:lstStyle/>
          <a:p>
            <a:pPr indent="0" algn="l">
              <a:lnSpc>
                <a:spcPct val="149999"/>
              </a:lnSpc>
              <a:defRPr/>
            </a:pP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1453</TotalTime>
  <Words>1675</Words>
  <Application>Microsoft Office PowerPoint</Application>
  <PresentationFormat>Custom</PresentationFormat>
  <Paragraphs>233</Paragraphs>
  <Slides>23</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quote-cjk-patch</vt:lpstr>
      <vt:lpstr>Aptos</vt:lpstr>
      <vt:lpstr>Arial</vt:lpstr>
      <vt:lpstr>Calibri</vt:lpstr>
      <vt:lpstr>Cambria Math</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Peiyao Zhao</dc:creator>
  <cp:lastModifiedBy>Peiyao Zhao</cp:lastModifiedBy>
  <cp:revision>28</cp:revision>
  <dcterms:created xsi:type="dcterms:W3CDTF">2006-08-16T00:00:00Z</dcterms:created>
  <dcterms:modified xsi:type="dcterms:W3CDTF">2025-12-04T03:15:04Z</dcterms:modified>
</cp:coreProperties>
</file>